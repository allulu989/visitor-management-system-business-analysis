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Current</c:v>
                </c:pt>
              </c:strCache>
            </c:strRef>
          </c:tx>
          <c:spPr>
            <a:solidFill>
              <a:srgbClr val="5B6B7B"/>
            </a:solidFill>
            <a:effectLst/>
          </c:spPr>
          <c:invertIfNegative val="0"/>
          <c:dLbls>
            <c:numFmt formatCode="#,##0" sourceLinked="0"/>
            <c:txPr>
              <a:bodyPr/>
              <a:lstStyle/>
              <a:p>
                <a:pPr>
                  <a:defRPr b="0" i="0" strike="noStrike" sz="1000" u="none">
                    <a:solidFill>
                      <a:srgbClr val="0F2D52"/>
                    </a:solidFill>
                    <a:latin typeface="Arial"/>
                  </a:defRPr>
                </a:pPr>
              </a:p>
            </c:txPr>
            <c:showLegendKey val="0"/>
            <c:showVal val="1"/>
            <c:showCatName val="0"/>
            <c:showSerName val="0"/>
            <c:showPercent val="0"/>
            <c:showBubbleSize val="0"/>
            <c:showLeaderLines val="0"/>
          </c:dLbls>
          <c:cat>
            <c:multiLvlStrRef>
              <c:f>Sheet1!$A$2:$A$3</c:f>
              <c:multiLvlStrCache>
                <c:ptCount val="2"/>
                <c:lvl>
                  <c:pt idx="0">
                    <c:v>Processing</c:v>
                  </c:pt>
                  <c:pt idx="1">
                    <c:v>Approval (min)</c:v>
                  </c:pt>
                </c:lvl>
              </c:multiLvlStrCache>
            </c:multiLvlStrRef>
          </c:cat>
          <c:val>
            <c:numRef>
              <c:f>Sheet1!$B$2:$B$3</c:f>
              <c:numCache>
                <c:formatCode>General</c:formatCode>
                <c:ptCount val="2"/>
                <c:pt idx="0">
                  <c:v>15</c:v>
                </c:pt>
                <c:pt idx="1">
                  <c:v>240</c:v>
                </c:pt>
              </c:numCache>
            </c:numRef>
          </c:val>
        </c:ser>
        <c:ser>
          <c:idx val="1"/>
          <c:order val="1"/>
          <c:tx>
            <c:strRef>
              <c:f>Sheet1!$C$1</c:f>
              <c:strCache>
                <c:ptCount val="1"/>
                <c:pt idx="0">
                  <c:v>Target</c:v>
                </c:pt>
              </c:strCache>
            </c:strRef>
          </c:tx>
          <c:spPr>
            <a:solidFill>
              <a:srgbClr val="0E9AA7"/>
            </a:solidFill>
            <a:effectLst/>
          </c:spPr>
          <c:invertIfNegative val="0"/>
          <c:dLbls>
            <c:numFmt formatCode="#,##0" sourceLinked="0"/>
            <c:txPr>
              <a:bodyPr/>
              <a:lstStyle/>
              <a:p>
                <a:pPr>
                  <a:defRPr b="0" i="0" strike="noStrike" sz="1000" u="none">
                    <a:solidFill>
                      <a:srgbClr val="0F2D52"/>
                    </a:solidFill>
                    <a:latin typeface="Arial"/>
                  </a:defRPr>
                </a:pPr>
              </a:p>
            </c:txPr>
            <c:showLegendKey val="0"/>
            <c:showVal val="1"/>
            <c:showCatName val="0"/>
            <c:showSerName val="0"/>
            <c:showPercent val="0"/>
            <c:showBubbleSize val="0"/>
            <c:showLeaderLines val="0"/>
          </c:dLbls>
          <c:cat>
            <c:multiLvlStrRef>
              <c:f>Sheet1!$A$2:$A$3</c:f>
              <c:multiLvlStrCache>
                <c:ptCount val="2"/>
                <c:lvl>
                  <c:pt idx="0">
                    <c:v>Processing</c:v>
                  </c:pt>
                  <c:pt idx="1">
                    <c:v>Approval (min)</c:v>
                  </c:pt>
                </c:lvl>
              </c:multiLvlStrCache>
            </c:multiLvlStrRef>
          </c:cat>
          <c:val>
            <c:numRef>
              <c:f>Sheet1!$C$2:$C$3</c:f>
              <c:numCache>
                <c:formatCode>General</c:formatCode>
                <c:ptCount val="2"/>
                <c:pt idx="0">
                  <c:v>2</c:v>
                </c:pt>
                <c:pt idx="1">
                  <c:v>25</c:v>
                </c:pt>
              </c:numCache>
            </c:numRef>
          </c:val>
        </c:ser>
        <c:dLbls>
          <c:numFmt formatCode="#,##0" sourceLinked="0"/>
          <c:txPr>
            <a:bodyPr/>
            <a:lstStyle/>
            <a:p>
              <a:pPr>
                <a:defRPr b="0" i="0" strike="noStrike" sz="1000" u="none">
                  <a:solidFill>
                    <a:srgbClr val="0F2D52"/>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AF0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B7B"/>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Compliance</c:v>
                </c:pt>
              </c:strCache>
            </c:strRef>
          </c:tx>
          <c:spPr>
            <a:solidFill>
              <a:schemeClr val="accent1"/>
            </a:solidFill>
            <a:ln w="9525" cap="flat">
              <a:solidFill>
                <a:srgbClr val="F9F9F9"/>
              </a:solidFill>
              <a:prstDash val="solid"/>
              <a:round/>
            </a:ln>
            <a:effectLst/>
          </c:spPr>
          <c:dPt>
            <c:idx val="0"/>
            <c:bubble3D val="0"/>
            <c:spPr>
              <a:solidFill>
                <a:srgbClr val="3FA85C"/>
              </a:solidFill>
              <a:effectLst/>
            </c:spPr>
          </c:dPt>
          <c:dPt>
            <c:idx val="1"/>
            <c:bubble3D val="0"/>
            <c:spPr>
              <a:solidFill>
                <a:srgbClr val="E3EAF1"/>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Compliant</c:v>
                </c:pt>
                <c:pt idx="1">
                  <c:v>Gap</c:v>
                </c:pt>
              </c:strCache>
            </c:strRef>
          </c:cat>
          <c:val>
            <c:numRef>
              <c:f>Sheet1!$B$2:$B$3</c:f>
              <c:numCache>
                <c:ptCount val="2"/>
                <c:pt idx="0">
                  <c:v>95</c:v>
                </c:pt>
                <c:pt idx="1">
                  <c:v>5</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this as a consulting engagement, not a feature pitch. One line: 'We were asked to look at how visitors are handled across our sites — why reception queues form, why approvals stall, and why security can't see who's in the building. This is what we found and what we recommend.' Set expectation that you'll cover the problem, the analysis, the proposed solution, the numbers, and the roadmap in about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blocks quickly — left column is the diagnosis, right column is the prescription. Tell the audience the whole thing is built on a real as-is analysis, so the recommendation at the end is evidence-based, not opinion. Don't dwell here;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anchor of the deck. Lead with the human experience — the visitor standing at a desk while reception phones around for the host. Then hit the four numbers on the right; they came from process observation and reception logs. Emphasize the security number: we genuinely cannot confirm who is in our buildings right now, which is both a safety and a compliance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 that this is a cross-functional process — no single team owns it today, which is part of the problem. Call out the two 'manage closely' groups (Security and Operations) and that Executives are the sponsors we need in the room. The lack of a clear owner is a theme we'll return to in root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plainly: a host decides to invite someone, emails reception, an approval happens informally if at all, security may or may not be told, the visitor arrives and is registered by hand, then finally gets in. The red flags under the steps are where the process breaks. Land the bottom line: every one of those failure points is something the new system removes. A full swim-lane version is in the As-Is Process Flow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credibility slide — it shows the analysis is structured, not anecdotal. Spend most time on the two red 'Critical' rows: visibility and identity. Frame severity as a combination of business impact and risk exposure. Note that the two medium items (records and analytics) are what prevent us from even knowing how bad the problem is — which is why measurement is part of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techniques converge on one answer. Walk down the 5 Whys ladder — each answer becomes the next question — landing on the red root: this was treated as administration, not a process. Use the fishbone cards to show the same root expresses itself across six dimensions. The banner is the single sentence to remember; everything in the solution flows from fixing this root cause, not the symptoms.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centerpiece. Don't read all eight — group them: 'before arrival' (registration, scheduling, approval, alerts), 'at the door' (QR pass, check-in/out), and 'while on site / after' (real-time tracking, dashboards). Tie each cluster back to a pain point you showed earlier so the audience sees this is a targeted fix, not a generic product. Mention everything is configurable and bilingual.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side by side in your mind with slide 5. Same journey, but the visitor does the work up front, approval routes itself, the pass is digital, check-in is self-service, security sees everyone live, and we capture feedback at the end. The four chips map to the four big failures we identified. A full swim-lane is in the To-Be Process Flow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slide — speak to outcomes, not features. The bar chart shows the two headline time reductions; note the approval bar is in minutes so 240 = the 4-hour cycle today. The green gauge is the compliance jump to 95%+. The chips on the right are the four soundbites to leave in the room. Be candid that these are benchmarked targets, not guarantees, and that the KPI framework on the next slides is how we'll hold ourselves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metric with a hard target — that's the discipline this project introduces for the first time. Stress that today none of these is measured; the system instruments the process so these become live numbers on a dashboard. Point out the pairing: operational metrics (top row times) and outcome metrics (compliance, no-show, satisfaction). These targets are how the steering group will judge success post-go-live.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audiences, three views of the same data. Executives get trends and planning data; operations gets the live action list to clear approvals and manage today; security gets the real-time on-site picture and alerts. Emphasize role-based access — security sees the full on-site list, others don't. Mention the full Power BI mockup is a separate deliverable they can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on delivery: we don't big-bang this. A single-site pilot proves the KPIs and de-risks the roll-out before we spend on scale. On risks, lead with adoption — it's the most common reason these projects underdeliver, and our mitigation is early involvement plus executive sponsorship (which is partly what we're asking for today). Note privacy is low risk because it's designed in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clear ask, not a summary. The one decision you want today is approval of the pilot plus an executive sponsor and Operations as owner. Restate the three headline numbers as the prize. Then stop and invite questions — don't keep talking. If pushed on cost, redirect to the pilot's low-risk, measurable nature: we prove the value on one site before committing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slideLayout" Target="../slideLayouts/slideLayout1.xml"/><Relationship Id="rId1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52"/>
        </a:solidFill>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163A66"/>
          </a:solidFill>
          <a:ln/>
        </p:spPr>
      </p:sp>
      <p:sp>
        <p:nvSpPr>
          <p:cNvPr id="3" name="Shape 1"/>
          <p:cNvSpPr/>
          <p:nvPr/>
        </p:nvSpPr>
        <p:spPr>
          <a:xfrm>
            <a:off x="10332720" y="-822960"/>
            <a:ext cx="2560320" cy="2560320"/>
          </a:xfrm>
          <a:prstGeom prst="ellipse">
            <a:avLst/>
          </a:prstGeom>
          <a:solidFill>
            <a:srgbClr val="0E9AA7">
              <a:alpha val="22000"/>
            </a:srgbClr>
          </a:solidFill>
          <a:ln/>
        </p:spPr>
      </p:sp>
      <p:sp>
        <p:nvSpPr>
          <p:cNvPr id="4" name="Shape 2"/>
          <p:cNvSpPr/>
          <p:nvPr/>
        </p:nvSpPr>
        <p:spPr>
          <a:xfrm>
            <a:off x="-1371600" y="4754880"/>
            <a:ext cx="3291840" cy="3291840"/>
          </a:xfrm>
          <a:prstGeom prst="ellipse">
            <a:avLst/>
          </a:prstGeom>
          <a:solidFill>
            <a:srgbClr val="163A66"/>
          </a:solidFill>
          <a:ln/>
        </p:spPr>
      </p:sp>
      <p:sp>
        <p:nvSpPr>
          <p:cNvPr id="5" name="Shape 3"/>
          <p:cNvSpPr/>
          <p:nvPr/>
        </p:nvSpPr>
        <p:spPr>
          <a:xfrm>
            <a:off x="822960" y="1828800"/>
            <a:ext cx="868680" cy="868680"/>
          </a:xfrm>
          <a:prstGeom prst="ellipse">
            <a:avLst/>
          </a:prstGeom>
          <a:solidFill>
            <a:srgbClr val="0E9AA7"/>
          </a:solidFill>
          <a:ln/>
        </p:spPr>
      </p:sp>
      <p:pic>
        <p:nvPicPr>
          <p:cNvPr id="6" name="Image 0" descr="preencoded.png">    </p:cNvPr>
          <p:cNvPicPr>
            <a:picLocks noChangeAspect="1"/>
          </p:cNvPicPr>
          <p:nvPr/>
        </p:nvPicPr>
        <p:blipFill>
          <a:blip r:embed="rId1"/>
          <a:stretch>
            <a:fillRect/>
          </a:stretch>
        </p:blipFill>
        <p:spPr>
          <a:xfrm>
            <a:off x="1033272" y="2039112"/>
            <a:ext cx="448056" cy="448056"/>
          </a:xfrm>
          <a:prstGeom prst="rect">
            <a:avLst/>
          </a:prstGeom>
        </p:spPr>
      </p:pic>
      <p:sp>
        <p:nvSpPr>
          <p:cNvPr id="7" name="Text 4"/>
          <p:cNvSpPr/>
          <p:nvPr/>
        </p:nvSpPr>
        <p:spPr>
          <a:xfrm>
            <a:off x="822960" y="2880360"/>
            <a:ext cx="10058400" cy="457200"/>
          </a:xfrm>
          <a:prstGeom prst="rect">
            <a:avLst/>
          </a:prstGeom>
          <a:noFill/>
          <a:ln/>
        </p:spPr>
        <p:txBody>
          <a:bodyPr wrap="square" lIns="0" tIns="0" rIns="0" bIns="0" rtlCol="0" anchor="ctr"/>
          <a:lstStyle/>
          <a:p>
            <a:pPr indent="0" marL="0">
              <a:buNone/>
            </a:pPr>
            <a:r>
              <a:rPr lang="en-US" sz="1300" b="1" spc="400" kern="0" dirty="0">
                <a:solidFill>
                  <a:srgbClr val="8FD3D9"/>
                </a:solidFill>
                <a:latin typeface="Calibri" pitchFamily="34" charset="0"/>
                <a:ea typeface="Calibri" pitchFamily="34" charset="-122"/>
                <a:cs typeface="Calibri" pitchFamily="34" charset="-120"/>
              </a:rPr>
              <a:t>VISITOR MANAGEMENT SYSTEM</a:t>
            </a:r>
            <a:endParaRPr lang="en-US" sz="1300" dirty="0"/>
          </a:p>
        </p:txBody>
      </p:sp>
      <p:sp>
        <p:nvSpPr>
          <p:cNvPr id="8" name="Text 5"/>
          <p:cNvSpPr/>
          <p:nvPr/>
        </p:nvSpPr>
        <p:spPr>
          <a:xfrm>
            <a:off x="777240" y="3200400"/>
            <a:ext cx="10515600" cy="1554480"/>
          </a:xfrm>
          <a:prstGeom prst="rect">
            <a:avLst/>
          </a:prstGeom>
          <a:noFill/>
          <a:ln/>
        </p:spPr>
        <p:txBody>
          <a:bodyPr wrap="square" lIns="0" tIns="0" rIns="0" bIns="0" rtlCol="0" anchor="ctr"/>
          <a:lstStyle/>
          <a:p>
            <a:pPr indent="0" marL="0">
              <a:lnSpc>
                <a:spcPct val="95000"/>
              </a:lnSpc>
              <a:buNone/>
            </a:pPr>
            <a:r>
              <a:rPr lang="en-US" sz="5000" b="1" dirty="0">
                <a:solidFill>
                  <a:srgbClr val="FFFFFF"/>
                </a:solidFill>
                <a:latin typeface="Calibri" pitchFamily="34" charset="0"/>
                <a:ea typeface="Calibri" pitchFamily="34" charset="-122"/>
                <a:cs typeface="Calibri" pitchFamily="34" charset="-120"/>
              </a:rPr>
              <a:t>Analysis &amp; Digital</a:t>
            </a:r>
            <a:endParaRPr lang="en-US" sz="5000" dirty="0"/>
          </a:p>
          <a:p>
            <a:pPr indent="0" marL="0">
              <a:lnSpc>
                <a:spcPct val="95000"/>
              </a:lnSpc>
              <a:buNone/>
            </a:pPr>
            <a:r>
              <a:rPr lang="en-US" sz="5000" b="1" dirty="0">
                <a:solidFill>
                  <a:srgbClr val="FFFFFF"/>
                </a:solidFill>
                <a:latin typeface="Calibri" pitchFamily="34" charset="0"/>
                <a:ea typeface="Calibri" pitchFamily="34" charset="-122"/>
                <a:cs typeface="Calibri" pitchFamily="34" charset="-120"/>
              </a:rPr>
              <a:t>Transformation</a:t>
            </a:r>
            <a:endParaRPr lang="en-US" sz="5000" dirty="0"/>
          </a:p>
        </p:txBody>
      </p:sp>
      <p:sp>
        <p:nvSpPr>
          <p:cNvPr id="9" name="Text 6"/>
          <p:cNvSpPr/>
          <p:nvPr/>
        </p:nvSpPr>
        <p:spPr>
          <a:xfrm>
            <a:off x="822960" y="4800600"/>
            <a:ext cx="9601200" cy="457200"/>
          </a:xfrm>
          <a:prstGeom prst="rect">
            <a:avLst/>
          </a:prstGeom>
          <a:noFill/>
          <a:ln/>
        </p:spPr>
        <p:txBody>
          <a:bodyPr wrap="square" lIns="0" tIns="0" rIns="0" bIns="0" rtlCol="0" anchor="ctr"/>
          <a:lstStyle/>
          <a:p>
            <a:pPr indent="0" marL="0">
              <a:buNone/>
            </a:pPr>
            <a:r>
              <a:rPr lang="en-US" sz="1500" i="1" dirty="0">
                <a:solidFill>
                  <a:srgbClr val="8FD3D9"/>
                </a:solidFill>
                <a:latin typeface="Calibri" pitchFamily="34" charset="0"/>
                <a:ea typeface="Calibri" pitchFamily="34" charset="-122"/>
                <a:cs typeface="Calibri" pitchFamily="34" charset="-120"/>
              </a:rPr>
              <a:t>Turning a manual, fragmented process into a fast, secure, data-driven experience</a:t>
            </a:r>
            <a:endParaRPr lang="en-US" sz="1500" dirty="0"/>
          </a:p>
        </p:txBody>
      </p:sp>
      <p:sp>
        <p:nvSpPr>
          <p:cNvPr id="10" name="Shape 7"/>
          <p:cNvSpPr/>
          <p:nvPr/>
        </p:nvSpPr>
        <p:spPr>
          <a:xfrm>
            <a:off x="841248" y="5486400"/>
            <a:ext cx="2926080" cy="0"/>
          </a:xfrm>
          <a:prstGeom prst="line">
            <a:avLst/>
          </a:prstGeom>
          <a:noFill/>
          <a:ln w="25400">
            <a:solidFill>
              <a:srgbClr val="0E9AA7"/>
            </a:solidFill>
            <a:prstDash val="solid"/>
          </a:ln>
        </p:spPr>
      </p:sp>
      <p:sp>
        <p:nvSpPr>
          <p:cNvPr id="11" name="Text 8"/>
          <p:cNvSpPr/>
          <p:nvPr/>
        </p:nvSpPr>
        <p:spPr>
          <a:xfrm>
            <a:off x="822960" y="5669280"/>
            <a:ext cx="10058400" cy="365760"/>
          </a:xfrm>
          <a:prstGeom prst="rect">
            <a:avLst/>
          </a:prstGeom>
          <a:noFill/>
          <a:ln/>
        </p:spPr>
        <p:txBody>
          <a:bodyPr wrap="square" lIns="0" tIns="0" rIns="0" bIns="0" rtlCol="0" anchor="ctr"/>
          <a:lstStyle/>
          <a:p>
            <a:pPr indent="0" marL="0">
              <a:buNone/>
            </a:pPr>
            <a:r>
              <a:rPr lang="en-US" sz="1400" dirty="0">
                <a:solidFill>
                  <a:srgbClr val="9FB4C8"/>
                </a:solidFill>
                <a:latin typeface="Calibri" pitchFamily="34" charset="0"/>
                <a:ea typeface="Calibri" pitchFamily="34" charset="-122"/>
                <a:cs typeface="Calibri" pitchFamily="34" charset="-120"/>
              </a:rPr>
              <a:t>Prepared by  </a:t>
            </a:r>
            <a:pPr indent="0" marL="0">
              <a:buNone/>
            </a:pPr>
            <a:r>
              <a:rPr lang="en-US" sz="1400" b="1" dirty="0">
                <a:solidFill>
                  <a:srgbClr val="FFFFFF"/>
                </a:solidFill>
                <a:latin typeface="Calibri" pitchFamily="34" charset="0"/>
                <a:ea typeface="Calibri" pitchFamily="34" charset="-122"/>
                <a:cs typeface="Calibri" pitchFamily="34" charset="-120"/>
              </a:rPr>
              <a:t>Allulu Alkheraiji</a:t>
            </a:r>
            <a:pPr indent="0" marL="0">
              <a:buNone/>
            </a:pPr>
            <a:r>
              <a:rPr lang="en-US" sz="1400" dirty="0">
                <a:solidFill>
                  <a:srgbClr val="9FB4C8"/>
                </a:solidFill>
                <a:latin typeface="Calibri" pitchFamily="34" charset="0"/>
                <a:ea typeface="Calibri" pitchFamily="34" charset="-122"/>
                <a:cs typeface="Calibri" pitchFamily="34" charset="-120"/>
              </a:rPr>
              <a:t>   ·   Business Analyst</a:t>
            </a:r>
            <a:endParaRPr lang="en-US" sz="1400" dirty="0"/>
          </a:p>
        </p:txBody>
      </p:sp>
      <p:sp>
        <p:nvSpPr>
          <p:cNvPr id="12" name="Text 9"/>
          <p:cNvSpPr/>
          <p:nvPr/>
        </p:nvSpPr>
        <p:spPr>
          <a:xfrm>
            <a:off x="822960" y="6035040"/>
            <a:ext cx="10058400" cy="274320"/>
          </a:xfrm>
          <a:prstGeom prst="rect">
            <a:avLst/>
          </a:prstGeom>
          <a:noFill/>
          <a:ln/>
        </p:spPr>
        <p:txBody>
          <a:bodyPr wrap="square" lIns="0" tIns="0" rIns="0" bIns="0" rtlCol="0" anchor="ctr"/>
          <a:lstStyle/>
          <a:p>
            <a:pPr indent="0" marL="0">
              <a:buNone/>
            </a:pPr>
            <a:r>
              <a:rPr lang="en-US" sz="1100" dirty="0">
                <a:solidFill>
                  <a:srgbClr val="7B93AB"/>
                </a:solidFill>
                <a:latin typeface="Calibri" pitchFamily="34" charset="0"/>
                <a:ea typeface="Calibri" pitchFamily="34" charset="-122"/>
                <a:cs typeface="Calibri" pitchFamily="34" charset="-120"/>
              </a:rPr>
              <a:t>Executive Presentation  ·  Business Analysis Engagement  ·  v1.0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WHERE WE'RE GOING</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Agenda</a:t>
            </a:r>
            <a:endParaRPr lang="en-US" sz="2800" dirty="0"/>
          </a:p>
        </p:txBody>
      </p:sp>
      <p:sp>
        <p:nvSpPr>
          <p:cNvPr id="6" name="Shape 3"/>
          <p:cNvSpPr/>
          <p:nvPr/>
        </p:nvSpPr>
        <p:spPr>
          <a:xfrm>
            <a:off x="640080" y="1600200"/>
            <a:ext cx="5394960" cy="1280160"/>
          </a:xfrm>
          <a:prstGeom prst="roundRect">
            <a:avLst>
              <a:gd name="adj" fmla="val 5714"/>
            </a:avLst>
          </a:prstGeom>
          <a:solidFill>
            <a:srgbClr val="F4F8FC"/>
          </a:solidFill>
          <a:ln/>
          <a:effectLst>
            <a:outerShdw sx="100000" sy="100000" kx="0" ky="0" algn="bl" rotWithShape="0" blurRad="101600" dist="38100" dir="5400000">
              <a:srgbClr val="1A2A3A">
                <a:alpha val="16000"/>
              </a:srgbClr>
            </a:outerShdw>
          </a:effectLst>
        </p:spPr>
      </p:sp>
      <p:sp>
        <p:nvSpPr>
          <p:cNvPr id="7" name="Shape 4"/>
          <p:cNvSpPr/>
          <p:nvPr/>
        </p:nvSpPr>
        <p:spPr>
          <a:xfrm>
            <a:off x="868680" y="1911096"/>
            <a:ext cx="658368" cy="658368"/>
          </a:xfrm>
          <a:prstGeom prst="ellipse">
            <a:avLst/>
          </a:prstGeom>
          <a:solidFill>
            <a:srgbClr val="0F2D52"/>
          </a:solidFill>
          <a:ln/>
        </p:spPr>
      </p:sp>
      <p:pic>
        <p:nvPicPr>
          <p:cNvPr id="8" name="Image 1" descr="preencoded.png">    </p:cNvPr>
          <p:cNvPicPr>
            <a:picLocks noChangeAspect="1"/>
          </p:cNvPicPr>
          <p:nvPr/>
        </p:nvPicPr>
        <p:blipFill>
          <a:blip r:embed="rId2"/>
          <a:stretch>
            <a:fillRect/>
          </a:stretch>
        </p:blipFill>
        <p:spPr>
          <a:xfrm>
            <a:off x="1033272" y="2075688"/>
            <a:ext cx="329184" cy="329184"/>
          </a:xfrm>
          <a:prstGeom prst="rect">
            <a:avLst/>
          </a:prstGeom>
        </p:spPr>
      </p:pic>
      <p:sp>
        <p:nvSpPr>
          <p:cNvPr id="9" name="Text 5"/>
          <p:cNvSpPr/>
          <p:nvPr/>
        </p:nvSpPr>
        <p:spPr>
          <a:xfrm>
            <a:off x="1737360" y="1783080"/>
            <a:ext cx="914400" cy="274320"/>
          </a:xfrm>
          <a:prstGeom prst="rect">
            <a:avLst/>
          </a:prstGeom>
          <a:noFill/>
          <a:ln/>
        </p:spPr>
        <p:txBody>
          <a:bodyPr wrap="square" lIns="0" tIns="0" rIns="0" bIns="0" rtlCol="0" anchor="ctr"/>
          <a:lstStyle/>
          <a:p>
            <a:pPr indent="0" marL="0">
              <a:buNone/>
            </a:pPr>
            <a:r>
              <a:rPr lang="en-US" sz="1200" b="1" dirty="0">
                <a:solidFill>
                  <a:srgbClr val="0E9AA7"/>
                </a:solidFill>
                <a:latin typeface="Calibri" pitchFamily="34" charset="0"/>
                <a:ea typeface="Calibri" pitchFamily="34" charset="-122"/>
                <a:cs typeface="Calibri" pitchFamily="34" charset="-120"/>
              </a:rPr>
              <a:t>01</a:t>
            </a:r>
            <a:endParaRPr lang="en-US" sz="1200" dirty="0"/>
          </a:p>
        </p:txBody>
      </p:sp>
      <p:sp>
        <p:nvSpPr>
          <p:cNvPr id="10" name="Text 6"/>
          <p:cNvSpPr/>
          <p:nvPr/>
        </p:nvSpPr>
        <p:spPr>
          <a:xfrm>
            <a:off x="1737360" y="1984248"/>
            <a:ext cx="4114800" cy="320040"/>
          </a:xfrm>
          <a:prstGeom prst="rect">
            <a:avLst/>
          </a:prstGeom>
          <a:noFill/>
          <a:ln/>
        </p:spPr>
        <p:txBody>
          <a:bodyPr wrap="square" lIns="0" tIns="0" rIns="0" bIns="0" rtlCol="0" anchor="ctr"/>
          <a:lstStyle/>
          <a:p>
            <a:pPr indent="0" marL="0">
              <a:buNone/>
            </a:pPr>
            <a:r>
              <a:rPr lang="en-US" sz="1600" b="1" dirty="0">
                <a:solidFill>
                  <a:srgbClr val="0F2D52"/>
                </a:solidFill>
                <a:latin typeface="Calibri" pitchFamily="34" charset="0"/>
                <a:ea typeface="Calibri" pitchFamily="34" charset="-122"/>
                <a:cs typeface="Calibri" pitchFamily="34" charset="-120"/>
              </a:rPr>
              <a:t>The Business Problem</a:t>
            </a:r>
            <a:endParaRPr lang="en-US" sz="1600" dirty="0"/>
          </a:p>
        </p:txBody>
      </p:sp>
      <p:sp>
        <p:nvSpPr>
          <p:cNvPr id="11" name="Text 7"/>
          <p:cNvSpPr/>
          <p:nvPr/>
        </p:nvSpPr>
        <p:spPr>
          <a:xfrm>
            <a:off x="1737360" y="2313432"/>
            <a:ext cx="4114800" cy="4114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What's broken in visitor handling today</a:t>
            </a:r>
            <a:endParaRPr lang="en-US" sz="1150" dirty="0"/>
          </a:p>
        </p:txBody>
      </p:sp>
      <p:sp>
        <p:nvSpPr>
          <p:cNvPr id="12" name="Shape 8"/>
          <p:cNvSpPr/>
          <p:nvPr/>
        </p:nvSpPr>
        <p:spPr>
          <a:xfrm>
            <a:off x="640080" y="3081528"/>
            <a:ext cx="5394960" cy="1280160"/>
          </a:xfrm>
          <a:prstGeom prst="roundRect">
            <a:avLst>
              <a:gd name="adj" fmla="val 5714"/>
            </a:avLst>
          </a:prstGeom>
          <a:solidFill>
            <a:srgbClr val="F4F8FC"/>
          </a:solidFill>
          <a:ln/>
          <a:effectLst>
            <a:outerShdw sx="100000" sy="100000" kx="0" ky="0" algn="bl" rotWithShape="0" blurRad="101600" dist="38100" dir="5400000">
              <a:srgbClr val="1A2A3A">
                <a:alpha val="16000"/>
              </a:srgbClr>
            </a:outerShdw>
          </a:effectLst>
        </p:spPr>
      </p:sp>
      <p:sp>
        <p:nvSpPr>
          <p:cNvPr id="13" name="Shape 9"/>
          <p:cNvSpPr/>
          <p:nvPr/>
        </p:nvSpPr>
        <p:spPr>
          <a:xfrm>
            <a:off x="868680" y="3392424"/>
            <a:ext cx="658368" cy="658368"/>
          </a:xfrm>
          <a:prstGeom prst="ellipse">
            <a:avLst/>
          </a:prstGeom>
          <a:solidFill>
            <a:srgbClr val="0F2D52"/>
          </a:solidFill>
          <a:ln/>
        </p:spPr>
      </p:sp>
      <p:pic>
        <p:nvPicPr>
          <p:cNvPr id="14" name="Image 2" descr="preencoded.png">    </p:cNvPr>
          <p:cNvPicPr>
            <a:picLocks noChangeAspect="1"/>
          </p:cNvPicPr>
          <p:nvPr/>
        </p:nvPicPr>
        <p:blipFill>
          <a:blip r:embed="rId3"/>
          <a:stretch>
            <a:fillRect/>
          </a:stretch>
        </p:blipFill>
        <p:spPr>
          <a:xfrm>
            <a:off x="1033272" y="3557016"/>
            <a:ext cx="329184" cy="329184"/>
          </a:xfrm>
          <a:prstGeom prst="rect">
            <a:avLst/>
          </a:prstGeom>
        </p:spPr>
      </p:pic>
      <p:sp>
        <p:nvSpPr>
          <p:cNvPr id="15" name="Text 10"/>
          <p:cNvSpPr/>
          <p:nvPr/>
        </p:nvSpPr>
        <p:spPr>
          <a:xfrm>
            <a:off x="1737360" y="3264408"/>
            <a:ext cx="914400" cy="274320"/>
          </a:xfrm>
          <a:prstGeom prst="rect">
            <a:avLst/>
          </a:prstGeom>
          <a:noFill/>
          <a:ln/>
        </p:spPr>
        <p:txBody>
          <a:bodyPr wrap="square" lIns="0" tIns="0" rIns="0" bIns="0" rtlCol="0" anchor="ctr"/>
          <a:lstStyle/>
          <a:p>
            <a:pPr indent="0" marL="0">
              <a:buNone/>
            </a:pPr>
            <a:r>
              <a:rPr lang="en-US" sz="1200" b="1" dirty="0">
                <a:solidFill>
                  <a:srgbClr val="0E9AA7"/>
                </a:solidFill>
                <a:latin typeface="Calibri" pitchFamily="34" charset="0"/>
                <a:ea typeface="Calibri" pitchFamily="34" charset="-122"/>
                <a:cs typeface="Calibri" pitchFamily="34" charset="-120"/>
              </a:rPr>
              <a:t>02</a:t>
            </a:r>
            <a:endParaRPr lang="en-US" sz="1200" dirty="0"/>
          </a:p>
        </p:txBody>
      </p:sp>
      <p:sp>
        <p:nvSpPr>
          <p:cNvPr id="16" name="Text 11"/>
          <p:cNvSpPr/>
          <p:nvPr/>
        </p:nvSpPr>
        <p:spPr>
          <a:xfrm>
            <a:off x="1737360" y="3465576"/>
            <a:ext cx="4114800" cy="320040"/>
          </a:xfrm>
          <a:prstGeom prst="rect">
            <a:avLst/>
          </a:prstGeom>
          <a:noFill/>
          <a:ln/>
        </p:spPr>
        <p:txBody>
          <a:bodyPr wrap="square" lIns="0" tIns="0" rIns="0" bIns="0" rtlCol="0" anchor="ctr"/>
          <a:lstStyle/>
          <a:p>
            <a:pPr indent="0" marL="0">
              <a:buNone/>
            </a:pPr>
            <a:r>
              <a:rPr lang="en-US" sz="1600" b="1" dirty="0">
                <a:solidFill>
                  <a:srgbClr val="0F2D52"/>
                </a:solidFill>
                <a:latin typeface="Calibri" pitchFamily="34" charset="0"/>
                <a:ea typeface="Calibri" pitchFamily="34" charset="-122"/>
                <a:cs typeface="Calibri" pitchFamily="34" charset="-120"/>
              </a:rPr>
              <a:t>Stakeholders &amp; Current State</a:t>
            </a:r>
            <a:endParaRPr lang="en-US" sz="1600" dirty="0"/>
          </a:p>
        </p:txBody>
      </p:sp>
      <p:sp>
        <p:nvSpPr>
          <p:cNvPr id="17" name="Text 12"/>
          <p:cNvSpPr/>
          <p:nvPr/>
        </p:nvSpPr>
        <p:spPr>
          <a:xfrm>
            <a:off x="1737360" y="3794760"/>
            <a:ext cx="4114800" cy="4114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Who is affected and how the as-is process works</a:t>
            </a:r>
            <a:endParaRPr lang="en-US" sz="1150" dirty="0"/>
          </a:p>
        </p:txBody>
      </p:sp>
      <p:sp>
        <p:nvSpPr>
          <p:cNvPr id="18" name="Shape 13"/>
          <p:cNvSpPr/>
          <p:nvPr/>
        </p:nvSpPr>
        <p:spPr>
          <a:xfrm>
            <a:off x="640080" y="4562856"/>
            <a:ext cx="5394960" cy="1280160"/>
          </a:xfrm>
          <a:prstGeom prst="roundRect">
            <a:avLst>
              <a:gd name="adj" fmla="val 5714"/>
            </a:avLst>
          </a:prstGeom>
          <a:solidFill>
            <a:srgbClr val="F4F8FC"/>
          </a:solidFill>
          <a:ln/>
          <a:effectLst>
            <a:outerShdw sx="100000" sy="100000" kx="0" ky="0" algn="bl" rotWithShape="0" blurRad="101600" dist="38100" dir="5400000">
              <a:srgbClr val="1A2A3A">
                <a:alpha val="16000"/>
              </a:srgbClr>
            </a:outerShdw>
          </a:effectLst>
        </p:spPr>
      </p:sp>
      <p:sp>
        <p:nvSpPr>
          <p:cNvPr id="19" name="Shape 14"/>
          <p:cNvSpPr/>
          <p:nvPr/>
        </p:nvSpPr>
        <p:spPr>
          <a:xfrm>
            <a:off x="868680" y="4873752"/>
            <a:ext cx="658368" cy="658368"/>
          </a:xfrm>
          <a:prstGeom prst="ellipse">
            <a:avLst/>
          </a:prstGeom>
          <a:solidFill>
            <a:srgbClr val="0F2D52"/>
          </a:solidFill>
          <a:ln/>
        </p:spPr>
      </p:sp>
      <p:pic>
        <p:nvPicPr>
          <p:cNvPr id="20" name="Image 3" descr="preencoded.png">    </p:cNvPr>
          <p:cNvPicPr>
            <a:picLocks noChangeAspect="1"/>
          </p:cNvPicPr>
          <p:nvPr/>
        </p:nvPicPr>
        <p:blipFill>
          <a:blip r:embed="rId4"/>
          <a:stretch>
            <a:fillRect/>
          </a:stretch>
        </p:blipFill>
        <p:spPr>
          <a:xfrm>
            <a:off x="1033272" y="5038344"/>
            <a:ext cx="329184" cy="329184"/>
          </a:xfrm>
          <a:prstGeom prst="rect">
            <a:avLst/>
          </a:prstGeom>
        </p:spPr>
      </p:pic>
      <p:sp>
        <p:nvSpPr>
          <p:cNvPr id="21" name="Text 15"/>
          <p:cNvSpPr/>
          <p:nvPr/>
        </p:nvSpPr>
        <p:spPr>
          <a:xfrm>
            <a:off x="1737360" y="4745736"/>
            <a:ext cx="914400" cy="274320"/>
          </a:xfrm>
          <a:prstGeom prst="rect">
            <a:avLst/>
          </a:prstGeom>
          <a:noFill/>
          <a:ln/>
        </p:spPr>
        <p:txBody>
          <a:bodyPr wrap="square" lIns="0" tIns="0" rIns="0" bIns="0" rtlCol="0" anchor="ctr"/>
          <a:lstStyle/>
          <a:p>
            <a:pPr indent="0" marL="0">
              <a:buNone/>
            </a:pPr>
            <a:r>
              <a:rPr lang="en-US" sz="1200" b="1" dirty="0">
                <a:solidFill>
                  <a:srgbClr val="0E9AA7"/>
                </a:solidFill>
                <a:latin typeface="Calibri" pitchFamily="34" charset="0"/>
                <a:ea typeface="Calibri" pitchFamily="34" charset="-122"/>
                <a:cs typeface="Calibri" pitchFamily="34" charset="-120"/>
              </a:rPr>
              <a:t>03</a:t>
            </a:r>
            <a:endParaRPr lang="en-US" sz="1200" dirty="0"/>
          </a:p>
        </p:txBody>
      </p:sp>
      <p:sp>
        <p:nvSpPr>
          <p:cNvPr id="22" name="Text 16"/>
          <p:cNvSpPr/>
          <p:nvPr/>
        </p:nvSpPr>
        <p:spPr>
          <a:xfrm>
            <a:off x="1737360" y="4946904"/>
            <a:ext cx="4114800" cy="320040"/>
          </a:xfrm>
          <a:prstGeom prst="rect">
            <a:avLst/>
          </a:prstGeom>
          <a:noFill/>
          <a:ln/>
        </p:spPr>
        <p:txBody>
          <a:bodyPr wrap="square" lIns="0" tIns="0" rIns="0" bIns="0" rtlCol="0" anchor="ctr"/>
          <a:lstStyle/>
          <a:p>
            <a:pPr indent="0" marL="0">
              <a:buNone/>
            </a:pPr>
            <a:r>
              <a:rPr lang="en-US" sz="1600" b="1" dirty="0">
                <a:solidFill>
                  <a:srgbClr val="0F2D52"/>
                </a:solidFill>
                <a:latin typeface="Calibri" pitchFamily="34" charset="0"/>
                <a:ea typeface="Calibri" pitchFamily="34" charset="-122"/>
                <a:cs typeface="Calibri" pitchFamily="34" charset="-120"/>
              </a:rPr>
              <a:t>Pain Points &amp; Root Cause</a:t>
            </a:r>
            <a:endParaRPr lang="en-US" sz="1600" dirty="0"/>
          </a:p>
        </p:txBody>
      </p:sp>
      <p:sp>
        <p:nvSpPr>
          <p:cNvPr id="23" name="Text 17"/>
          <p:cNvSpPr/>
          <p:nvPr/>
        </p:nvSpPr>
        <p:spPr>
          <a:xfrm>
            <a:off x="1737360" y="5276088"/>
            <a:ext cx="4114800" cy="4114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The evidence and the underlying driver</a:t>
            </a:r>
            <a:endParaRPr lang="en-US" sz="1150" dirty="0"/>
          </a:p>
        </p:txBody>
      </p:sp>
      <p:sp>
        <p:nvSpPr>
          <p:cNvPr id="24" name="Shape 18"/>
          <p:cNvSpPr/>
          <p:nvPr/>
        </p:nvSpPr>
        <p:spPr>
          <a:xfrm>
            <a:off x="6355080" y="1600200"/>
            <a:ext cx="5394960" cy="1280160"/>
          </a:xfrm>
          <a:prstGeom prst="roundRect">
            <a:avLst>
              <a:gd name="adj" fmla="val 5714"/>
            </a:avLst>
          </a:prstGeom>
          <a:solidFill>
            <a:srgbClr val="F4F8FC"/>
          </a:solidFill>
          <a:ln/>
          <a:effectLst>
            <a:outerShdw sx="100000" sy="100000" kx="0" ky="0" algn="bl" rotWithShape="0" blurRad="101600" dist="38100" dir="5400000">
              <a:srgbClr val="1A2A3A">
                <a:alpha val="16000"/>
              </a:srgbClr>
            </a:outerShdw>
          </a:effectLst>
        </p:spPr>
      </p:sp>
      <p:sp>
        <p:nvSpPr>
          <p:cNvPr id="25" name="Shape 19"/>
          <p:cNvSpPr/>
          <p:nvPr/>
        </p:nvSpPr>
        <p:spPr>
          <a:xfrm>
            <a:off x="6583680" y="1911096"/>
            <a:ext cx="658368" cy="658368"/>
          </a:xfrm>
          <a:prstGeom prst="ellipse">
            <a:avLst/>
          </a:prstGeom>
          <a:solidFill>
            <a:srgbClr val="0E9AA7"/>
          </a:solidFill>
          <a:ln/>
        </p:spPr>
      </p:sp>
      <p:pic>
        <p:nvPicPr>
          <p:cNvPr id="26" name="Image 4" descr="preencoded.png">    </p:cNvPr>
          <p:cNvPicPr>
            <a:picLocks noChangeAspect="1"/>
          </p:cNvPicPr>
          <p:nvPr/>
        </p:nvPicPr>
        <p:blipFill>
          <a:blip r:embed="rId5"/>
          <a:stretch>
            <a:fillRect/>
          </a:stretch>
        </p:blipFill>
        <p:spPr>
          <a:xfrm>
            <a:off x="6748272" y="2075688"/>
            <a:ext cx="329184" cy="329184"/>
          </a:xfrm>
          <a:prstGeom prst="rect">
            <a:avLst/>
          </a:prstGeom>
        </p:spPr>
      </p:pic>
      <p:sp>
        <p:nvSpPr>
          <p:cNvPr id="27" name="Text 20"/>
          <p:cNvSpPr/>
          <p:nvPr/>
        </p:nvSpPr>
        <p:spPr>
          <a:xfrm>
            <a:off x="7452360" y="1783080"/>
            <a:ext cx="914400" cy="274320"/>
          </a:xfrm>
          <a:prstGeom prst="rect">
            <a:avLst/>
          </a:prstGeom>
          <a:noFill/>
          <a:ln/>
        </p:spPr>
        <p:txBody>
          <a:bodyPr wrap="square" lIns="0" tIns="0" rIns="0" bIns="0" rtlCol="0" anchor="ctr"/>
          <a:lstStyle/>
          <a:p>
            <a:pPr indent="0" marL="0">
              <a:buNone/>
            </a:pPr>
            <a:r>
              <a:rPr lang="en-US" sz="1200" b="1" dirty="0">
                <a:solidFill>
                  <a:srgbClr val="0E9AA7"/>
                </a:solidFill>
                <a:latin typeface="Calibri" pitchFamily="34" charset="0"/>
                <a:ea typeface="Calibri" pitchFamily="34" charset="-122"/>
                <a:cs typeface="Calibri" pitchFamily="34" charset="-120"/>
              </a:rPr>
              <a:t>04</a:t>
            </a:r>
            <a:endParaRPr lang="en-US" sz="1200" dirty="0"/>
          </a:p>
        </p:txBody>
      </p:sp>
      <p:sp>
        <p:nvSpPr>
          <p:cNvPr id="28" name="Text 21"/>
          <p:cNvSpPr/>
          <p:nvPr/>
        </p:nvSpPr>
        <p:spPr>
          <a:xfrm>
            <a:off x="7452360" y="1984248"/>
            <a:ext cx="4114800" cy="320040"/>
          </a:xfrm>
          <a:prstGeom prst="rect">
            <a:avLst/>
          </a:prstGeom>
          <a:noFill/>
          <a:ln/>
        </p:spPr>
        <p:txBody>
          <a:bodyPr wrap="square" lIns="0" tIns="0" rIns="0" bIns="0" rtlCol="0" anchor="ctr"/>
          <a:lstStyle/>
          <a:p>
            <a:pPr indent="0" marL="0">
              <a:buNone/>
            </a:pPr>
            <a:r>
              <a:rPr lang="en-US" sz="1600" b="1" dirty="0">
                <a:solidFill>
                  <a:srgbClr val="0F2D52"/>
                </a:solidFill>
                <a:latin typeface="Calibri" pitchFamily="34" charset="0"/>
                <a:ea typeface="Calibri" pitchFamily="34" charset="-122"/>
                <a:cs typeface="Calibri" pitchFamily="34" charset="-120"/>
              </a:rPr>
              <a:t>The Proposed Solution</a:t>
            </a:r>
            <a:endParaRPr lang="en-US" sz="1600" dirty="0"/>
          </a:p>
        </p:txBody>
      </p:sp>
      <p:sp>
        <p:nvSpPr>
          <p:cNvPr id="29" name="Text 22"/>
          <p:cNvSpPr/>
          <p:nvPr/>
        </p:nvSpPr>
        <p:spPr>
          <a:xfrm>
            <a:off x="7452360" y="2313432"/>
            <a:ext cx="4114800" cy="4114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A digital Visitor Management System</a:t>
            </a:r>
            <a:endParaRPr lang="en-US" sz="1150" dirty="0"/>
          </a:p>
        </p:txBody>
      </p:sp>
      <p:sp>
        <p:nvSpPr>
          <p:cNvPr id="30" name="Shape 23"/>
          <p:cNvSpPr/>
          <p:nvPr/>
        </p:nvSpPr>
        <p:spPr>
          <a:xfrm>
            <a:off x="6355080" y="3081528"/>
            <a:ext cx="5394960" cy="1280160"/>
          </a:xfrm>
          <a:prstGeom prst="roundRect">
            <a:avLst>
              <a:gd name="adj" fmla="val 5714"/>
            </a:avLst>
          </a:prstGeom>
          <a:solidFill>
            <a:srgbClr val="F4F8FC"/>
          </a:solidFill>
          <a:ln/>
          <a:effectLst>
            <a:outerShdw sx="100000" sy="100000" kx="0" ky="0" algn="bl" rotWithShape="0" blurRad="101600" dist="38100" dir="5400000">
              <a:srgbClr val="1A2A3A">
                <a:alpha val="16000"/>
              </a:srgbClr>
            </a:outerShdw>
          </a:effectLst>
        </p:spPr>
      </p:sp>
      <p:sp>
        <p:nvSpPr>
          <p:cNvPr id="31" name="Shape 24"/>
          <p:cNvSpPr/>
          <p:nvPr/>
        </p:nvSpPr>
        <p:spPr>
          <a:xfrm>
            <a:off x="6583680" y="3392424"/>
            <a:ext cx="658368" cy="658368"/>
          </a:xfrm>
          <a:prstGeom prst="ellipse">
            <a:avLst/>
          </a:prstGeom>
          <a:solidFill>
            <a:srgbClr val="0E9AA7"/>
          </a:solidFill>
          <a:ln/>
        </p:spPr>
      </p:sp>
      <p:pic>
        <p:nvPicPr>
          <p:cNvPr id="32" name="Image 5" descr="preencoded.png">    </p:cNvPr>
          <p:cNvPicPr>
            <a:picLocks noChangeAspect="1"/>
          </p:cNvPicPr>
          <p:nvPr/>
        </p:nvPicPr>
        <p:blipFill>
          <a:blip r:embed="rId6"/>
          <a:stretch>
            <a:fillRect/>
          </a:stretch>
        </p:blipFill>
        <p:spPr>
          <a:xfrm>
            <a:off x="6748272" y="3557016"/>
            <a:ext cx="329184" cy="329184"/>
          </a:xfrm>
          <a:prstGeom prst="rect">
            <a:avLst/>
          </a:prstGeom>
        </p:spPr>
      </p:pic>
      <p:sp>
        <p:nvSpPr>
          <p:cNvPr id="33" name="Text 25"/>
          <p:cNvSpPr/>
          <p:nvPr/>
        </p:nvSpPr>
        <p:spPr>
          <a:xfrm>
            <a:off x="7452360" y="3264408"/>
            <a:ext cx="914400" cy="274320"/>
          </a:xfrm>
          <a:prstGeom prst="rect">
            <a:avLst/>
          </a:prstGeom>
          <a:noFill/>
          <a:ln/>
        </p:spPr>
        <p:txBody>
          <a:bodyPr wrap="square" lIns="0" tIns="0" rIns="0" bIns="0" rtlCol="0" anchor="ctr"/>
          <a:lstStyle/>
          <a:p>
            <a:pPr indent="0" marL="0">
              <a:buNone/>
            </a:pPr>
            <a:r>
              <a:rPr lang="en-US" sz="1200" b="1" dirty="0">
                <a:solidFill>
                  <a:srgbClr val="0E9AA7"/>
                </a:solidFill>
                <a:latin typeface="Calibri" pitchFamily="34" charset="0"/>
                <a:ea typeface="Calibri" pitchFamily="34" charset="-122"/>
                <a:cs typeface="Calibri" pitchFamily="34" charset="-120"/>
              </a:rPr>
              <a:t>05</a:t>
            </a:r>
            <a:endParaRPr lang="en-US" sz="1200" dirty="0"/>
          </a:p>
        </p:txBody>
      </p:sp>
      <p:sp>
        <p:nvSpPr>
          <p:cNvPr id="34" name="Text 26"/>
          <p:cNvSpPr/>
          <p:nvPr/>
        </p:nvSpPr>
        <p:spPr>
          <a:xfrm>
            <a:off x="7452360" y="3465576"/>
            <a:ext cx="4114800" cy="320040"/>
          </a:xfrm>
          <a:prstGeom prst="rect">
            <a:avLst/>
          </a:prstGeom>
          <a:noFill/>
          <a:ln/>
        </p:spPr>
        <p:txBody>
          <a:bodyPr wrap="square" lIns="0" tIns="0" rIns="0" bIns="0" rtlCol="0" anchor="ctr"/>
          <a:lstStyle/>
          <a:p>
            <a:pPr indent="0" marL="0">
              <a:buNone/>
            </a:pPr>
            <a:r>
              <a:rPr lang="en-US" sz="1600" b="1" dirty="0">
                <a:solidFill>
                  <a:srgbClr val="0F2D52"/>
                </a:solidFill>
                <a:latin typeface="Calibri" pitchFamily="34" charset="0"/>
                <a:ea typeface="Calibri" pitchFamily="34" charset="-122"/>
                <a:cs typeface="Calibri" pitchFamily="34" charset="-120"/>
              </a:rPr>
              <a:t>Benefits, KPIs &amp; Dashboards</a:t>
            </a:r>
            <a:endParaRPr lang="en-US" sz="1600" dirty="0"/>
          </a:p>
        </p:txBody>
      </p:sp>
      <p:sp>
        <p:nvSpPr>
          <p:cNvPr id="35" name="Text 27"/>
          <p:cNvSpPr/>
          <p:nvPr/>
        </p:nvSpPr>
        <p:spPr>
          <a:xfrm>
            <a:off x="7452360" y="3794760"/>
            <a:ext cx="4114800" cy="4114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The quantified case and how we'll measure it</a:t>
            </a:r>
            <a:endParaRPr lang="en-US" sz="1150" dirty="0"/>
          </a:p>
        </p:txBody>
      </p:sp>
      <p:sp>
        <p:nvSpPr>
          <p:cNvPr id="36" name="Shape 28"/>
          <p:cNvSpPr/>
          <p:nvPr/>
        </p:nvSpPr>
        <p:spPr>
          <a:xfrm>
            <a:off x="6355080" y="4562856"/>
            <a:ext cx="5394960" cy="1280160"/>
          </a:xfrm>
          <a:prstGeom prst="roundRect">
            <a:avLst>
              <a:gd name="adj" fmla="val 5714"/>
            </a:avLst>
          </a:prstGeom>
          <a:solidFill>
            <a:srgbClr val="F4F8FC"/>
          </a:solidFill>
          <a:ln/>
          <a:effectLst>
            <a:outerShdw sx="100000" sy="100000" kx="0" ky="0" algn="bl" rotWithShape="0" blurRad="101600" dist="38100" dir="5400000">
              <a:srgbClr val="1A2A3A">
                <a:alpha val="16000"/>
              </a:srgbClr>
            </a:outerShdw>
          </a:effectLst>
        </p:spPr>
      </p:sp>
      <p:sp>
        <p:nvSpPr>
          <p:cNvPr id="37" name="Shape 29"/>
          <p:cNvSpPr/>
          <p:nvPr/>
        </p:nvSpPr>
        <p:spPr>
          <a:xfrm>
            <a:off x="6583680" y="4873752"/>
            <a:ext cx="658368" cy="658368"/>
          </a:xfrm>
          <a:prstGeom prst="ellipse">
            <a:avLst/>
          </a:prstGeom>
          <a:solidFill>
            <a:srgbClr val="0E9AA7"/>
          </a:solidFill>
          <a:ln/>
        </p:spPr>
      </p:sp>
      <p:pic>
        <p:nvPicPr>
          <p:cNvPr id="38" name="Image 6" descr="preencoded.png">    </p:cNvPr>
          <p:cNvPicPr>
            <a:picLocks noChangeAspect="1"/>
          </p:cNvPicPr>
          <p:nvPr/>
        </p:nvPicPr>
        <p:blipFill>
          <a:blip r:embed="rId7"/>
          <a:stretch>
            <a:fillRect/>
          </a:stretch>
        </p:blipFill>
        <p:spPr>
          <a:xfrm>
            <a:off x="6748272" y="5038344"/>
            <a:ext cx="329184" cy="329184"/>
          </a:xfrm>
          <a:prstGeom prst="rect">
            <a:avLst/>
          </a:prstGeom>
        </p:spPr>
      </p:pic>
      <p:sp>
        <p:nvSpPr>
          <p:cNvPr id="39" name="Text 30"/>
          <p:cNvSpPr/>
          <p:nvPr/>
        </p:nvSpPr>
        <p:spPr>
          <a:xfrm>
            <a:off x="7452360" y="4745736"/>
            <a:ext cx="914400" cy="274320"/>
          </a:xfrm>
          <a:prstGeom prst="rect">
            <a:avLst/>
          </a:prstGeom>
          <a:noFill/>
          <a:ln/>
        </p:spPr>
        <p:txBody>
          <a:bodyPr wrap="square" lIns="0" tIns="0" rIns="0" bIns="0" rtlCol="0" anchor="ctr"/>
          <a:lstStyle/>
          <a:p>
            <a:pPr indent="0" marL="0">
              <a:buNone/>
            </a:pPr>
            <a:r>
              <a:rPr lang="en-US" sz="1200" b="1" dirty="0">
                <a:solidFill>
                  <a:srgbClr val="0E9AA7"/>
                </a:solidFill>
                <a:latin typeface="Calibri" pitchFamily="34" charset="0"/>
                <a:ea typeface="Calibri" pitchFamily="34" charset="-122"/>
                <a:cs typeface="Calibri" pitchFamily="34" charset="-120"/>
              </a:rPr>
              <a:t>06</a:t>
            </a:r>
            <a:endParaRPr lang="en-US" sz="1200" dirty="0"/>
          </a:p>
        </p:txBody>
      </p:sp>
      <p:sp>
        <p:nvSpPr>
          <p:cNvPr id="40" name="Text 31"/>
          <p:cNvSpPr/>
          <p:nvPr/>
        </p:nvSpPr>
        <p:spPr>
          <a:xfrm>
            <a:off x="7452360" y="4946904"/>
            <a:ext cx="4114800" cy="320040"/>
          </a:xfrm>
          <a:prstGeom prst="rect">
            <a:avLst/>
          </a:prstGeom>
          <a:noFill/>
          <a:ln/>
        </p:spPr>
        <p:txBody>
          <a:bodyPr wrap="square" lIns="0" tIns="0" rIns="0" bIns="0" rtlCol="0" anchor="ctr"/>
          <a:lstStyle/>
          <a:p>
            <a:pPr indent="0" marL="0">
              <a:buNone/>
            </a:pPr>
            <a:r>
              <a:rPr lang="en-US" sz="1600" b="1" dirty="0">
                <a:solidFill>
                  <a:srgbClr val="0F2D52"/>
                </a:solidFill>
                <a:latin typeface="Calibri" pitchFamily="34" charset="0"/>
                <a:ea typeface="Calibri" pitchFamily="34" charset="-122"/>
                <a:cs typeface="Calibri" pitchFamily="34" charset="-120"/>
              </a:rPr>
              <a:t>Roadmap, Risks &amp; Recommendation</a:t>
            </a:r>
            <a:endParaRPr lang="en-US" sz="1600" dirty="0"/>
          </a:p>
        </p:txBody>
      </p:sp>
      <p:sp>
        <p:nvSpPr>
          <p:cNvPr id="41" name="Text 32"/>
          <p:cNvSpPr/>
          <p:nvPr/>
        </p:nvSpPr>
        <p:spPr>
          <a:xfrm>
            <a:off x="7452360" y="5276088"/>
            <a:ext cx="4114800" cy="4114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How we deliver and what we ask for</a:t>
            </a:r>
            <a:endParaRPr lang="en-US" sz="1150" dirty="0"/>
          </a:p>
        </p:txBody>
      </p:sp>
      <p:sp>
        <p:nvSpPr>
          <p:cNvPr id="42" name="Text 33"/>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43" name="Text 34"/>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WHY WE'RE HERE</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The Business Problem</a:t>
            </a:r>
            <a:endParaRPr lang="en-US" sz="2800" dirty="0"/>
          </a:p>
        </p:txBody>
      </p:sp>
      <p:sp>
        <p:nvSpPr>
          <p:cNvPr id="6" name="Shape 3"/>
          <p:cNvSpPr/>
          <p:nvPr/>
        </p:nvSpPr>
        <p:spPr>
          <a:xfrm>
            <a:off x="640080" y="1600200"/>
            <a:ext cx="5486400" cy="4480560"/>
          </a:xfrm>
          <a:prstGeom prst="roundRect">
            <a:avLst>
              <a:gd name="adj" fmla="val 1633"/>
            </a:avLst>
          </a:prstGeom>
          <a:solidFill>
            <a:srgbClr val="0F2D52"/>
          </a:solidFill>
          <a:ln/>
          <a:effectLst>
            <a:outerShdw sx="100000" sy="100000" kx="0" ky="0" algn="bl" rotWithShape="0" blurRad="101600" dist="38100" dir="5400000">
              <a:srgbClr val="1A2A3A">
                <a:alpha val="16000"/>
              </a:srgbClr>
            </a:outerShdw>
          </a:effectLst>
        </p:spPr>
      </p:sp>
      <p:sp>
        <p:nvSpPr>
          <p:cNvPr id="7" name="Text 4"/>
          <p:cNvSpPr/>
          <p:nvPr/>
        </p:nvSpPr>
        <p:spPr>
          <a:xfrm>
            <a:off x="914400" y="1874520"/>
            <a:ext cx="4937760" cy="7315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No single, digital, auditable way to manage visitors</a:t>
            </a:r>
            <a:endParaRPr lang="en-US" sz="1900" dirty="0"/>
          </a:p>
        </p:txBody>
      </p:sp>
      <p:sp>
        <p:nvSpPr>
          <p:cNvPr id="8" name="Text 5"/>
          <p:cNvSpPr/>
          <p:nvPr/>
        </p:nvSpPr>
        <p:spPr>
          <a:xfrm>
            <a:off x="914400" y="2697480"/>
            <a:ext cx="4937760" cy="914400"/>
          </a:xfrm>
          <a:prstGeom prst="rect">
            <a:avLst/>
          </a:prstGeom>
          <a:noFill/>
          <a:ln/>
        </p:spPr>
        <p:txBody>
          <a:bodyPr wrap="square" lIns="0" tIns="0" rIns="0" bIns="0" rtlCol="0" anchor="ctr"/>
          <a:lstStyle/>
          <a:p>
            <a:pPr indent="0" marL="0">
              <a:buNone/>
            </a:pPr>
            <a:r>
              <a:rPr lang="en-US" sz="1350" dirty="0">
                <a:solidFill>
                  <a:srgbClr val="8FD3D9"/>
                </a:solidFill>
                <a:latin typeface="Calibri" pitchFamily="34" charset="0"/>
                <a:ea typeface="Calibri" pitchFamily="34" charset="-122"/>
                <a:cs typeface="Calibri" pitchFamily="34" charset="-120"/>
              </a:rPr>
              <a:t>Visits are coordinated through email, phone calls, instant messages, paper logbooks, and disconnected spreadsheets — with no source of truth.</a:t>
            </a:r>
            <a:endParaRPr lang="en-US" sz="1350" dirty="0"/>
          </a:p>
        </p:txBody>
      </p:sp>
      <p:pic>
        <p:nvPicPr>
          <p:cNvPr id="9" name="Image 1" descr="preencoded.png">    </p:cNvPr>
          <p:cNvPicPr>
            <a:picLocks noChangeAspect="1"/>
          </p:cNvPicPr>
          <p:nvPr/>
        </p:nvPicPr>
        <p:blipFill>
          <a:blip r:embed="rId2"/>
          <a:stretch>
            <a:fillRect/>
          </a:stretch>
        </p:blipFill>
        <p:spPr>
          <a:xfrm>
            <a:off x="914400" y="3721608"/>
            <a:ext cx="237744" cy="237744"/>
          </a:xfrm>
          <a:prstGeom prst="rect">
            <a:avLst/>
          </a:prstGeom>
        </p:spPr>
      </p:pic>
      <p:sp>
        <p:nvSpPr>
          <p:cNvPr id="10" name="Text 6"/>
          <p:cNvSpPr/>
          <p:nvPr/>
        </p:nvSpPr>
        <p:spPr>
          <a:xfrm>
            <a:off x="1261872" y="3703320"/>
            <a:ext cx="4663440" cy="3657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Long, unpredictable waits at reception</a:t>
            </a:r>
            <a:endParaRPr lang="en-US" sz="1300" dirty="0"/>
          </a:p>
        </p:txBody>
      </p:sp>
      <p:pic>
        <p:nvPicPr>
          <p:cNvPr id="11" name="Image 2" descr="preencoded.png">    </p:cNvPr>
          <p:cNvPicPr>
            <a:picLocks noChangeAspect="1"/>
          </p:cNvPicPr>
          <p:nvPr/>
        </p:nvPicPr>
        <p:blipFill>
          <a:blip r:embed="rId3"/>
          <a:stretch>
            <a:fillRect/>
          </a:stretch>
        </p:blipFill>
        <p:spPr>
          <a:xfrm>
            <a:off x="914400" y="4178808"/>
            <a:ext cx="237744" cy="237744"/>
          </a:xfrm>
          <a:prstGeom prst="rect">
            <a:avLst/>
          </a:prstGeom>
        </p:spPr>
      </p:pic>
      <p:sp>
        <p:nvSpPr>
          <p:cNvPr id="12" name="Text 7"/>
          <p:cNvSpPr/>
          <p:nvPr/>
        </p:nvSpPr>
        <p:spPr>
          <a:xfrm>
            <a:off x="1261872" y="4160520"/>
            <a:ext cx="4663440" cy="3657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Hosts tied up coordinating and escorting</a:t>
            </a:r>
            <a:endParaRPr lang="en-US" sz="1300" dirty="0"/>
          </a:p>
        </p:txBody>
      </p:sp>
      <p:pic>
        <p:nvPicPr>
          <p:cNvPr id="13" name="Image 3" descr="preencoded.png">    </p:cNvPr>
          <p:cNvPicPr>
            <a:picLocks noChangeAspect="1"/>
          </p:cNvPicPr>
          <p:nvPr/>
        </p:nvPicPr>
        <p:blipFill>
          <a:blip r:embed="rId4"/>
          <a:stretch>
            <a:fillRect/>
          </a:stretch>
        </p:blipFill>
        <p:spPr>
          <a:xfrm>
            <a:off x="914400" y="4636008"/>
            <a:ext cx="237744" cy="237744"/>
          </a:xfrm>
          <a:prstGeom prst="rect">
            <a:avLst/>
          </a:prstGeom>
        </p:spPr>
      </p:pic>
      <p:sp>
        <p:nvSpPr>
          <p:cNvPr id="14" name="Text 8"/>
          <p:cNvSpPr/>
          <p:nvPr/>
        </p:nvSpPr>
        <p:spPr>
          <a:xfrm>
            <a:off x="1261872" y="4617720"/>
            <a:ext cx="4663440" cy="3657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Security blind to who is on site</a:t>
            </a:r>
            <a:endParaRPr lang="en-US" sz="1300" dirty="0"/>
          </a:p>
        </p:txBody>
      </p:sp>
      <p:pic>
        <p:nvPicPr>
          <p:cNvPr id="15" name="Image 4" descr="preencoded.png">    </p:cNvPr>
          <p:cNvPicPr>
            <a:picLocks noChangeAspect="1"/>
          </p:cNvPicPr>
          <p:nvPr/>
        </p:nvPicPr>
        <p:blipFill>
          <a:blip r:embed="rId5"/>
          <a:stretch>
            <a:fillRect/>
          </a:stretch>
        </p:blipFill>
        <p:spPr>
          <a:xfrm>
            <a:off x="914400" y="5093208"/>
            <a:ext cx="237744" cy="237744"/>
          </a:xfrm>
          <a:prstGeom prst="rect">
            <a:avLst/>
          </a:prstGeom>
        </p:spPr>
      </p:pic>
      <p:sp>
        <p:nvSpPr>
          <p:cNvPr id="16" name="Text 9"/>
          <p:cNvSpPr/>
          <p:nvPr/>
        </p:nvSpPr>
        <p:spPr>
          <a:xfrm>
            <a:off x="1261872" y="5074920"/>
            <a:ext cx="4663440" cy="3657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Records scattered and not auditable</a:t>
            </a:r>
            <a:endParaRPr lang="en-US" sz="1300" dirty="0"/>
          </a:p>
        </p:txBody>
      </p:sp>
      <p:pic>
        <p:nvPicPr>
          <p:cNvPr id="17" name="Image 5" descr="preencoded.png">    </p:cNvPr>
          <p:cNvPicPr>
            <a:picLocks noChangeAspect="1"/>
          </p:cNvPicPr>
          <p:nvPr/>
        </p:nvPicPr>
        <p:blipFill>
          <a:blip r:embed="rId6"/>
          <a:stretch>
            <a:fillRect/>
          </a:stretch>
        </p:blipFill>
        <p:spPr>
          <a:xfrm>
            <a:off x="914400" y="5550408"/>
            <a:ext cx="237744" cy="237744"/>
          </a:xfrm>
          <a:prstGeom prst="rect">
            <a:avLst/>
          </a:prstGeom>
        </p:spPr>
      </p:pic>
      <p:sp>
        <p:nvSpPr>
          <p:cNvPr id="18" name="Text 10"/>
          <p:cNvSpPr/>
          <p:nvPr/>
        </p:nvSpPr>
        <p:spPr>
          <a:xfrm>
            <a:off x="1261872" y="5532120"/>
            <a:ext cx="4663440" cy="3657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No data on volumes, peaks, or no-shows</a:t>
            </a:r>
            <a:endParaRPr lang="en-US" sz="1300" dirty="0"/>
          </a:p>
        </p:txBody>
      </p:sp>
      <p:sp>
        <p:nvSpPr>
          <p:cNvPr id="19" name="Shape 11"/>
          <p:cNvSpPr/>
          <p:nvPr/>
        </p:nvSpPr>
        <p:spPr>
          <a:xfrm>
            <a:off x="6355080" y="160020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pic>
        <p:nvPicPr>
          <p:cNvPr id="20" name="Image 6" descr="preencoded.png">    </p:cNvPr>
          <p:cNvPicPr>
            <a:picLocks noChangeAspect="1"/>
          </p:cNvPicPr>
          <p:nvPr/>
        </p:nvPicPr>
        <p:blipFill>
          <a:blip r:embed="rId7"/>
          <a:stretch>
            <a:fillRect/>
          </a:stretch>
        </p:blipFill>
        <p:spPr>
          <a:xfrm>
            <a:off x="6611112" y="1856232"/>
            <a:ext cx="365760" cy="365760"/>
          </a:xfrm>
          <a:prstGeom prst="rect">
            <a:avLst/>
          </a:prstGeom>
        </p:spPr>
      </p:pic>
      <p:sp>
        <p:nvSpPr>
          <p:cNvPr id="21" name="Text 12"/>
          <p:cNvSpPr/>
          <p:nvPr/>
        </p:nvSpPr>
        <p:spPr>
          <a:xfrm>
            <a:off x="6400800" y="2313432"/>
            <a:ext cx="2578608" cy="548640"/>
          </a:xfrm>
          <a:prstGeom prst="rect">
            <a:avLst/>
          </a:prstGeom>
          <a:noFill/>
          <a:ln/>
        </p:spPr>
        <p:txBody>
          <a:bodyPr wrap="square" lIns="0" tIns="0" rIns="0" bIns="0" rtlCol="0" anchor="ctr"/>
          <a:lstStyle/>
          <a:p>
            <a:pPr algn="ctr" indent="0" marL="0">
              <a:buNone/>
            </a:pPr>
            <a:r>
              <a:rPr lang="en-US" sz="3000" b="1" dirty="0">
                <a:solidFill>
                  <a:srgbClr val="0F2D52"/>
                </a:solidFill>
                <a:latin typeface="Calibri" pitchFamily="34" charset="0"/>
                <a:ea typeface="Calibri" pitchFamily="34" charset="-122"/>
                <a:cs typeface="Calibri" pitchFamily="34" charset="-120"/>
              </a:rPr>
              <a:t>12–18 min</a:t>
            </a:r>
            <a:endParaRPr lang="en-US" sz="3000" dirty="0"/>
          </a:p>
        </p:txBody>
      </p:sp>
      <p:sp>
        <p:nvSpPr>
          <p:cNvPr id="22" name="Text 13"/>
          <p:cNvSpPr/>
          <p:nvPr/>
        </p:nvSpPr>
        <p:spPr>
          <a:xfrm>
            <a:off x="6537960" y="2926080"/>
            <a:ext cx="2304288" cy="640080"/>
          </a:xfrm>
          <a:prstGeom prst="rect">
            <a:avLst/>
          </a:prstGeom>
          <a:noFill/>
          <a:ln/>
        </p:spPr>
        <p:txBody>
          <a:bodyPr wrap="square" lIns="0" tIns="0" rIns="0" bIns="0" rtlCol="0" anchor="ctr"/>
          <a:lstStyle/>
          <a:p>
            <a:pPr algn="ctr" indent="0" marL="0">
              <a:buNone/>
            </a:pPr>
            <a:r>
              <a:rPr lang="en-US" sz="1200" dirty="0">
                <a:solidFill>
                  <a:srgbClr val="5B6B7B"/>
                </a:solidFill>
                <a:latin typeface="Calibri" pitchFamily="34" charset="0"/>
                <a:ea typeface="Calibri" pitchFamily="34" charset="-122"/>
                <a:cs typeface="Calibri" pitchFamily="34" charset="-120"/>
              </a:rPr>
              <a:t>to process one visitor at peak</a:t>
            </a:r>
            <a:endParaRPr lang="en-US" sz="1200" dirty="0"/>
          </a:p>
        </p:txBody>
      </p:sp>
      <p:sp>
        <p:nvSpPr>
          <p:cNvPr id="23" name="Shape 14"/>
          <p:cNvSpPr/>
          <p:nvPr/>
        </p:nvSpPr>
        <p:spPr>
          <a:xfrm>
            <a:off x="9226296" y="160020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pic>
        <p:nvPicPr>
          <p:cNvPr id="24" name="Image 7" descr="preencoded.png">    </p:cNvPr>
          <p:cNvPicPr>
            <a:picLocks noChangeAspect="1"/>
          </p:cNvPicPr>
          <p:nvPr/>
        </p:nvPicPr>
        <p:blipFill>
          <a:blip r:embed="rId8"/>
          <a:stretch>
            <a:fillRect/>
          </a:stretch>
        </p:blipFill>
        <p:spPr>
          <a:xfrm>
            <a:off x="9482328" y="1856232"/>
            <a:ext cx="365760" cy="365760"/>
          </a:xfrm>
          <a:prstGeom prst="rect">
            <a:avLst/>
          </a:prstGeom>
        </p:spPr>
      </p:pic>
      <p:sp>
        <p:nvSpPr>
          <p:cNvPr id="25" name="Text 15"/>
          <p:cNvSpPr/>
          <p:nvPr/>
        </p:nvSpPr>
        <p:spPr>
          <a:xfrm>
            <a:off x="9272016" y="2313432"/>
            <a:ext cx="2578608" cy="548640"/>
          </a:xfrm>
          <a:prstGeom prst="rect">
            <a:avLst/>
          </a:prstGeom>
          <a:noFill/>
          <a:ln/>
        </p:spPr>
        <p:txBody>
          <a:bodyPr wrap="square" lIns="0" tIns="0" rIns="0" bIns="0" rtlCol="0" anchor="ctr"/>
          <a:lstStyle/>
          <a:p>
            <a:pPr algn="ctr" indent="0" marL="0">
              <a:buNone/>
            </a:pPr>
            <a:r>
              <a:rPr lang="en-US" sz="3000" b="1" dirty="0">
                <a:solidFill>
                  <a:srgbClr val="0F2D52"/>
                </a:solidFill>
                <a:latin typeface="Calibri" pitchFamily="34" charset="0"/>
                <a:ea typeface="Calibri" pitchFamily="34" charset="-122"/>
                <a:cs typeface="Calibri" pitchFamily="34" charset="-120"/>
              </a:rPr>
              <a:t>4+ hours</a:t>
            </a:r>
            <a:endParaRPr lang="en-US" sz="3000" dirty="0"/>
          </a:p>
        </p:txBody>
      </p:sp>
      <p:sp>
        <p:nvSpPr>
          <p:cNvPr id="26" name="Text 16"/>
          <p:cNvSpPr/>
          <p:nvPr/>
        </p:nvSpPr>
        <p:spPr>
          <a:xfrm>
            <a:off x="9409176" y="2926080"/>
            <a:ext cx="2304288" cy="640080"/>
          </a:xfrm>
          <a:prstGeom prst="rect">
            <a:avLst/>
          </a:prstGeom>
          <a:noFill/>
          <a:ln/>
        </p:spPr>
        <p:txBody>
          <a:bodyPr wrap="square" lIns="0" tIns="0" rIns="0" bIns="0" rtlCol="0" anchor="ctr"/>
          <a:lstStyle/>
          <a:p>
            <a:pPr algn="ctr" indent="0" marL="0">
              <a:buNone/>
            </a:pPr>
            <a:r>
              <a:rPr lang="en-US" sz="1200" dirty="0">
                <a:solidFill>
                  <a:srgbClr val="5B6B7B"/>
                </a:solidFill>
                <a:latin typeface="Calibri" pitchFamily="34" charset="0"/>
                <a:ea typeface="Calibri" pitchFamily="34" charset="-122"/>
                <a:cs typeface="Calibri" pitchFamily="34" charset="-120"/>
              </a:rPr>
              <a:t>typical visit approval cycle</a:t>
            </a:r>
            <a:endParaRPr lang="en-US" sz="1200" dirty="0"/>
          </a:p>
        </p:txBody>
      </p:sp>
      <p:sp>
        <p:nvSpPr>
          <p:cNvPr id="27" name="Shape 17"/>
          <p:cNvSpPr/>
          <p:nvPr/>
        </p:nvSpPr>
        <p:spPr>
          <a:xfrm>
            <a:off x="6355080" y="388620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pic>
        <p:nvPicPr>
          <p:cNvPr id="28" name="Image 8" descr="preencoded.png">    </p:cNvPr>
          <p:cNvPicPr>
            <a:picLocks noChangeAspect="1"/>
          </p:cNvPicPr>
          <p:nvPr/>
        </p:nvPicPr>
        <p:blipFill>
          <a:blip r:embed="rId9"/>
          <a:stretch>
            <a:fillRect/>
          </a:stretch>
        </p:blipFill>
        <p:spPr>
          <a:xfrm>
            <a:off x="6611112" y="4142232"/>
            <a:ext cx="365760" cy="365760"/>
          </a:xfrm>
          <a:prstGeom prst="rect">
            <a:avLst/>
          </a:prstGeom>
        </p:spPr>
      </p:pic>
      <p:sp>
        <p:nvSpPr>
          <p:cNvPr id="29" name="Text 18"/>
          <p:cNvSpPr/>
          <p:nvPr/>
        </p:nvSpPr>
        <p:spPr>
          <a:xfrm>
            <a:off x="6400800" y="4599432"/>
            <a:ext cx="2578608" cy="548640"/>
          </a:xfrm>
          <a:prstGeom prst="rect">
            <a:avLst/>
          </a:prstGeom>
          <a:noFill/>
          <a:ln/>
        </p:spPr>
        <p:txBody>
          <a:bodyPr wrap="square" lIns="0" tIns="0" rIns="0" bIns="0" rtlCol="0" anchor="ctr"/>
          <a:lstStyle/>
          <a:p>
            <a:pPr algn="ctr" indent="0" marL="0">
              <a:buNone/>
            </a:pPr>
            <a:r>
              <a:rPr lang="en-US" sz="3000" b="1" dirty="0">
                <a:solidFill>
                  <a:srgbClr val="0F2D52"/>
                </a:solidFill>
                <a:latin typeface="Calibri" pitchFamily="34" charset="0"/>
                <a:ea typeface="Calibri" pitchFamily="34" charset="-122"/>
                <a:cs typeface="Calibri" pitchFamily="34" charset="-120"/>
              </a:rPr>
              <a:t>60–70%</a:t>
            </a:r>
            <a:endParaRPr lang="en-US" sz="3000" dirty="0"/>
          </a:p>
        </p:txBody>
      </p:sp>
      <p:sp>
        <p:nvSpPr>
          <p:cNvPr id="30" name="Text 19"/>
          <p:cNvSpPr/>
          <p:nvPr/>
        </p:nvSpPr>
        <p:spPr>
          <a:xfrm>
            <a:off x="6537960" y="5212080"/>
            <a:ext cx="2304288" cy="640080"/>
          </a:xfrm>
          <a:prstGeom prst="rect">
            <a:avLst/>
          </a:prstGeom>
          <a:noFill/>
          <a:ln/>
        </p:spPr>
        <p:txBody>
          <a:bodyPr wrap="square" lIns="0" tIns="0" rIns="0" bIns="0" rtlCol="0" anchor="ctr"/>
          <a:lstStyle/>
          <a:p>
            <a:pPr algn="ctr" indent="0" marL="0">
              <a:buNone/>
            </a:pPr>
            <a:r>
              <a:rPr lang="en-US" sz="1200" dirty="0">
                <a:solidFill>
                  <a:srgbClr val="5B6B7B"/>
                </a:solidFill>
                <a:latin typeface="Calibri" pitchFamily="34" charset="0"/>
                <a:ea typeface="Calibri" pitchFamily="34" charset="-122"/>
                <a:cs typeface="Calibri" pitchFamily="34" charset="-120"/>
              </a:rPr>
              <a:t>estimated security compliance</a:t>
            </a:r>
            <a:endParaRPr lang="en-US" sz="1200" dirty="0"/>
          </a:p>
        </p:txBody>
      </p:sp>
      <p:sp>
        <p:nvSpPr>
          <p:cNvPr id="31" name="Shape 20"/>
          <p:cNvSpPr/>
          <p:nvPr/>
        </p:nvSpPr>
        <p:spPr>
          <a:xfrm>
            <a:off x="9226296" y="388620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pic>
        <p:nvPicPr>
          <p:cNvPr id="32" name="Image 9" descr="preencoded.png">    </p:cNvPr>
          <p:cNvPicPr>
            <a:picLocks noChangeAspect="1"/>
          </p:cNvPicPr>
          <p:nvPr/>
        </p:nvPicPr>
        <p:blipFill>
          <a:blip r:embed="rId10"/>
          <a:stretch>
            <a:fillRect/>
          </a:stretch>
        </p:blipFill>
        <p:spPr>
          <a:xfrm>
            <a:off x="9482328" y="4142232"/>
            <a:ext cx="365760" cy="365760"/>
          </a:xfrm>
          <a:prstGeom prst="rect">
            <a:avLst/>
          </a:prstGeom>
        </p:spPr>
      </p:pic>
      <p:sp>
        <p:nvSpPr>
          <p:cNvPr id="33" name="Text 21"/>
          <p:cNvSpPr/>
          <p:nvPr/>
        </p:nvSpPr>
        <p:spPr>
          <a:xfrm>
            <a:off x="9272016" y="4599432"/>
            <a:ext cx="2578608" cy="548640"/>
          </a:xfrm>
          <a:prstGeom prst="rect">
            <a:avLst/>
          </a:prstGeom>
          <a:noFill/>
          <a:ln/>
        </p:spPr>
        <p:txBody>
          <a:bodyPr wrap="square" lIns="0" tIns="0" rIns="0" bIns="0" rtlCol="0" anchor="ctr"/>
          <a:lstStyle/>
          <a:p>
            <a:pPr algn="ctr" indent="0" marL="0">
              <a:buNone/>
            </a:pPr>
            <a:r>
              <a:rPr lang="en-US" sz="3000" b="1" dirty="0">
                <a:solidFill>
                  <a:srgbClr val="0F2D52"/>
                </a:solidFill>
                <a:latin typeface="Calibri" pitchFamily="34" charset="0"/>
                <a:ea typeface="Calibri" pitchFamily="34" charset="-122"/>
                <a:cs typeface="Calibri" pitchFamily="34" charset="-120"/>
              </a:rPr>
              <a:t>Zero</a:t>
            </a:r>
            <a:endParaRPr lang="en-US" sz="3000" dirty="0"/>
          </a:p>
        </p:txBody>
      </p:sp>
      <p:sp>
        <p:nvSpPr>
          <p:cNvPr id="34" name="Text 22"/>
          <p:cNvSpPr/>
          <p:nvPr/>
        </p:nvSpPr>
        <p:spPr>
          <a:xfrm>
            <a:off x="9409176" y="5212080"/>
            <a:ext cx="2304288" cy="640080"/>
          </a:xfrm>
          <a:prstGeom prst="rect">
            <a:avLst/>
          </a:prstGeom>
          <a:noFill/>
          <a:ln/>
        </p:spPr>
        <p:txBody>
          <a:bodyPr wrap="square" lIns="0" tIns="0" rIns="0" bIns="0" rtlCol="0" anchor="ctr"/>
          <a:lstStyle/>
          <a:p>
            <a:pPr algn="ctr" indent="0" marL="0">
              <a:buNone/>
            </a:pPr>
            <a:r>
              <a:rPr lang="en-US" sz="1200" dirty="0">
                <a:solidFill>
                  <a:srgbClr val="5B6B7B"/>
                </a:solidFill>
                <a:latin typeface="Calibri" pitchFamily="34" charset="0"/>
                <a:ea typeface="Calibri" pitchFamily="34" charset="-122"/>
                <a:cs typeface="Calibri" pitchFamily="34" charset="-120"/>
              </a:rPr>
              <a:t>reliable visitor data for reporting</a:t>
            </a:r>
            <a:endParaRPr lang="en-US" sz="1200" dirty="0"/>
          </a:p>
        </p:txBody>
      </p:sp>
      <p:sp>
        <p:nvSpPr>
          <p:cNvPr id="35" name="Text 23"/>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36" name="Text 24"/>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WHO IS AFFECTED</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Stakeholder Landscape</a:t>
            </a:r>
            <a:endParaRPr lang="en-US" sz="2800" dirty="0"/>
          </a:p>
        </p:txBody>
      </p:sp>
      <p:sp>
        <p:nvSpPr>
          <p:cNvPr id="6" name="Shape 3"/>
          <p:cNvSpPr/>
          <p:nvPr/>
        </p:nvSpPr>
        <p:spPr>
          <a:xfrm>
            <a:off x="640080" y="1554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7" name="Shape 4"/>
          <p:cNvSpPr/>
          <p:nvPr/>
        </p:nvSpPr>
        <p:spPr>
          <a:xfrm>
            <a:off x="896112" y="1792224"/>
            <a:ext cx="603504" cy="603504"/>
          </a:xfrm>
          <a:prstGeom prst="ellipse">
            <a:avLst/>
          </a:prstGeom>
          <a:solidFill>
            <a:srgbClr val="0F2D52"/>
          </a:solidFill>
          <a:ln/>
        </p:spPr>
      </p:sp>
      <p:pic>
        <p:nvPicPr>
          <p:cNvPr id="8" name="Image 1" descr="preencoded.png">    </p:cNvPr>
          <p:cNvPicPr>
            <a:picLocks noChangeAspect="1"/>
          </p:cNvPicPr>
          <p:nvPr/>
        </p:nvPicPr>
        <p:blipFill>
          <a:blip r:embed="rId2"/>
          <a:stretch>
            <a:fillRect/>
          </a:stretch>
        </p:blipFill>
        <p:spPr>
          <a:xfrm>
            <a:off x="1042416" y="1938528"/>
            <a:ext cx="310896" cy="310896"/>
          </a:xfrm>
          <a:prstGeom prst="rect">
            <a:avLst/>
          </a:prstGeom>
        </p:spPr>
      </p:pic>
      <p:sp>
        <p:nvSpPr>
          <p:cNvPr id="9" name="Text 5"/>
          <p:cNvSpPr/>
          <p:nvPr/>
        </p:nvSpPr>
        <p:spPr>
          <a:xfrm>
            <a:off x="1600200" y="1847088"/>
            <a:ext cx="1572768" cy="457200"/>
          </a:xfrm>
          <a:prstGeom prst="rect">
            <a:avLst/>
          </a:prstGeom>
          <a:noFill/>
          <a:ln/>
        </p:spPr>
        <p:txBody>
          <a:bodyPr wrap="square" lIns="0" tIns="0" rIns="0" bIns="0" rtlCol="0" anchor="ctr"/>
          <a:lstStyle/>
          <a:p>
            <a:pPr indent="0" marL="0">
              <a:buNone/>
            </a:pPr>
            <a:r>
              <a:rPr lang="en-US" sz="1450" b="1" dirty="0">
                <a:solidFill>
                  <a:srgbClr val="0F2D52"/>
                </a:solidFill>
                <a:latin typeface="Calibri" pitchFamily="34" charset="0"/>
                <a:ea typeface="Calibri" pitchFamily="34" charset="-122"/>
                <a:cs typeface="Calibri" pitchFamily="34" charset="-120"/>
              </a:rPr>
              <a:t>Visitor</a:t>
            </a:r>
            <a:endParaRPr lang="en-US" sz="1450" dirty="0"/>
          </a:p>
        </p:txBody>
      </p:sp>
      <p:sp>
        <p:nvSpPr>
          <p:cNvPr id="10" name="Text 6"/>
          <p:cNvSpPr/>
          <p:nvPr/>
        </p:nvSpPr>
        <p:spPr>
          <a:xfrm>
            <a:off x="896112" y="2542032"/>
            <a:ext cx="2212848" cy="320040"/>
          </a:xfrm>
          <a:prstGeom prst="rect">
            <a:avLst/>
          </a:prstGeom>
          <a:noFill/>
          <a:ln/>
        </p:spPr>
        <p:txBody>
          <a:bodyPr wrap="square" lIns="0" tIns="0" rIns="0" bIns="0" rtlCol="0" anchor="ctr"/>
          <a:lstStyle/>
          <a:p>
            <a:pPr indent="0" marL="0">
              <a:buNone/>
            </a:pPr>
            <a:r>
              <a:rPr lang="en-US" sz="1050" b="1" dirty="0">
                <a:solidFill>
                  <a:srgbClr val="0E9AA7"/>
                </a:solidFill>
                <a:latin typeface="Calibri" pitchFamily="34" charset="0"/>
                <a:ea typeface="Calibri" pitchFamily="34" charset="-122"/>
                <a:cs typeface="Calibri" pitchFamily="34" charset="-120"/>
              </a:rPr>
              <a:t>Low influence · High interest</a:t>
            </a:r>
            <a:endParaRPr lang="en-US" sz="1050" dirty="0"/>
          </a:p>
        </p:txBody>
      </p:sp>
      <p:sp>
        <p:nvSpPr>
          <p:cNvPr id="11" name="Text 7"/>
          <p:cNvSpPr/>
          <p:nvPr/>
        </p:nvSpPr>
        <p:spPr>
          <a:xfrm>
            <a:off x="896112" y="2880360"/>
            <a:ext cx="2212848" cy="6400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Wants a fast, professional arrival</a:t>
            </a:r>
            <a:endParaRPr lang="en-US" sz="1150" dirty="0"/>
          </a:p>
        </p:txBody>
      </p:sp>
      <p:sp>
        <p:nvSpPr>
          <p:cNvPr id="12" name="Shape 8"/>
          <p:cNvSpPr/>
          <p:nvPr/>
        </p:nvSpPr>
        <p:spPr>
          <a:xfrm>
            <a:off x="3511296" y="1554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13" name="Shape 9"/>
          <p:cNvSpPr/>
          <p:nvPr/>
        </p:nvSpPr>
        <p:spPr>
          <a:xfrm>
            <a:off x="3767328" y="1792224"/>
            <a:ext cx="603504" cy="603504"/>
          </a:xfrm>
          <a:prstGeom prst="ellipse">
            <a:avLst/>
          </a:prstGeom>
          <a:solidFill>
            <a:srgbClr val="0F2D52"/>
          </a:solidFill>
          <a:ln/>
        </p:spPr>
      </p:sp>
      <p:pic>
        <p:nvPicPr>
          <p:cNvPr id="14" name="Image 2" descr="preencoded.png">    </p:cNvPr>
          <p:cNvPicPr>
            <a:picLocks noChangeAspect="1"/>
          </p:cNvPicPr>
          <p:nvPr/>
        </p:nvPicPr>
        <p:blipFill>
          <a:blip r:embed="rId3"/>
          <a:stretch>
            <a:fillRect/>
          </a:stretch>
        </p:blipFill>
        <p:spPr>
          <a:xfrm>
            <a:off x="3913632" y="1938528"/>
            <a:ext cx="310896" cy="310896"/>
          </a:xfrm>
          <a:prstGeom prst="rect">
            <a:avLst/>
          </a:prstGeom>
        </p:spPr>
      </p:pic>
      <p:sp>
        <p:nvSpPr>
          <p:cNvPr id="15" name="Text 10"/>
          <p:cNvSpPr/>
          <p:nvPr/>
        </p:nvSpPr>
        <p:spPr>
          <a:xfrm>
            <a:off x="4471416" y="1847088"/>
            <a:ext cx="1572768" cy="457200"/>
          </a:xfrm>
          <a:prstGeom prst="rect">
            <a:avLst/>
          </a:prstGeom>
          <a:noFill/>
          <a:ln/>
        </p:spPr>
        <p:txBody>
          <a:bodyPr wrap="square" lIns="0" tIns="0" rIns="0" bIns="0" rtlCol="0" anchor="ctr"/>
          <a:lstStyle/>
          <a:p>
            <a:pPr indent="0" marL="0">
              <a:buNone/>
            </a:pPr>
            <a:r>
              <a:rPr lang="en-US" sz="1450" b="1" dirty="0">
                <a:solidFill>
                  <a:srgbClr val="0F2D52"/>
                </a:solidFill>
                <a:latin typeface="Calibri" pitchFamily="34" charset="0"/>
                <a:ea typeface="Calibri" pitchFamily="34" charset="-122"/>
                <a:cs typeface="Calibri" pitchFamily="34" charset="-120"/>
              </a:rPr>
              <a:t>Employee Host</a:t>
            </a:r>
            <a:endParaRPr lang="en-US" sz="1450" dirty="0"/>
          </a:p>
        </p:txBody>
      </p:sp>
      <p:sp>
        <p:nvSpPr>
          <p:cNvPr id="16" name="Text 11"/>
          <p:cNvSpPr/>
          <p:nvPr/>
        </p:nvSpPr>
        <p:spPr>
          <a:xfrm>
            <a:off x="3767328" y="2542032"/>
            <a:ext cx="2212848" cy="320040"/>
          </a:xfrm>
          <a:prstGeom prst="rect">
            <a:avLst/>
          </a:prstGeom>
          <a:noFill/>
          <a:ln/>
        </p:spPr>
        <p:txBody>
          <a:bodyPr wrap="square" lIns="0" tIns="0" rIns="0" bIns="0" rtlCol="0" anchor="ctr"/>
          <a:lstStyle/>
          <a:p>
            <a:pPr indent="0" marL="0">
              <a:buNone/>
            </a:pPr>
            <a:r>
              <a:rPr lang="en-US" sz="1050" b="1" dirty="0">
                <a:solidFill>
                  <a:srgbClr val="0E9AA7"/>
                </a:solidFill>
                <a:latin typeface="Calibri" pitchFamily="34" charset="0"/>
                <a:ea typeface="Calibri" pitchFamily="34" charset="-122"/>
                <a:cs typeface="Calibri" pitchFamily="34" charset="-120"/>
              </a:rPr>
              <a:t>Med · High</a:t>
            </a:r>
            <a:endParaRPr lang="en-US" sz="1050" dirty="0"/>
          </a:p>
        </p:txBody>
      </p:sp>
      <p:sp>
        <p:nvSpPr>
          <p:cNvPr id="17" name="Text 12"/>
          <p:cNvSpPr/>
          <p:nvPr/>
        </p:nvSpPr>
        <p:spPr>
          <a:xfrm>
            <a:off x="3767328" y="2880360"/>
            <a:ext cx="2212848" cy="6400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Invites and escorts the visitor</a:t>
            </a:r>
            <a:endParaRPr lang="en-US" sz="1150" dirty="0"/>
          </a:p>
        </p:txBody>
      </p:sp>
      <p:sp>
        <p:nvSpPr>
          <p:cNvPr id="18" name="Shape 13"/>
          <p:cNvSpPr/>
          <p:nvPr/>
        </p:nvSpPr>
        <p:spPr>
          <a:xfrm>
            <a:off x="6382512" y="1554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19" name="Shape 14"/>
          <p:cNvSpPr/>
          <p:nvPr/>
        </p:nvSpPr>
        <p:spPr>
          <a:xfrm>
            <a:off x="6638544" y="1792224"/>
            <a:ext cx="603504" cy="603504"/>
          </a:xfrm>
          <a:prstGeom prst="ellipse">
            <a:avLst/>
          </a:prstGeom>
          <a:solidFill>
            <a:srgbClr val="0F2D52"/>
          </a:solidFill>
          <a:ln/>
        </p:spPr>
      </p:sp>
      <p:pic>
        <p:nvPicPr>
          <p:cNvPr id="20" name="Image 3" descr="preencoded.png">    </p:cNvPr>
          <p:cNvPicPr>
            <a:picLocks noChangeAspect="1"/>
          </p:cNvPicPr>
          <p:nvPr/>
        </p:nvPicPr>
        <p:blipFill>
          <a:blip r:embed="rId4"/>
          <a:stretch>
            <a:fillRect/>
          </a:stretch>
        </p:blipFill>
        <p:spPr>
          <a:xfrm>
            <a:off x="6784848" y="1938528"/>
            <a:ext cx="310896" cy="310896"/>
          </a:xfrm>
          <a:prstGeom prst="rect">
            <a:avLst/>
          </a:prstGeom>
        </p:spPr>
      </p:pic>
      <p:sp>
        <p:nvSpPr>
          <p:cNvPr id="21" name="Text 15"/>
          <p:cNvSpPr/>
          <p:nvPr/>
        </p:nvSpPr>
        <p:spPr>
          <a:xfrm>
            <a:off x="7342632" y="1847088"/>
            <a:ext cx="1572768" cy="457200"/>
          </a:xfrm>
          <a:prstGeom prst="rect">
            <a:avLst/>
          </a:prstGeom>
          <a:noFill/>
          <a:ln/>
        </p:spPr>
        <p:txBody>
          <a:bodyPr wrap="square" lIns="0" tIns="0" rIns="0" bIns="0" rtlCol="0" anchor="ctr"/>
          <a:lstStyle/>
          <a:p>
            <a:pPr indent="0" marL="0">
              <a:buNone/>
            </a:pPr>
            <a:r>
              <a:rPr lang="en-US" sz="1450" b="1" dirty="0">
                <a:solidFill>
                  <a:srgbClr val="0F2D52"/>
                </a:solidFill>
                <a:latin typeface="Calibri" pitchFamily="34" charset="0"/>
                <a:ea typeface="Calibri" pitchFamily="34" charset="-122"/>
                <a:cs typeface="Calibri" pitchFamily="34" charset="-120"/>
              </a:rPr>
              <a:t>Receptionist</a:t>
            </a:r>
            <a:endParaRPr lang="en-US" sz="1450" dirty="0"/>
          </a:p>
        </p:txBody>
      </p:sp>
      <p:sp>
        <p:nvSpPr>
          <p:cNvPr id="22" name="Text 16"/>
          <p:cNvSpPr/>
          <p:nvPr/>
        </p:nvSpPr>
        <p:spPr>
          <a:xfrm>
            <a:off x="6638544" y="2542032"/>
            <a:ext cx="2212848" cy="320040"/>
          </a:xfrm>
          <a:prstGeom prst="rect">
            <a:avLst/>
          </a:prstGeom>
          <a:noFill/>
          <a:ln/>
        </p:spPr>
        <p:txBody>
          <a:bodyPr wrap="square" lIns="0" tIns="0" rIns="0" bIns="0" rtlCol="0" anchor="ctr"/>
          <a:lstStyle/>
          <a:p>
            <a:pPr indent="0" marL="0">
              <a:buNone/>
            </a:pPr>
            <a:r>
              <a:rPr lang="en-US" sz="1050" b="1" dirty="0">
                <a:solidFill>
                  <a:srgbClr val="0E9AA7"/>
                </a:solidFill>
                <a:latin typeface="Calibri" pitchFamily="34" charset="0"/>
                <a:ea typeface="Calibri" pitchFamily="34" charset="-122"/>
                <a:cs typeface="Calibri" pitchFamily="34" charset="-120"/>
              </a:rPr>
              <a:t>Med · High</a:t>
            </a:r>
            <a:endParaRPr lang="en-US" sz="1050" dirty="0"/>
          </a:p>
        </p:txBody>
      </p:sp>
      <p:sp>
        <p:nvSpPr>
          <p:cNvPr id="23" name="Text 17"/>
          <p:cNvSpPr/>
          <p:nvPr/>
        </p:nvSpPr>
        <p:spPr>
          <a:xfrm>
            <a:off x="6638544" y="2880360"/>
            <a:ext cx="2212848" cy="6400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Verifies, issues passes, assists</a:t>
            </a:r>
            <a:endParaRPr lang="en-US" sz="1150" dirty="0"/>
          </a:p>
        </p:txBody>
      </p:sp>
      <p:sp>
        <p:nvSpPr>
          <p:cNvPr id="24" name="Shape 18"/>
          <p:cNvSpPr/>
          <p:nvPr/>
        </p:nvSpPr>
        <p:spPr>
          <a:xfrm>
            <a:off x="9253728" y="1554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25" name="Shape 19"/>
          <p:cNvSpPr/>
          <p:nvPr/>
        </p:nvSpPr>
        <p:spPr>
          <a:xfrm>
            <a:off x="9509760" y="1792224"/>
            <a:ext cx="603504" cy="603504"/>
          </a:xfrm>
          <a:prstGeom prst="ellipse">
            <a:avLst/>
          </a:prstGeom>
          <a:solidFill>
            <a:srgbClr val="0F2D52"/>
          </a:solidFill>
          <a:ln/>
        </p:spPr>
      </p:sp>
      <p:pic>
        <p:nvPicPr>
          <p:cNvPr id="26" name="Image 4" descr="preencoded.png">    </p:cNvPr>
          <p:cNvPicPr>
            <a:picLocks noChangeAspect="1"/>
          </p:cNvPicPr>
          <p:nvPr/>
        </p:nvPicPr>
        <p:blipFill>
          <a:blip r:embed="rId5"/>
          <a:stretch>
            <a:fillRect/>
          </a:stretch>
        </p:blipFill>
        <p:spPr>
          <a:xfrm>
            <a:off x="9656064" y="1938528"/>
            <a:ext cx="310896" cy="310896"/>
          </a:xfrm>
          <a:prstGeom prst="rect">
            <a:avLst/>
          </a:prstGeom>
        </p:spPr>
      </p:pic>
      <p:sp>
        <p:nvSpPr>
          <p:cNvPr id="27" name="Text 20"/>
          <p:cNvSpPr/>
          <p:nvPr/>
        </p:nvSpPr>
        <p:spPr>
          <a:xfrm>
            <a:off x="10213848" y="1847088"/>
            <a:ext cx="1572768" cy="457200"/>
          </a:xfrm>
          <a:prstGeom prst="rect">
            <a:avLst/>
          </a:prstGeom>
          <a:noFill/>
          <a:ln/>
        </p:spPr>
        <p:txBody>
          <a:bodyPr wrap="square" lIns="0" tIns="0" rIns="0" bIns="0" rtlCol="0" anchor="ctr"/>
          <a:lstStyle/>
          <a:p>
            <a:pPr indent="0" marL="0">
              <a:buNone/>
            </a:pPr>
            <a:r>
              <a:rPr lang="en-US" sz="1450" b="1" dirty="0">
                <a:solidFill>
                  <a:srgbClr val="0F2D52"/>
                </a:solidFill>
                <a:latin typeface="Calibri" pitchFamily="34" charset="0"/>
                <a:ea typeface="Calibri" pitchFamily="34" charset="-122"/>
                <a:cs typeface="Calibri" pitchFamily="34" charset="-120"/>
              </a:rPr>
              <a:t>Security Officer</a:t>
            </a:r>
            <a:endParaRPr lang="en-US" sz="1450" dirty="0"/>
          </a:p>
        </p:txBody>
      </p:sp>
      <p:sp>
        <p:nvSpPr>
          <p:cNvPr id="28" name="Text 21"/>
          <p:cNvSpPr/>
          <p:nvPr/>
        </p:nvSpPr>
        <p:spPr>
          <a:xfrm>
            <a:off x="9509760" y="2542032"/>
            <a:ext cx="2212848" cy="320040"/>
          </a:xfrm>
          <a:prstGeom prst="rect">
            <a:avLst/>
          </a:prstGeom>
          <a:noFill/>
          <a:ln/>
        </p:spPr>
        <p:txBody>
          <a:bodyPr wrap="square" lIns="0" tIns="0" rIns="0" bIns="0" rtlCol="0" anchor="ctr"/>
          <a:lstStyle/>
          <a:p>
            <a:pPr indent="0" marL="0">
              <a:buNone/>
            </a:pPr>
            <a:r>
              <a:rPr lang="en-US" sz="1050" b="1" dirty="0">
                <a:solidFill>
                  <a:srgbClr val="0E9AA7"/>
                </a:solidFill>
                <a:latin typeface="Calibri" pitchFamily="34" charset="0"/>
                <a:ea typeface="Calibri" pitchFamily="34" charset="-122"/>
                <a:cs typeface="Calibri" pitchFamily="34" charset="-120"/>
              </a:rPr>
              <a:t>High · High</a:t>
            </a:r>
            <a:endParaRPr lang="en-US" sz="1050" dirty="0"/>
          </a:p>
        </p:txBody>
      </p:sp>
      <p:sp>
        <p:nvSpPr>
          <p:cNvPr id="29" name="Text 22"/>
          <p:cNvSpPr/>
          <p:nvPr/>
        </p:nvSpPr>
        <p:spPr>
          <a:xfrm>
            <a:off x="9509760" y="2880360"/>
            <a:ext cx="2212848" cy="6400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Screens and monitors presence</a:t>
            </a:r>
            <a:endParaRPr lang="en-US" sz="1150" dirty="0"/>
          </a:p>
        </p:txBody>
      </p:sp>
      <p:sp>
        <p:nvSpPr>
          <p:cNvPr id="30" name="Shape 23"/>
          <p:cNvSpPr/>
          <p:nvPr/>
        </p:nvSpPr>
        <p:spPr>
          <a:xfrm>
            <a:off x="640080" y="3840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31" name="Shape 24"/>
          <p:cNvSpPr/>
          <p:nvPr/>
        </p:nvSpPr>
        <p:spPr>
          <a:xfrm>
            <a:off x="896112" y="4078224"/>
            <a:ext cx="603504" cy="603504"/>
          </a:xfrm>
          <a:prstGeom prst="ellipse">
            <a:avLst/>
          </a:prstGeom>
          <a:solidFill>
            <a:srgbClr val="0E9AA7"/>
          </a:solidFill>
          <a:ln/>
        </p:spPr>
      </p:sp>
      <p:pic>
        <p:nvPicPr>
          <p:cNvPr id="32" name="Image 5" descr="preencoded.png">    </p:cNvPr>
          <p:cNvPicPr>
            <a:picLocks noChangeAspect="1"/>
          </p:cNvPicPr>
          <p:nvPr/>
        </p:nvPicPr>
        <p:blipFill>
          <a:blip r:embed="rId6"/>
          <a:stretch>
            <a:fillRect/>
          </a:stretch>
        </p:blipFill>
        <p:spPr>
          <a:xfrm>
            <a:off x="1042416" y="4224528"/>
            <a:ext cx="310896" cy="310896"/>
          </a:xfrm>
          <a:prstGeom prst="rect">
            <a:avLst/>
          </a:prstGeom>
        </p:spPr>
      </p:pic>
      <p:sp>
        <p:nvSpPr>
          <p:cNvPr id="33" name="Text 25"/>
          <p:cNvSpPr/>
          <p:nvPr/>
        </p:nvSpPr>
        <p:spPr>
          <a:xfrm>
            <a:off x="1600200" y="4133088"/>
            <a:ext cx="1572768" cy="457200"/>
          </a:xfrm>
          <a:prstGeom prst="rect">
            <a:avLst/>
          </a:prstGeom>
          <a:noFill/>
          <a:ln/>
        </p:spPr>
        <p:txBody>
          <a:bodyPr wrap="square" lIns="0" tIns="0" rIns="0" bIns="0" rtlCol="0" anchor="ctr"/>
          <a:lstStyle/>
          <a:p>
            <a:pPr indent="0" marL="0">
              <a:buNone/>
            </a:pPr>
            <a:r>
              <a:rPr lang="en-US" sz="1450" b="1" dirty="0">
                <a:solidFill>
                  <a:srgbClr val="0F2D52"/>
                </a:solidFill>
                <a:latin typeface="Calibri" pitchFamily="34" charset="0"/>
                <a:ea typeface="Calibri" pitchFamily="34" charset="-122"/>
                <a:cs typeface="Calibri" pitchFamily="34" charset="-120"/>
              </a:rPr>
              <a:t>Facilities Team</a:t>
            </a:r>
            <a:endParaRPr lang="en-US" sz="1450" dirty="0"/>
          </a:p>
        </p:txBody>
      </p:sp>
      <p:sp>
        <p:nvSpPr>
          <p:cNvPr id="34" name="Text 26"/>
          <p:cNvSpPr/>
          <p:nvPr/>
        </p:nvSpPr>
        <p:spPr>
          <a:xfrm>
            <a:off x="896112" y="4828032"/>
            <a:ext cx="2212848" cy="320040"/>
          </a:xfrm>
          <a:prstGeom prst="rect">
            <a:avLst/>
          </a:prstGeom>
          <a:noFill/>
          <a:ln/>
        </p:spPr>
        <p:txBody>
          <a:bodyPr wrap="square" lIns="0" tIns="0" rIns="0" bIns="0" rtlCol="0" anchor="ctr"/>
          <a:lstStyle/>
          <a:p>
            <a:pPr indent="0" marL="0">
              <a:buNone/>
            </a:pPr>
            <a:r>
              <a:rPr lang="en-US" sz="1050" b="1" dirty="0">
                <a:solidFill>
                  <a:srgbClr val="0E9AA7"/>
                </a:solidFill>
                <a:latin typeface="Calibri" pitchFamily="34" charset="0"/>
                <a:ea typeface="Calibri" pitchFamily="34" charset="-122"/>
                <a:cs typeface="Calibri" pitchFamily="34" charset="-120"/>
              </a:rPr>
              <a:t>Med · Med</a:t>
            </a:r>
            <a:endParaRPr lang="en-US" sz="1050" dirty="0"/>
          </a:p>
        </p:txBody>
      </p:sp>
      <p:sp>
        <p:nvSpPr>
          <p:cNvPr id="35" name="Text 27"/>
          <p:cNvSpPr/>
          <p:nvPr/>
        </p:nvSpPr>
        <p:spPr>
          <a:xfrm>
            <a:off x="896112" y="5166360"/>
            <a:ext cx="2212848" cy="6400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Owns reception operations</a:t>
            </a:r>
            <a:endParaRPr lang="en-US" sz="1150" dirty="0"/>
          </a:p>
        </p:txBody>
      </p:sp>
      <p:sp>
        <p:nvSpPr>
          <p:cNvPr id="36" name="Shape 28"/>
          <p:cNvSpPr/>
          <p:nvPr/>
        </p:nvSpPr>
        <p:spPr>
          <a:xfrm>
            <a:off x="3511296" y="3840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37" name="Shape 29"/>
          <p:cNvSpPr/>
          <p:nvPr/>
        </p:nvSpPr>
        <p:spPr>
          <a:xfrm>
            <a:off x="3767328" y="4078224"/>
            <a:ext cx="603504" cy="603504"/>
          </a:xfrm>
          <a:prstGeom prst="ellipse">
            <a:avLst/>
          </a:prstGeom>
          <a:solidFill>
            <a:srgbClr val="0E9AA7"/>
          </a:solidFill>
          <a:ln/>
        </p:spPr>
      </p:sp>
      <p:pic>
        <p:nvPicPr>
          <p:cNvPr id="38" name="Image 6" descr="preencoded.png">    </p:cNvPr>
          <p:cNvPicPr>
            <a:picLocks noChangeAspect="1"/>
          </p:cNvPicPr>
          <p:nvPr/>
        </p:nvPicPr>
        <p:blipFill>
          <a:blip r:embed="rId7"/>
          <a:stretch>
            <a:fillRect/>
          </a:stretch>
        </p:blipFill>
        <p:spPr>
          <a:xfrm>
            <a:off x="3913632" y="4224528"/>
            <a:ext cx="310896" cy="310896"/>
          </a:xfrm>
          <a:prstGeom prst="rect">
            <a:avLst/>
          </a:prstGeom>
        </p:spPr>
      </p:pic>
      <p:sp>
        <p:nvSpPr>
          <p:cNvPr id="39" name="Text 30"/>
          <p:cNvSpPr/>
          <p:nvPr/>
        </p:nvSpPr>
        <p:spPr>
          <a:xfrm>
            <a:off x="4471416" y="4133088"/>
            <a:ext cx="1572768" cy="457200"/>
          </a:xfrm>
          <a:prstGeom prst="rect">
            <a:avLst/>
          </a:prstGeom>
          <a:noFill/>
          <a:ln/>
        </p:spPr>
        <p:txBody>
          <a:bodyPr wrap="square" lIns="0" tIns="0" rIns="0" bIns="0" rtlCol="0" anchor="ctr"/>
          <a:lstStyle/>
          <a:p>
            <a:pPr indent="0" marL="0">
              <a:buNone/>
            </a:pPr>
            <a:r>
              <a:rPr lang="en-US" sz="1450" b="1" dirty="0">
                <a:solidFill>
                  <a:srgbClr val="0F2D52"/>
                </a:solidFill>
                <a:latin typeface="Calibri" pitchFamily="34" charset="0"/>
                <a:ea typeface="Calibri" pitchFamily="34" charset="-122"/>
                <a:cs typeface="Calibri" pitchFamily="34" charset="-120"/>
              </a:rPr>
              <a:t>Operations Team</a:t>
            </a:r>
            <a:endParaRPr lang="en-US" sz="1450" dirty="0"/>
          </a:p>
        </p:txBody>
      </p:sp>
      <p:sp>
        <p:nvSpPr>
          <p:cNvPr id="40" name="Text 31"/>
          <p:cNvSpPr/>
          <p:nvPr/>
        </p:nvSpPr>
        <p:spPr>
          <a:xfrm>
            <a:off x="3767328" y="4828032"/>
            <a:ext cx="2212848" cy="320040"/>
          </a:xfrm>
          <a:prstGeom prst="rect">
            <a:avLst/>
          </a:prstGeom>
          <a:noFill/>
          <a:ln/>
        </p:spPr>
        <p:txBody>
          <a:bodyPr wrap="square" lIns="0" tIns="0" rIns="0" bIns="0" rtlCol="0" anchor="ctr"/>
          <a:lstStyle/>
          <a:p>
            <a:pPr indent="0" marL="0">
              <a:buNone/>
            </a:pPr>
            <a:r>
              <a:rPr lang="en-US" sz="1050" b="1" dirty="0">
                <a:solidFill>
                  <a:srgbClr val="0E9AA7"/>
                </a:solidFill>
                <a:latin typeface="Calibri" pitchFamily="34" charset="0"/>
                <a:ea typeface="Calibri" pitchFamily="34" charset="-122"/>
                <a:cs typeface="Calibri" pitchFamily="34" charset="-120"/>
              </a:rPr>
              <a:t>High · High</a:t>
            </a:r>
            <a:endParaRPr lang="en-US" sz="1050" dirty="0"/>
          </a:p>
        </p:txBody>
      </p:sp>
      <p:sp>
        <p:nvSpPr>
          <p:cNvPr id="41" name="Text 32"/>
          <p:cNvSpPr/>
          <p:nvPr/>
        </p:nvSpPr>
        <p:spPr>
          <a:xfrm>
            <a:off x="3767328" y="5166360"/>
            <a:ext cx="2212848" cy="6400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Owns process &amp; SLAs</a:t>
            </a:r>
            <a:endParaRPr lang="en-US" sz="1150" dirty="0"/>
          </a:p>
        </p:txBody>
      </p:sp>
      <p:sp>
        <p:nvSpPr>
          <p:cNvPr id="42" name="Shape 33"/>
          <p:cNvSpPr/>
          <p:nvPr/>
        </p:nvSpPr>
        <p:spPr>
          <a:xfrm>
            <a:off x="6382512" y="3840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43" name="Shape 34"/>
          <p:cNvSpPr/>
          <p:nvPr/>
        </p:nvSpPr>
        <p:spPr>
          <a:xfrm>
            <a:off x="6638544" y="4078224"/>
            <a:ext cx="603504" cy="603504"/>
          </a:xfrm>
          <a:prstGeom prst="ellipse">
            <a:avLst/>
          </a:prstGeom>
          <a:solidFill>
            <a:srgbClr val="0E9AA7"/>
          </a:solidFill>
          <a:ln/>
        </p:spPr>
      </p:sp>
      <p:pic>
        <p:nvPicPr>
          <p:cNvPr id="44" name="Image 7" descr="preencoded.png">    </p:cNvPr>
          <p:cNvPicPr>
            <a:picLocks noChangeAspect="1"/>
          </p:cNvPicPr>
          <p:nvPr/>
        </p:nvPicPr>
        <p:blipFill>
          <a:blip r:embed="rId8"/>
          <a:stretch>
            <a:fillRect/>
          </a:stretch>
        </p:blipFill>
        <p:spPr>
          <a:xfrm>
            <a:off x="6784848" y="4224528"/>
            <a:ext cx="310896" cy="310896"/>
          </a:xfrm>
          <a:prstGeom prst="rect">
            <a:avLst/>
          </a:prstGeom>
        </p:spPr>
      </p:pic>
      <p:sp>
        <p:nvSpPr>
          <p:cNvPr id="45" name="Text 35"/>
          <p:cNvSpPr/>
          <p:nvPr/>
        </p:nvSpPr>
        <p:spPr>
          <a:xfrm>
            <a:off x="7342632" y="4133088"/>
            <a:ext cx="1572768" cy="457200"/>
          </a:xfrm>
          <a:prstGeom prst="rect">
            <a:avLst/>
          </a:prstGeom>
          <a:noFill/>
          <a:ln/>
        </p:spPr>
        <p:txBody>
          <a:bodyPr wrap="square" lIns="0" tIns="0" rIns="0" bIns="0" rtlCol="0" anchor="ctr"/>
          <a:lstStyle/>
          <a:p>
            <a:pPr indent="0" marL="0">
              <a:buNone/>
            </a:pPr>
            <a:r>
              <a:rPr lang="en-US" sz="1450" b="1" dirty="0">
                <a:solidFill>
                  <a:srgbClr val="0F2D52"/>
                </a:solidFill>
                <a:latin typeface="Calibri" pitchFamily="34" charset="0"/>
                <a:ea typeface="Calibri" pitchFamily="34" charset="-122"/>
                <a:cs typeface="Calibri" pitchFamily="34" charset="-120"/>
              </a:rPr>
              <a:t>Executive Mgmt</a:t>
            </a:r>
            <a:endParaRPr lang="en-US" sz="1450" dirty="0"/>
          </a:p>
        </p:txBody>
      </p:sp>
      <p:sp>
        <p:nvSpPr>
          <p:cNvPr id="46" name="Text 36"/>
          <p:cNvSpPr/>
          <p:nvPr/>
        </p:nvSpPr>
        <p:spPr>
          <a:xfrm>
            <a:off x="6638544" y="4828032"/>
            <a:ext cx="2212848" cy="320040"/>
          </a:xfrm>
          <a:prstGeom prst="rect">
            <a:avLst/>
          </a:prstGeom>
          <a:noFill/>
          <a:ln/>
        </p:spPr>
        <p:txBody>
          <a:bodyPr wrap="square" lIns="0" tIns="0" rIns="0" bIns="0" rtlCol="0" anchor="ctr"/>
          <a:lstStyle/>
          <a:p>
            <a:pPr indent="0" marL="0">
              <a:buNone/>
            </a:pPr>
            <a:r>
              <a:rPr lang="en-US" sz="1050" b="1" dirty="0">
                <a:solidFill>
                  <a:srgbClr val="0E9AA7"/>
                </a:solidFill>
                <a:latin typeface="Calibri" pitchFamily="34" charset="0"/>
                <a:ea typeface="Calibri" pitchFamily="34" charset="-122"/>
                <a:cs typeface="Calibri" pitchFamily="34" charset="-120"/>
              </a:rPr>
              <a:t>High · Med</a:t>
            </a:r>
            <a:endParaRPr lang="en-US" sz="1050" dirty="0"/>
          </a:p>
        </p:txBody>
      </p:sp>
      <p:sp>
        <p:nvSpPr>
          <p:cNvPr id="47" name="Text 37"/>
          <p:cNvSpPr/>
          <p:nvPr/>
        </p:nvSpPr>
        <p:spPr>
          <a:xfrm>
            <a:off x="6638544" y="5166360"/>
            <a:ext cx="2212848" cy="6400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Sponsors &amp; consumes reporting</a:t>
            </a:r>
            <a:endParaRPr lang="en-US" sz="1150" dirty="0"/>
          </a:p>
        </p:txBody>
      </p:sp>
      <p:sp>
        <p:nvSpPr>
          <p:cNvPr id="48" name="Shape 38"/>
          <p:cNvSpPr/>
          <p:nvPr/>
        </p:nvSpPr>
        <p:spPr>
          <a:xfrm>
            <a:off x="9253728" y="3840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49" name="Shape 39"/>
          <p:cNvSpPr/>
          <p:nvPr/>
        </p:nvSpPr>
        <p:spPr>
          <a:xfrm>
            <a:off x="9509760" y="4078224"/>
            <a:ext cx="603504" cy="603504"/>
          </a:xfrm>
          <a:prstGeom prst="ellipse">
            <a:avLst/>
          </a:prstGeom>
          <a:solidFill>
            <a:srgbClr val="0E9AA7"/>
          </a:solidFill>
          <a:ln/>
        </p:spPr>
      </p:sp>
      <p:pic>
        <p:nvPicPr>
          <p:cNvPr id="50" name="Image 8" descr="preencoded.png">    </p:cNvPr>
          <p:cNvPicPr>
            <a:picLocks noChangeAspect="1"/>
          </p:cNvPicPr>
          <p:nvPr/>
        </p:nvPicPr>
        <p:blipFill>
          <a:blip r:embed="rId9"/>
          <a:stretch>
            <a:fillRect/>
          </a:stretch>
        </p:blipFill>
        <p:spPr>
          <a:xfrm>
            <a:off x="9656064" y="4224528"/>
            <a:ext cx="310896" cy="310896"/>
          </a:xfrm>
          <a:prstGeom prst="rect">
            <a:avLst/>
          </a:prstGeom>
        </p:spPr>
      </p:pic>
      <p:sp>
        <p:nvSpPr>
          <p:cNvPr id="51" name="Text 40"/>
          <p:cNvSpPr/>
          <p:nvPr/>
        </p:nvSpPr>
        <p:spPr>
          <a:xfrm>
            <a:off x="10213848" y="4133088"/>
            <a:ext cx="1572768" cy="457200"/>
          </a:xfrm>
          <a:prstGeom prst="rect">
            <a:avLst/>
          </a:prstGeom>
          <a:noFill/>
          <a:ln/>
        </p:spPr>
        <p:txBody>
          <a:bodyPr wrap="square" lIns="0" tIns="0" rIns="0" bIns="0" rtlCol="0" anchor="ctr"/>
          <a:lstStyle/>
          <a:p>
            <a:pPr indent="0" marL="0">
              <a:buNone/>
            </a:pPr>
            <a:r>
              <a:rPr lang="en-US" sz="1450" b="1" dirty="0">
                <a:solidFill>
                  <a:srgbClr val="0F2D52"/>
                </a:solidFill>
                <a:latin typeface="Calibri" pitchFamily="34" charset="0"/>
                <a:ea typeface="Calibri" pitchFamily="34" charset="-122"/>
                <a:cs typeface="Calibri" pitchFamily="34" charset="-120"/>
              </a:rPr>
              <a:t>All</a:t>
            </a:r>
            <a:endParaRPr lang="en-US" sz="1450" dirty="0"/>
          </a:p>
        </p:txBody>
      </p:sp>
      <p:sp>
        <p:nvSpPr>
          <p:cNvPr id="52" name="Text 41"/>
          <p:cNvSpPr/>
          <p:nvPr/>
        </p:nvSpPr>
        <p:spPr>
          <a:xfrm>
            <a:off x="9509760" y="4828032"/>
            <a:ext cx="2212848" cy="320040"/>
          </a:xfrm>
          <a:prstGeom prst="rect">
            <a:avLst/>
          </a:prstGeom>
          <a:noFill/>
          <a:ln/>
        </p:spPr>
        <p:txBody>
          <a:bodyPr wrap="square" lIns="0" tIns="0" rIns="0" bIns="0" rtlCol="0" anchor="ctr"/>
          <a:lstStyle/>
          <a:p>
            <a:pPr indent="0" marL="0">
              <a:buNone/>
            </a:pPr>
            <a:r>
              <a:rPr lang="en-US" sz="1050" b="1" dirty="0">
                <a:solidFill>
                  <a:srgbClr val="0E9AA7"/>
                </a:solidFill>
                <a:latin typeface="Calibri" pitchFamily="34" charset="0"/>
                <a:ea typeface="Calibri" pitchFamily="34" charset="-122"/>
                <a:cs typeface="Calibri" pitchFamily="34" charset="-120"/>
              </a:rPr>
              <a:t>Data consumers</a:t>
            </a:r>
            <a:endParaRPr lang="en-US" sz="1050" dirty="0"/>
          </a:p>
        </p:txBody>
      </p:sp>
      <p:sp>
        <p:nvSpPr>
          <p:cNvPr id="53" name="Text 42"/>
          <p:cNvSpPr/>
          <p:nvPr/>
        </p:nvSpPr>
        <p:spPr>
          <a:xfrm>
            <a:off x="9509760" y="5166360"/>
            <a:ext cx="2212848" cy="640080"/>
          </a:xfrm>
          <a:prstGeom prst="rect">
            <a:avLst/>
          </a:prstGeom>
          <a:noFill/>
          <a:ln/>
        </p:spPr>
        <p:txBody>
          <a:bodyPr wrap="square" lIns="0" tIns="0" rIns="0" bIns="0" rtlCol="0" anchor="ctr"/>
          <a:lstStyle/>
          <a:p>
            <a:pPr indent="0" marL="0">
              <a:buNone/>
            </a:pPr>
            <a:r>
              <a:rPr lang="en-US" sz="1150" dirty="0">
                <a:solidFill>
                  <a:srgbClr val="5B6B7B"/>
                </a:solidFill>
                <a:latin typeface="Calibri" pitchFamily="34" charset="0"/>
                <a:ea typeface="Calibri" pitchFamily="34" charset="-122"/>
                <a:cs typeface="Calibri" pitchFamily="34" charset="-120"/>
              </a:rPr>
              <a:t>Reliable visitor insights</a:t>
            </a:r>
            <a:endParaRPr lang="en-US" sz="1150" dirty="0"/>
          </a:p>
        </p:txBody>
      </p:sp>
      <p:sp>
        <p:nvSpPr>
          <p:cNvPr id="54" name="Text 43"/>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55" name="Text 44"/>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HOW IT WORKS TODAY</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Current Process (As-Is)</a:t>
            </a:r>
            <a:endParaRPr lang="en-US" sz="2800" dirty="0"/>
          </a:p>
        </p:txBody>
      </p:sp>
      <p:sp>
        <p:nvSpPr>
          <p:cNvPr id="6" name="Shape 3"/>
          <p:cNvSpPr/>
          <p:nvPr/>
        </p:nvSpPr>
        <p:spPr>
          <a:xfrm>
            <a:off x="655168" y="2148840"/>
            <a:ext cx="1335024" cy="914400"/>
          </a:xfrm>
          <a:prstGeom prst="roundRect">
            <a:avLst>
              <a:gd name="adj" fmla="val 6000"/>
            </a:avLst>
          </a:prstGeom>
          <a:solidFill>
            <a:srgbClr val="0F2D52"/>
          </a:solidFill>
          <a:ln/>
          <a:effectLst>
            <a:outerShdw sx="100000" sy="100000" kx="0" ky="0" algn="bl" rotWithShape="0" blurRad="101600" dist="38100" dir="5400000">
              <a:srgbClr val="1A2A3A">
                <a:alpha val="16000"/>
              </a:srgbClr>
            </a:outerShdw>
          </a:effectLst>
        </p:spPr>
      </p:sp>
      <p:sp>
        <p:nvSpPr>
          <p:cNvPr id="7" name="Text 4"/>
          <p:cNvSpPr/>
          <p:nvPr/>
        </p:nvSpPr>
        <p:spPr>
          <a:xfrm>
            <a:off x="655168" y="2148840"/>
            <a:ext cx="1335024"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Visitor</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Request</a:t>
            </a:r>
            <a:endParaRPr lang="en-US" sz="1150" dirty="0"/>
          </a:p>
        </p:txBody>
      </p:sp>
      <p:sp>
        <p:nvSpPr>
          <p:cNvPr id="8" name="Shape 5"/>
          <p:cNvSpPr/>
          <p:nvPr/>
        </p:nvSpPr>
        <p:spPr>
          <a:xfrm>
            <a:off x="2008480" y="2606040"/>
            <a:ext cx="219456" cy="0"/>
          </a:xfrm>
          <a:prstGeom prst="line">
            <a:avLst/>
          </a:prstGeom>
          <a:noFill/>
          <a:ln w="31750">
            <a:solidFill>
              <a:srgbClr val="0E9AA7"/>
            </a:solidFill>
            <a:prstDash val="solid"/>
            <a:tailEnd type="triangle"/>
          </a:ln>
        </p:spPr>
      </p:sp>
      <p:sp>
        <p:nvSpPr>
          <p:cNvPr id="9" name="Shape 6"/>
          <p:cNvSpPr/>
          <p:nvPr/>
        </p:nvSpPr>
        <p:spPr>
          <a:xfrm>
            <a:off x="2246224" y="2148840"/>
            <a:ext cx="1335024" cy="914400"/>
          </a:xfrm>
          <a:prstGeom prst="roundRect">
            <a:avLst>
              <a:gd name="adj" fmla="val 6000"/>
            </a:avLst>
          </a:prstGeom>
          <a:solidFill>
            <a:srgbClr val="163A66"/>
          </a:solidFill>
          <a:ln/>
          <a:effectLst>
            <a:outerShdw sx="100000" sy="100000" kx="0" ky="0" algn="bl" rotWithShape="0" blurRad="101600" dist="38100" dir="5400000">
              <a:srgbClr val="1A2A3A">
                <a:alpha val="16000"/>
              </a:srgbClr>
            </a:outerShdw>
          </a:effectLst>
        </p:spPr>
      </p:sp>
      <p:sp>
        <p:nvSpPr>
          <p:cNvPr id="10" name="Text 7"/>
          <p:cNvSpPr/>
          <p:nvPr/>
        </p:nvSpPr>
        <p:spPr>
          <a:xfrm>
            <a:off x="2246224" y="2148840"/>
            <a:ext cx="1335024"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Employee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Coordination</a:t>
            </a:r>
            <a:endParaRPr lang="en-US" sz="1150" dirty="0"/>
          </a:p>
        </p:txBody>
      </p:sp>
      <p:sp>
        <p:nvSpPr>
          <p:cNvPr id="11" name="Shape 8"/>
          <p:cNvSpPr/>
          <p:nvPr/>
        </p:nvSpPr>
        <p:spPr>
          <a:xfrm>
            <a:off x="3599536" y="2606040"/>
            <a:ext cx="219456" cy="0"/>
          </a:xfrm>
          <a:prstGeom prst="line">
            <a:avLst/>
          </a:prstGeom>
          <a:noFill/>
          <a:ln w="31750">
            <a:solidFill>
              <a:srgbClr val="0E9AA7"/>
            </a:solidFill>
            <a:prstDash val="solid"/>
            <a:tailEnd type="triangle"/>
          </a:ln>
        </p:spPr>
      </p:sp>
      <p:sp>
        <p:nvSpPr>
          <p:cNvPr id="12" name="Shape 9"/>
          <p:cNvSpPr/>
          <p:nvPr/>
        </p:nvSpPr>
        <p:spPr>
          <a:xfrm>
            <a:off x="3837280" y="2148840"/>
            <a:ext cx="1335024" cy="914400"/>
          </a:xfrm>
          <a:prstGeom prst="roundRect">
            <a:avLst>
              <a:gd name="adj" fmla="val 6000"/>
            </a:avLst>
          </a:prstGeom>
          <a:solidFill>
            <a:srgbClr val="0F2D52"/>
          </a:solidFill>
          <a:ln/>
          <a:effectLst>
            <a:outerShdw sx="100000" sy="100000" kx="0" ky="0" algn="bl" rotWithShape="0" blurRad="101600" dist="38100" dir="5400000">
              <a:srgbClr val="1A2A3A">
                <a:alpha val="16000"/>
              </a:srgbClr>
            </a:outerShdw>
          </a:effectLst>
        </p:spPr>
      </p:sp>
      <p:sp>
        <p:nvSpPr>
          <p:cNvPr id="13" name="Text 10"/>
          <p:cNvSpPr/>
          <p:nvPr/>
        </p:nvSpPr>
        <p:spPr>
          <a:xfrm>
            <a:off x="3837280" y="2148840"/>
            <a:ext cx="1335024"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Email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Approval</a:t>
            </a:r>
            <a:endParaRPr lang="en-US" sz="1150" dirty="0"/>
          </a:p>
        </p:txBody>
      </p:sp>
      <p:sp>
        <p:nvSpPr>
          <p:cNvPr id="14" name="Shape 11"/>
          <p:cNvSpPr/>
          <p:nvPr/>
        </p:nvSpPr>
        <p:spPr>
          <a:xfrm>
            <a:off x="5190592" y="2606040"/>
            <a:ext cx="219456" cy="0"/>
          </a:xfrm>
          <a:prstGeom prst="line">
            <a:avLst/>
          </a:prstGeom>
          <a:noFill/>
          <a:ln w="31750">
            <a:solidFill>
              <a:srgbClr val="0E9AA7"/>
            </a:solidFill>
            <a:prstDash val="solid"/>
            <a:tailEnd type="triangle"/>
          </a:ln>
        </p:spPr>
      </p:sp>
      <p:sp>
        <p:nvSpPr>
          <p:cNvPr id="15" name="Shape 12"/>
          <p:cNvSpPr/>
          <p:nvPr/>
        </p:nvSpPr>
        <p:spPr>
          <a:xfrm>
            <a:off x="5428336" y="2148840"/>
            <a:ext cx="1335024" cy="914400"/>
          </a:xfrm>
          <a:prstGeom prst="roundRect">
            <a:avLst>
              <a:gd name="adj" fmla="val 6000"/>
            </a:avLst>
          </a:prstGeom>
          <a:solidFill>
            <a:srgbClr val="163A66"/>
          </a:solidFill>
          <a:ln/>
          <a:effectLst>
            <a:outerShdw sx="100000" sy="100000" kx="0" ky="0" algn="bl" rotWithShape="0" blurRad="101600" dist="38100" dir="5400000">
              <a:srgbClr val="1A2A3A">
                <a:alpha val="16000"/>
              </a:srgbClr>
            </a:outerShdw>
          </a:effectLst>
        </p:spPr>
      </p:sp>
      <p:sp>
        <p:nvSpPr>
          <p:cNvPr id="16" name="Text 13"/>
          <p:cNvSpPr/>
          <p:nvPr/>
        </p:nvSpPr>
        <p:spPr>
          <a:xfrm>
            <a:off x="5428336" y="2148840"/>
            <a:ext cx="1335024"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Security</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Notification</a:t>
            </a:r>
            <a:endParaRPr lang="en-US" sz="1150" dirty="0"/>
          </a:p>
        </p:txBody>
      </p:sp>
      <p:sp>
        <p:nvSpPr>
          <p:cNvPr id="17" name="Shape 14"/>
          <p:cNvSpPr/>
          <p:nvPr/>
        </p:nvSpPr>
        <p:spPr>
          <a:xfrm>
            <a:off x="6781648" y="2606040"/>
            <a:ext cx="219456" cy="0"/>
          </a:xfrm>
          <a:prstGeom prst="line">
            <a:avLst/>
          </a:prstGeom>
          <a:noFill/>
          <a:ln w="31750">
            <a:solidFill>
              <a:srgbClr val="0E9AA7"/>
            </a:solidFill>
            <a:prstDash val="solid"/>
            <a:tailEnd type="triangle"/>
          </a:ln>
        </p:spPr>
      </p:sp>
      <p:sp>
        <p:nvSpPr>
          <p:cNvPr id="18" name="Shape 15"/>
          <p:cNvSpPr/>
          <p:nvPr/>
        </p:nvSpPr>
        <p:spPr>
          <a:xfrm>
            <a:off x="7019392" y="2148840"/>
            <a:ext cx="1335024" cy="914400"/>
          </a:xfrm>
          <a:prstGeom prst="roundRect">
            <a:avLst>
              <a:gd name="adj" fmla="val 6000"/>
            </a:avLst>
          </a:prstGeom>
          <a:solidFill>
            <a:srgbClr val="0F2D52"/>
          </a:solidFill>
          <a:ln/>
          <a:effectLst>
            <a:outerShdw sx="100000" sy="100000" kx="0" ky="0" algn="bl" rotWithShape="0" blurRad="101600" dist="38100" dir="5400000">
              <a:srgbClr val="1A2A3A">
                <a:alpha val="16000"/>
              </a:srgbClr>
            </a:outerShdw>
          </a:effectLst>
        </p:spPr>
      </p:sp>
      <p:sp>
        <p:nvSpPr>
          <p:cNvPr id="19" name="Text 16"/>
          <p:cNvSpPr/>
          <p:nvPr/>
        </p:nvSpPr>
        <p:spPr>
          <a:xfrm>
            <a:off x="7019392" y="2148840"/>
            <a:ext cx="1335024"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Visitor</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Arrival</a:t>
            </a:r>
            <a:endParaRPr lang="en-US" sz="1150" dirty="0"/>
          </a:p>
        </p:txBody>
      </p:sp>
      <p:sp>
        <p:nvSpPr>
          <p:cNvPr id="20" name="Shape 17"/>
          <p:cNvSpPr/>
          <p:nvPr/>
        </p:nvSpPr>
        <p:spPr>
          <a:xfrm>
            <a:off x="8372704" y="2606040"/>
            <a:ext cx="219456" cy="0"/>
          </a:xfrm>
          <a:prstGeom prst="line">
            <a:avLst/>
          </a:prstGeom>
          <a:noFill/>
          <a:ln w="31750">
            <a:solidFill>
              <a:srgbClr val="0E9AA7"/>
            </a:solidFill>
            <a:prstDash val="solid"/>
            <a:tailEnd type="triangle"/>
          </a:ln>
        </p:spPr>
      </p:sp>
      <p:sp>
        <p:nvSpPr>
          <p:cNvPr id="21" name="Shape 18"/>
          <p:cNvSpPr/>
          <p:nvPr/>
        </p:nvSpPr>
        <p:spPr>
          <a:xfrm>
            <a:off x="8610448" y="2148840"/>
            <a:ext cx="1335024" cy="914400"/>
          </a:xfrm>
          <a:prstGeom prst="roundRect">
            <a:avLst>
              <a:gd name="adj" fmla="val 6000"/>
            </a:avLst>
          </a:prstGeom>
          <a:solidFill>
            <a:srgbClr val="163A66"/>
          </a:solidFill>
          <a:ln/>
          <a:effectLst>
            <a:outerShdw sx="100000" sy="100000" kx="0" ky="0" algn="bl" rotWithShape="0" blurRad="101600" dist="38100" dir="5400000">
              <a:srgbClr val="1A2A3A">
                <a:alpha val="16000"/>
              </a:srgbClr>
            </a:outerShdw>
          </a:effectLst>
        </p:spPr>
      </p:sp>
      <p:sp>
        <p:nvSpPr>
          <p:cNvPr id="22" name="Text 19"/>
          <p:cNvSpPr/>
          <p:nvPr/>
        </p:nvSpPr>
        <p:spPr>
          <a:xfrm>
            <a:off x="8610448" y="2148840"/>
            <a:ext cx="1335024"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Manual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Registration</a:t>
            </a:r>
            <a:endParaRPr lang="en-US" sz="1150" dirty="0"/>
          </a:p>
        </p:txBody>
      </p:sp>
      <p:sp>
        <p:nvSpPr>
          <p:cNvPr id="23" name="Shape 20"/>
          <p:cNvSpPr/>
          <p:nvPr/>
        </p:nvSpPr>
        <p:spPr>
          <a:xfrm>
            <a:off x="9963760" y="2606040"/>
            <a:ext cx="219456" cy="0"/>
          </a:xfrm>
          <a:prstGeom prst="line">
            <a:avLst/>
          </a:prstGeom>
          <a:noFill/>
          <a:ln w="31750">
            <a:solidFill>
              <a:srgbClr val="0E9AA7"/>
            </a:solidFill>
            <a:prstDash val="solid"/>
            <a:tailEnd type="triangle"/>
          </a:ln>
        </p:spPr>
      </p:sp>
      <p:sp>
        <p:nvSpPr>
          <p:cNvPr id="24" name="Shape 21"/>
          <p:cNvSpPr/>
          <p:nvPr/>
        </p:nvSpPr>
        <p:spPr>
          <a:xfrm>
            <a:off x="10201504" y="2148840"/>
            <a:ext cx="1335024" cy="914400"/>
          </a:xfrm>
          <a:prstGeom prst="roundRect">
            <a:avLst>
              <a:gd name="adj" fmla="val 6000"/>
            </a:avLst>
          </a:prstGeom>
          <a:solidFill>
            <a:srgbClr val="0F2D52"/>
          </a:solidFill>
          <a:ln/>
          <a:effectLst>
            <a:outerShdw sx="100000" sy="100000" kx="0" ky="0" algn="bl" rotWithShape="0" blurRad="101600" dist="38100" dir="5400000">
              <a:srgbClr val="1A2A3A">
                <a:alpha val="16000"/>
              </a:srgbClr>
            </a:outerShdw>
          </a:effectLst>
        </p:spPr>
      </p:sp>
      <p:sp>
        <p:nvSpPr>
          <p:cNvPr id="25" name="Text 22"/>
          <p:cNvSpPr/>
          <p:nvPr/>
        </p:nvSpPr>
        <p:spPr>
          <a:xfrm>
            <a:off x="10201504" y="2148840"/>
            <a:ext cx="1335024"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Building</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Access</a:t>
            </a:r>
            <a:endParaRPr lang="en-US" sz="1150" dirty="0"/>
          </a:p>
        </p:txBody>
      </p:sp>
      <p:sp>
        <p:nvSpPr>
          <p:cNvPr id="26" name="Shape 23"/>
          <p:cNvSpPr/>
          <p:nvPr/>
        </p:nvSpPr>
        <p:spPr>
          <a:xfrm>
            <a:off x="2200504" y="3383280"/>
            <a:ext cx="1426464" cy="566928"/>
          </a:xfrm>
          <a:prstGeom prst="roundRect">
            <a:avLst>
              <a:gd name="adj" fmla="val 8065"/>
            </a:avLst>
          </a:prstGeom>
          <a:solidFill>
            <a:srgbClr val="FBEBE9"/>
          </a:solidFill>
          <a:ln/>
        </p:spPr>
      </p:sp>
      <p:pic>
        <p:nvPicPr>
          <p:cNvPr id="27" name="Image 1" descr="preencoded.png">    </p:cNvPr>
          <p:cNvPicPr>
            <a:picLocks noChangeAspect="1"/>
          </p:cNvPicPr>
          <p:nvPr/>
        </p:nvPicPr>
        <p:blipFill>
          <a:blip r:embed="rId2"/>
          <a:stretch>
            <a:fillRect/>
          </a:stretch>
        </p:blipFill>
        <p:spPr>
          <a:xfrm>
            <a:off x="2282800" y="3483864"/>
            <a:ext cx="182880" cy="182880"/>
          </a:xfrm>
          <a:prstGeom prst="rect">
            <a:avLst/>
          </a:prstGeom>
        </p:spPr>
      </p:pic>
      <p:sp>
        <p:nvSpPr>
          <p:cNvPr id="28" name="Text 24"/>
          <p:cNvSpPr/>
          <p:nvPr/>
        </p:nvSpPr>
        <p:spPr>
          <a:xfrm>
            <a:off x="2483968" y="3401568"/>
            <a:ext cx="1133856" cy="530352"/>
          </a:xfrm>
          <a:prstGeom prst="rect">
            <a:avLst/>
          </a:prstGeom>
          <a:noFill/>
          <a:ln/>
        </p:spPr>
        <p:txBody>
          <a:bodyPr wrap="square" lIns="0" tIns="0" rIns="0" bIns="0" rtlCol="0" anchor="ctr"/>
          <a:lstStyle/>
          <a:p>
            <a:pPr algn="l" indent="0" marL="0">
              <a:buNone/>
            </a:pPr>
            <a:r>
              <a:rPr lang="en-US" sz="950" b="1" dirty="0">
                <a:solidFill>
                  <a:srgbClr val="9A3B33"/>
                </a:solidFill>
                <a:latin typeface="Calibri" pitchFamily="34" charset="0"/>
                <a:ea typeface="Calibri" pitchFamily="34" charset="-122"/>
                <a:cs typeface="Calibri" pitchFamily="34" charset="-120"/>
              </a:rPr>
              <a:t>No standard channel</a:t>
            </a:r>
            <a:endParaRPr lang="en-US" sz="950" dirty="0"/>
          </a:p>
        </p:txBody>
      </p:sp>
      <p:sp>
        <p:nvSpPr>
          <p:cNvPr id="29" name="Shape 25"/>
          <p:cNvSpPr/>
          <p:nvPr/>
        </p:nvSpPr>
        <p:spPr>
          <a:xfrm>
            <a:off x="3791560" y="3383280"/>
            <a:ext cx="1426464" cy="566928"/>
          </a:xfrm>
          <a:prstGeom prst="roundRect">
            <a:avLst>
              <a:gd name="adj" fmla="val 8065"/>
            </a:avLst>
          </a:prstGeom>
          <a:solidFill>
            <a:srgbClr val="FBEBE9"/>
          </a:solidFill>
          <a:ln/>
        </p:spPr>
      </p:sp>
      <p:pic>
        <p:nvPicPr>
          <p:cNvPr id="30" name="Image 2" descr="preencoded.png">    </p:cNvPr>
          <p:cNvPicPr>
            <a:picLocks noChangeAspect="1"/>
          </p:cNvPicPr>
          <p:nvPr/>
        </p:nvPicPr>
        <p:blipFill>
          <a:blip r:embed="rId3"/>
          <a:stretch>
            <a:fillRect/>
          </a:stretch>
        </p:blipFill>
        <p:spPr>
          <a:xfrm>
            <a:off x="3873856" y="3483864"/>
            <a:ext cx="182880" cy="182880"/>
          </a:xfrm>
          <a:prstGeom prst="rect">
            <a:avLst/>
          </a:prstGeom>
        </p:spPr>
      </p:pic>
      <p:sp>
        <p:nvSpPr>
          <p:cNvPr id="31" name="Text 26"/>
          <p:cNvSpPr/>
          <p:nvPr/>
        </p:nvSpPr>
        <p:spPr>
          <a:xfrm>
            <a:off x="4075024" y="3401568"/>
            <a:ext cx="1133856" cy="530352"/>
          </a:xfrm>
          <a:prstGeom prst="rect">
            <a:avLst/>
          </a:prstGeom>
          <a:noFill/>
          <a:ln/>
        </p:spPr>
        <p:txBody>
          <a:bodyPr wrap="square" lIns="0" tIns="0" rIns="0" bIns="0" rtlCol="0" anchor="ctr"/>
          <a:lstStyle/>
          <a:p>
            <a:pPr algn="l" indent="0" marL="0">
              <a:buNone/>
            </a:pPr>
            <a:r>
              <a:rPr lang="en-US" sz="950" b="1" dirty="0">
                <a:solidFill>
                  <a:srgbClr val="9A3B33"/>
                </a:solidFill>
                <a:latin typeface="Calibri" pitchFamily="34" charset="0"/>
                <a:ea typeface="Calibri" pitchFamily="34" charset="-122"/>
                <a:cs typeface="Calibri" pitchFamily="34" charset="-120"/>
              </a:rPr>
              <a:t>Informal, untracked</a:t>
            </a:r>
            <a:endParaRPr lang="en-US" sz="950" dirty="0"/>
          </a:p>
        </p:txBody>
      </p:sp>
      <p:sp>
        <p:nvSpPr>
          <p:cNvPr id="32" name="Shape 27"/>
          <p:cNvSpPr/>
          <p:nvPr/>
        </p:nvSpPr>
        <p:spPr>
          <a:xfrm>
            <a:off x="6973672" y="3383280"/>
            <a:ext cx="1426464" cy="566928"/>
          </a:xfrm>
          <a:prstGeom prst="roundRect">
            <a:avLst>
              <a:gd name="adj" fmla="val 8065"/>
            </a:avLst>
          </a:prstGeom>
          <a:solidFill>
            <a:srgbClr val="FBEBE9"/>
          </a:solidFill>
          <a:ln/>
        </p:spPr>
      </p:sp>
      <p:pic>
        <p:nvPicPr>
          <p:cNvPr id="33" name="Image 3" descr="preencoded.png">    </p:cNvPr>
          <p:cNvPicPr>
            <a:picLocks noChangeAspect="1"/>
          </p:cNvPicPr>
          <p:nvPr/>
        </p:nvPicPr>
        <p:blipFill>
          <a:blip r:embed="rId4"/>
          <a:stretch>
            <a:fillRect/>
          </a:stretch>
        </p:blipFill>
        <p:spPr>
          <a:xfrm>
            <a:off x="7055968" y="3483864"/>
            <a:ext cx="182880" cy="182880"/>
          </a:xfrm>
          <a:prstGeom prst="rect">
            <a:avLst/>
          </a:prstGeom>
        </p:spPr>
      </p:pic>
      <p:sp>
        <p:nvSpPr>
          <p:cNvPr id="34" name="Text 28"/>
          <p:cNvSpPr/>
          <p:nvPr/>
        </p:nvSpPr>
        <p:spPr>
          <a:xfrm>
            <a:off x="7257136" y="3401568"/>
            <a:ext cx="1133856" cy="530352"/>
          </a:xfrm>
          <a:prstGeom prst="rect">
            <a:avLst/>
          </a:prstGeom>
          <a:noFill/>
          <a:ln/>
        </p:spPr>
        <p:txBody>
          <a:bodyPr wrap="square" lIns="0" tIns="0" rIns="0" bIns="0" rtlCol="0" anchor="ctr"/>
          <a:lstStyle/>
          <a:p>
            <a:pPr algn="l" indent="0" marL="0">
              <a:buNone/>
            </a:pPr>
            <a:r>
              <a:rPr lang="en-US" sz="950" b="1" dirty="0">
                <a:solidFill>
                  <a:srgbClr val="9A3B33"/>
                </a:solidFill>
                <a:latin typeface="Calibri" pitchFamily="34" charset="0"/>
                <a:ea typeface="Calibri" pitchFamily="34" charset="-122"/>
                <a:cs typeface="Calibri" pitchFamily="34" charset="-120"/>
              </a:rPr>
              <a:t>Manual, queues form</a:t>
            </a:r>
            <a:endParaRPr lang="en-US" sz="950" dirty="0"/>
          </a:p>
        </p:txBody>
      </p:sp>
      <p:sp>
        <p:nvSpPr>
          <p:cNvPr id="35" name="Shape 29"/>
          <p:cNvSpPr/>
          <p:nvPr/>
        </p:nvSpPr>
        <p:spPr>
          <a:xfrm>
            <a:off x="10155784" y="3383280"/>
            <a:ext cx="1426464" cy="566928"/>
          </a:xfrm>
          <a:prstGeom prst="roundRect">
            <a:avLst>
              <a:gd name="adj" fmla="val 8065"/>
            </a:avLst>
          </a:prstGeom>
          <a:solidFill>
            <a:srgbClr val="FBEBE9"/>
          </a:solidFill>
          <a:ln/>
        </p:spPr>
      </p:sp>
      <p:pic>
        <p:nvPicPr>
          <p:cNvPr id="36" name="Image 4" descr="preencoded.png">    </p:cNvPr>
          <p:cNvPicPr>
            <a:picLocks noChangeAspect="1"/>
          </p:cNvPicPr>
          <p:nvPr/>
        </p:nvPicPr>
        <p:blipFill>
          <a:blip r:embed="rId5"/>
          <a:stretch>
            <a:fillRect/>
          </a:stretch>
        </p:blipFill>
        <p:spPr>
          <a:xfrm>
            <a:off x="10238080" y="3483864"/>
            <a:ext cx="182880" cy="182880"/>
          </a:xfrm>
          <a:prstGeom prst="rect">
            <a:avLst/>
          </a:prstGeom>
        </p:spPr>
      </p:pic>
      <p:sp>
        <p:nvSpPr>
          <p:cNvPr id="37" name="Text 30"/>
          <p:cNvSpPr/>
          <p:nvPr/>
        </p:nvSpPr>
        <p:spPr>
          <a:xfrm>
            <a:off x="10439248" y="3401568"/>
            <a:ext cx="1133856" cy="530352"/>
          </a:xfrm>
          <a:prstGeom prst="rect">
            <a:avLst/>
          </a:prstGeom>
          <a:noFill/>
          <a:ln/>
        </p:spPr>
        <p:txBody>
          <a:bodyPr wrap="square" lIns="0" tIns="0" rIns="0" bIns="0" rtlCol="0" anchor="ctr"/>
          <a:lstStyle/>
          <a:p>
            <a:pPr algn="l" indent="0" marL="0">
              <a:buNone/>
            </a:pPr>
            <a:r>
              <a:rPr lang="en-US" sz="950" b="1" dirty="0">
                <a:solidFill>
                  <a:srgbClr val="9A3B33"/>
                </a:solidFill>
                <a:latin typeface="Calibri" pitchFamily="34" charset="0"/>
                <a:ea typeface="Calibri" pitchFamily="34" charset="-122"/>
                <a:cs typeface="Calibri" pitchFamily="34" charset="-120"/>
              </a:rPr>
              <a:t>Inconsistent checks</a:t>
            </a:r>
            <a:endParaRPr lang="en-US" sz="950" dirty="0"/>
          </a:p>
        </p:txBody>
      </p:sp>
      <p:sp>
        <p:nvSpPr>
          <p:cNvPr id="38" name="Shape 31"/>
          <p:cNvSpPr/>
          <p:nvPr/>
        </p:nvSpPr>
        <p:spPr>
          <a:xfrm>
            <a:off x="655168" y="4160520"/>
            <a:ext cx="10881360" cy="0"/>
          </a:xfrm>
          <a:prstGeom prst="line">
            <a:avLst/>
          </a:prstGeom>
          <a:noFill/>
          <a:ln w="12700">
            <a:solidFill>
              <a:srgbClr val="DDE6EE"/>
            </a:solidFill>
            <a:prstDash val="solid"/>
          </a:ln>
        </p:spPr>
      </p:sp>
      <p:sp>
        <p:nvSpPr>
          <p:cNvPr id="39" name="Text 32"/>
          <p:cNvSpPr/>
          <p:nvPr/>
        </p:nvSpPr>
        <p:spPr>
          <a:xfrm>
            <a:off x="655168" y="4297680"/>
            <a:ext cx="10881360" cy="457200"/>
          </a:xfrm>
          <a:prstGeom prst="rect">
            <a:avLst/>
          </a:prstGeom>
          <a:noFill/>
          <a:ln/>
        </p:spPr>
        <p:txBody>
          <a:bodyPr wrap="square" lIns="0" tIns="0" rIns="0" bIns="0" rtlCol="0" anchor="ctr"/>
          <a:lstStyle/>
          <a:p>
            <a:pPr algn="ctr" indent="0" marL="0">
              <a:buNone/>
            </a:pPr>
            <a:r>
              <a:rPr lang="en-US" sz="1300" dirty="0">
                <a:solidFill>
                  <a:srgbClr val="5B6B7B"/>
                </a:solidFill>
                <a:latin typeface="Calibri" pitchFamily="34" charset="0"/>
                <a:ea typeface="Calibri" pitchFamily="34" charset="-122"/>
                <a:cs typeface="Calibri" pitchFamily="34" charset="-120"/>
              </a:rPr>
              <a:t>Average end-to-end: </a:t>
            </a:r>
            <a:pPr algn="ctr" indent="0" marL="0">
              <a:buNone/>
            </a:pPr>
            <a:r>
              <a:rPr lang="en-US" sz="1300" b="1" dirty="0">
                <a:solidFill>
                  <a:srgbClr val="D45A5A"/>
                </a:solidFill>
                <a:latin typeface="Calibri" pitchFamily="34" charset="0"/>
                <a:ea typeface="Calibri" pitchFamily="34" charset="-122"/>
                <a:cs typeface="Calibri" pitchFamily="34" charset="-120"/>
              </a:rPr>
              <a:t>approval &gt; 4 hours</a:t>
            </a:r>
            <a:pPr algn="ctr" indent="0" marL="0">
              <a:buNone/>
            </a:pPr>
            <a:r>
              <a:rPr lang="en-US" sz="1300" dirty="0">
                <a:solidFill>
                  <a:srgbClr val="C9D4DE"/>
                </a:solidFill>
                <a:latin typeface="Calibri" pitchFamily="34" charset="0"/>
                <a:ea typeface="Calibri" pitchFamily="34" charset="-122"/>
                <a:cs typeface="Calibri" pitchFamily="34" charset="-120"/>
              </a:rPr>
              <a:t>  ·  </a:t>
            </a:r>
            <a:pPr algn="ctr" indent="0" marL="0">
              <a:buNone/>
            </a:pPr>
            <a:r>
              <a:rPr lang="en-US" sz="1300" b="1" dirty="0">
                <a:solidFill>
                  <a:srgbClr val="D45A5A"/>
                </a:solidFill>
                <a:latin typeface="Calibri" pitchFamily="34" charset="0"/>
                <a:ea typeface="Calibri" pitchFamily="34" charset="-122"/>
                <a:cs typeface="Calibri" pitchFamily="34" charset="-120"/>
              </a:rPr>
              <a:t>reception processing 12–18 min</a:t>
            </a:r>
            <a:pPr algn="ctr" indent="0" marL="0">
              <a:buNone/>
            </a:pPr>
            <a:r>
              <a:rPr lang="en-US" sz="1300" dirty="0">
                <a:solidFill>
                  <a:srgbClr val="C9D4DE"/>
                </a:solidFill>
                <a:latin typeface="Calibri" pitchFamily="34" charset="0"/>
                <a:ea typeface="Calibri" pitchFamily="34" charset="-122"/>
                <a:cs typeface="Calibri" pitchFamily="34" charset="-120"/>
              </a:rPr>
              <a:t>  ·  </a:t>
            </a:r>
            <a:pPr algn="ctr" indent="0" marL="0">
              <a:buNone/>
            </a:pPr>
            <a:r>
              <a:rPr lang="en-US" sz="1300" b="1" dirty="0">
                <a:solidFill>
                  <a:srgbClr val="D45A5A"/>
                </a:solidFill>
                <a:latin typeface="Calibri" pitchFamily="34" charset="0"/>
                <a:ea typeface="Calibri" pitchFamily="34" charset="-122"/>
                <a:cs typeface="Calibri" pitchFamily="34" charset="-120"/>
              </a:rPr>
              <a:t>no record of who is on site</a:t>
            </a:r>
            <a:endParaRPr lang="en-US" sz="1300" dirty="0"/>
          </a:p>
        </p:txBody>
      </p:sp>
      <p:sp>
        <p:nvSpPr>
          <p:cNvPr id="40" name="Text 33"/>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41" name="Text 34"/>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THE EVIDENCE</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Pain Point Analysis</a:t>
            </a:r>
            <a:endParaRPr lang="en-US" sz="2800" dirty="0"/>
          </a:p>
        </p:txBody>
      </p:sp>
      <p:sp>
        <p:nvSpPr>
          <p:cNvPr id="6" name="Text 3"/>
          <p:cNvSpPr/>
          <p:nvPr/>
        </p:nvSpPr>
        <p:spPr>
          <a:xfrm>
            <a:off x="777240" y="1627632"/>
            <a:ext cx="3840480" cy="274320"/>
          </a:xfrm>
          <a:prstGeom prst="rect">
            <a:avLst/>
          </a:prstGeom>
          <a:noFill/>
          <a:ln/>
        </p:spPr>
        <p:txBody>
          <a:bodyPr wrap="square" lIns="0" tIns="0" rIns="0" bIns="0" rtlCol="0" anchor="ctr"/>
          <a:lstStyle/>
          <a:p>
            <a:pPr indent="0" marL="0">
              <a:buNone/>
            </a:pPr>
            <a:r>
              <a:rPr lang="en-US" sz="1050" b="1" spc="100" kern="0" dirty="0">
                <a:solidFill>
                  <a:srgbClr val="5B6B7B"/>
                </a:solidFill>
                <a:latin typeface="Calibri" pitchFamily="34" charset="0"/>
                <a:ea typeface="Calibri" pitchFamily="34" charset="-122"/>
                <a:cs typeface="Calibri" pitchFamily="34" charset="-120"/>
              </a:rPr>
              <a:t>PROBLEM</a:t>
            </a:r>
            <a:endParaRPr lang="en-US" sz="1050" dirty="0"/>
          </a:p>
        </p:txBody>
      </p:sp>
      <p:sp>
        <p:nvSpPr>
          <p:cNvPr id="7" name="Text 4"/>
          <p:cNvSpPr/>
          <p:nvPr/>
        </p:nvSpPr>
        <p:spPr>
          <a:xfrm>
            <a:off x="4846320" y="1627632"/>
            <a:ext cx="4114800" cy="274320"/>
          </a:xfrm>
          <a:prstGeom prst="rect">
            <a:avLst/>
          </a:prstGeom>
          <a:noFill/>
          <a:ln/>
        </p:spPr>
        <p:txBody>
          <a:bodyPr wrap="square" lIns="0" tIns="0" rIns="0" bIns="0" rtlCol="0" anchor="ctr"/>
          <a:lstStyle/>
          <a:p>
            <a:pPr indent="0" marL="0">
              <a:buNone/>
            </a:pPr>
            <a:r>
              <a:rPr lang="en-US" sz="1050" b="1" spc="100" kern="0" dirty="0">
                <a:solidFill>
                  <a:srgbClr val="5B6B7B"/>
                </a:solidFill>
                <a:latin typeface="Calibri" pitchFamily="34" charset="0"/>
                <a:ea typeface="Calibri" pitchFamily="34" charset="-122"/>
                <a:cs typeface="Calibri" pitchFamily="34" charset="-120"/>
              </a:rPr>
              <a:t>BUSINESS IMPACT</a:t>
            </a:r>
            <a:endParaRPr lang="en-US" sz="1050" dirty="0"/>
          </a:p>
        </p:txBody>
      </p:sp>
      <p:sp>
        <p:nvSpPr>
          <p:cNvPr id="8" name="Text 5"/>
          <p:cNvSpPr/>
          <p:nvPr/>
        </p:nvSpPr>
        <p:spPr>
          <a:xfrm>
            <a:off x="9326880" y="1627632"/>
            <a:ext cx="2011680" cy="274320"/>
          </a:xfrm>
          <a:prstGeom prst="rect">
            <a:avLst/>
          </a:prstGeom>
          <a:noFill/>
          <a:ln/>
        </p:spPr>
        <p:txBody>
          <a:bodyPr wrap="square" lIns="0" tIns="0" rIns="0" bIns="0" rtlCol="0" anchor="ctr"/>
          <a:lstStyle/>
          <a:p>
            <a:pPr algn="ctr" indent="0" marL="0">
              <a:buNone/>
            </a:pPr>
            <a:r>
              <a:rPr lang="en-US" sz="1050" b="1" spc="100" kern="0" dirty="0">
                <a:solidFill>
                  <a:srgbClr val="5B6B7B"/>
                </a:solidFill>
                <a:latin typeface="Calibri" pitchFamily="34" charset="0"/>
                <a:ea typeface="Calibri" pitchFamily="34" charset="-122"/>
                <a:cs typeface="Calibri" pitchFamily="34" charset="-120"/>
              </a:rPr>
              <a:t>SEVERITY</a:t>
            </a:r>
            <a:endParaRPr lang="en-US" sz="1050" dirty="0"/>
          </a:p>
        </p:txBody>
      </p:sp>
      <p:sp>
        <p:nvSpPr>
          <p:cNvPr id="9" name="Shape 6"/>
          <p:cNvSpPr/>
          <p:nvPr/>
        </p:nvSpPr>
        <p:spPr>
          <a:xfrm>
            <a:off x="640080" y="1956816"/>
            <a:ext cx="10927080" cy="512064"/>
          </a:xfrm>
          <a:prstGeom prst="roundRect">
            <a:avLst>
              <a:gd name="adj" fmla="val 7143"/>
            </a:avLst>
          </a:prstGeom>
          <a:solidFill>
            <a:srgbClr val="FFFFFF"/>
          </a:solidFill>
          <a:ln w="12700">
            <a:solidFill>
              <a:srgbClr val="E3EAF1"/>
            </a:solidFill>
            <a:prstDash val="solid"/>
          </a:ln>
        </p:spPr>
      </p:sp>
      <p:sp>
        <p:nvSpPr>
          <p:cNvPr id="10" name="Text 7"/>
          <p:cNvSpPr/>
          <p:nvPr/>
        </p:nvSpPr>
        <p:spPr>
          <a:xfrm>
            <a:off x="777240" y="1956816"/>
            <a:ext cx="3931920" cy="512064"/>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No real-time visitor visibility</a:t>
            </a:r>
            <a:endParaRPr lang="en-US" sz="1250" dirty="0"/>
          </a:p>
        </p:txBody>
      </p:sp>
      <p:sp>
        <p:nvSpPr>
          <p:cNvPr id="11" name="Text 8"/>
          <p:cNvSpPr/>
          <p:nvPr/>
        </p:nvSpPr>
        <p:spPr>
          <a:xfrm>
            <a:off x="4846320" y="1956816"/>
            <a:ext cx="4297680" cy="512064"/>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Security blind to who is on site</a:t>
            </a:r>
            <a:endParaRPr lang="en-US" sz="1200" dirty="0"/>
          </a:p>
        </p:txBody>
      </p:sp>
      <p:sp>
        <p:nvSpPr>
          <p:cNvPr id="12" name="Shape 9"/>
          <p:cNvSpPr/>
          <p:nvPr/>
        </p:nvSpPr>
        <p:spPr>
          <a:xfrm>
            <a:off x="9509760" y="2048256"/>
            <a:ext cx="1691640" cy="329184"/>
          </a:xfrm>
          <a:prstGeom prst="roundRect">
            <a:avLst>
              <a:gd name="adj" fmla="val 27778"/>
            </a:avLst>
          </a:prstGeom>
          <a:solidFill>
            <a:srgbClr val="D45A5A"/>
          </a:solidFill>
          <a:ln/>
        </p:spPr>
      </p:sp>
      <p:sp>
        <p:nvSpPr>
          <p:cNvPr id="13" name="Text 10"/>
          <p:cNvSpPr/>
          <p:nvPr/>
        </p:nvSpPr>
        <p:spPr>
          <a:xfrm>
            <a:off x="9509760" y="2048256"/>
            <a:ext cx="1691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Critical</a:t>
            </a:r>
            <a:endParaRPr lang="en-US" sz="1150" dirty="0"/>
          </a:p>
        </p:txBody>
      </p:sp>
      <p:sp>
        <p:nvSpPr>
          <p:cNvPr id="14" name="Shape 11"/>
          <p:cNvSpPr/>
          <p:nvPr/>
        </p:nvSpPr>
        <p:spPr>
          <a:xfrm>
            <a:off x="640080" y="2578608"/>
            <a:ext cx="10927080" cy="512064"/>
          </a:xfrm>
          <a:prstGeom prst="roundRect">
            <a:avLst>
              <a:gd name="adj" fmla="val 7143"/>
            </a:avLst>
          </a:prstGeom>
          <a:solidFill>
            <a:srgbClr val="F4F8FC"/>
          </a:solidFill>
          <a:ln w="12700">
            <a:solidFill>
              <a:srgbClr val="E3EAF1"/>
            </a:solidFill>
            <a:prstDash val="solid"/>
          </a:ln>
        </p:spPr>
      </p:sp>
      <p:sp>
        <p:nvSpPr>
          <p:cNvPr id="15" name="Text 12"/>
          <p:cNvSpPr/>
          <p:nvPr/>
        </p:nvSpPr>
        <p:spPr>
          <a:xfrm>
            <a:off x="777240" y="2578608"/>
            <a:ext cx="3931920" cy="512064"/>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Inconsistent identity checks</a:t>
            </a:r>
            <a:endParaRPr lang="en-US" sz="1250" dirty="0"/>
          </a:p>
        </p:txBody>
      </p:sp>
      <p:sp>
        <p:nvSpPr>
          <p:cNvPr id="16" name="Text 13"/>
          <p:cNvSpPr/>
          <p:nvPr/>
        </p:nvSpPr>
        <p:spPr>
          <a:xfrm>
            <a:off x="4846320" y="2578608"/>
            <a:ext cx="4297680" cy="512064"/>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Compliance only 60–70%</a:t>
            </a:r>
            <a:endParaRPr lang="en-US" sz="1200" dirty="0"/>
          </a:p>
        </p:txBody>
      </p:sp>
      <p:sp>
        <p:nvSpPr>
          <p:cNvPr id="17" name="Shape 14"/>
          <p:cNvSpPr/>
          <p:nvPr/>
        </p:nvSpPr>
        <p:spPr>
          <a:xfrm>
            <a:off x="9509760" y="2670048"/>
            <a:ext cx="1691640" cy="329184"/>
          </a:xfrm>
          <a:prstGeom prst="roundRect">
            <a:avLst>
              <a:gd name="adj" fmla="val 27778"/>
            </a:avLst>
          </a:prstGeom>
          <a:solidFill>
            <a:srgbClr val="D45A5A"/>
          </a:solidFill>
          <a:ln/>
        </p:spPr>
      </p:sp>
      <p:sp>
        <p:nvSpPr>
          <p:cNvPr id="18" name="Text 15"/>
          <p:cNvSpPr/>
          <p:nvPr/>
        </p:nvSpPr>
        <p:spPr>
          <a:xfrm>
            <a:off x="9509760" y="2670048"/>
            <a:ext cx="1691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Critical</a:t>
            </a:r>
            <a:endParaRPr lang="en-US" sz="1150" dirty="0"/>
          </a:p>
        </p:txBody>
      </p:sp>
      <p:sp>
        <p:nvSpPr>
          <p:cNvPr id="19" name="Shape 16"/>
          <p:cNvSpPr/>
          <p:nvPr/>
        </p:nvSpPr>
        <p:spPr>
          <a:xfrm>
            <a:off x="640080" y="3200400"/>
            <a:ext cx="10927080" cy="512064"/>
          </a:xfrm>
          <a:prstGeom prst="roundRect">
            <a:avLst>
              <a:gd name="adj" fmla="val 7143"/>
            </a:avLst>
          </a:prstGeom>
          <a:solidFill>
            <a:srgbClr val="FFFFFF"/>
          </a:solidFill>
          <a:ln w="12700">
            <a:solidFill>
              <a:srgbClr val="E3EAF1"/>
            </a:solidFill>
            <a:prstDash val="solid"/>
          </a:ln>
        </p:spPr>
      </p:sp>
      <p:sp>
        <p:nvSpPr>
          <p:cNvPr id="20" name="Text 17"/>
          <p:cNvSpPr/>
          <p:nvPr/>
        </p:nvSpPr>
        <p:spPr>
          <a:xfrm>
            <a:off x="777240" y="3200400"/>
            <a:ext cx="3931920" cy="512064"/>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Slow, informal approvals</a:t>
            </a:r>
            <a:endParaRPr lang="en-US" sz="1250" dirty="0"/>
          </a:p>
        </p:txBody>
      </p:sp>
      <p:sp>
        <p:nvSpPr>
          <p:cNvPr id="21" name="Text 18"/>
          <p:cNvSpPr/>
          <p:nvPr/>
        </p:nvSpPr>
        <p:spPr>
          <a:xfrm>
            <a:off x="4846320" y="3200400"/>
            <a:ext cx="4297680" cy="512064"/>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Cycle exceeds 4 hours</a:t>
            </a:r>
            <a:endParaRPr lang="en-US" sz="1200" dirty="0"/>
          </a:p>
        </p:txBody>
      </p:sp>
      <p:sp>
        <p:nvSpPr>
          <p:cNvPr id="22" name="Shape 19"/>
          <p:cNvSpPr/>
          <p:nvPr/>
        </p:nvSpPr>
        <p:spPr>
          <a:xfrm>
            <a:off x="9509760" y="3291840"/>
            <a:ext cx="1691640" cy="329184"/>
          </a:xfrm>
          <a:prstGeom prst="roundRect">
            <a:avLst>
              <a:gd name="adj" fmla="val 27778"/>
            </a:avLst>
          </a:prstGeom>
          <a:solidFill>
            <a:srgbClr val="E0A33E"/>
          </a:solidFill>
          <a:ln/>
        </p:spPr>
      </p:sp>
      <p:sp>
        <p:nvSpPr>
          <p:cNvPr id="23" name="Text 20"/>
          <p:cNvSpPr/>
          <p:nvPr/>
        </p:nvSpPr>
        <p:spPr>
          <a:xfrm>
            <a:off x="9509760" y="3291840"/>
            <a:ext cx="1691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High</a:t>
            </a:r>
            <a:endParaRPr lang="en-US" sz="1150" dirty="0"/>
          </a:p>
        </p:txBody>
      </p:sp>
      <p:sp>
        <p:nvSpPr>
          <p:cNvPr id="24" name="Shape 21"/>
          <p:cNvSpPr/>
          <p:nvPr/>
        </p:nvSpPr>
        <p:spPr>
          <a:xfrm>
            <a:off x="640080" y="3822192"/>
            <a:ext cx="10927080" cy="512064"/>
          </a:xfrm>
          <a:prstGeom prst="roundRect">
            <a:avLst>
              <a:gd name="adj" fmla="val 7143"/>
            </a:avLst>
          </a:prstGeom>
          <a:solidFill>
            <a:srgbClr val="F4F8FC"/>
          </a:solidFill>
          <a:ln w="12700">
            <a:solidFill>
              <a:srgbClr val="E3EAF1"/>
            </a:solidFill>
            <a:prstDash val="solid"/>
          </a:ln>
        </p:spPr>
      </p:sp>
      <p:sp>
        <p:nvSpPr>
          <p:cNvPr id="25" name="Text 22"/>
          <p:cNvSpPr/>
          <p:nvPr/>
        </p:nvSpPr>
        <p:spPr>
          <a:xfrm>
            <a:off x="777240" y="3822192"/>
            <a:ext cx="3931920" cy="512064"/>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Manual reception registration</a:t>
            </a:r>
            <a:endParaRPr lang="en-US" sz="1250" dirty="0"/>
          </a:p>
        </p:txBody>
      </p:sp>
      <p:sp>
        <p:nvSpPr>
          <p:cNvPr id="26" name="Text 23"/>
          <p:cNvSpPr/>
          <p:nvPr/>
        </p:nvSpPr>
        <p:spPr>
          <a:xfrm>
            <a:off x="4846320" y="3822192"/>
            <a:ext cx="4297680" cy="512064"/>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12–18 min per visitor</a:t>
            </a:r>
            <a:endParaRPr lang="en-US" sz="1200" dirty="0"/>
          </a:p>
        </p:txBody>
      </p:sp>
      <p:sp>
        <p:nvSpPr>
          <p:cNvPr id="27" name="Shape 24"/>
          <p:cNvSpPr/>
          <p:nvPr/>
        </p:nvSpPr>
        <p:spPr>
          <a:xfrm>
            <a:off x="9509760" y="3913632"/>
            <a:ext cx="1691640" cy="329184"/>
          </a:xfrm>
          <a:prstGeom prst="roundRect">
            <a:avLst>
              <a:gd name="adj" fmla="val 27778"/>
            </a:avLst>
          </a:prstGeom>
          <a:solidFill>
            <a:srgbClr val="E0A33E"/>
          </a:solidFill>
          <a:ln/>
        </p:spPr>
      </p:sp>
      <p:sp>
        <p:nvSpPr>
          <p:cNvPr id="28" name="Text 25"/>
          <p:cNvSpPr/>
          <p:nvPr/>
        </p:nvSpPr>
        <p:spPr>
          <a:xfrm>
            <a:off x="9509760" y="3913632"/>
            <a:ext cx="1691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High</a:t>
            </a:r>
            <a:endParaRPr lang="en-US" sz="1150" dirty="0"/>
          </a:p>
        </p:txBody>
      </p:sp>
      <p:sp>
        <p:nvSpPr>
          <p:cNvPr id="29" name="Shape 26"/>
          <p:cNvSpPr/>
          <p:nvPr/>
        </p:nvSpPr>
        <p:spPr>
          <a:xfrm>
            <a:off x="640080" y="4443984"/>
            <a:ext cx="10927080" cy="512064"/>
          </a:xfrm>
          <a:prstGeom prst="roundRect">
            <a:avLst>
              <a:gd name="adj" fmla="val 7143"/>
            </a:avLst>
          </a:prstGeom>
          <a:solidFill>
            <a:srgbClr val="FFFFFF"/>
          </a:solidFill>
          <a:ln w="12700">
            <a:solidFill>
              <a:srgbClr val="E3EAF1"/>
            </a:solidFill>
            <a:prstDash val="solid"/>
          </a:ln>
        </p:spPr>
      </p:sp>
      <p:sp>
        <p:nvSpPr>
          <p:cNvPr id="30" name="Text 27"/>
          <p:cNvSpPr/>
          <p:nvPr/>
        </p:nvSpPr>
        <p:spPr>
          <a:xfrm>
            <a:off x="777240" y="4443984"/>
            <a:ext cx="3931920" cy="512064"/>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Fragmented request channels</a:t>
            </a:r>
            <a:endParaRPr lang="en-US" sz="1250" dirty="0"/>
          </a:p>
        </p:txBody>
      </p:sp>
      <p:sp>
        <p:nvSpPr>
          <p:cNvPr id="31" name="Text 28"/>
          <p:cNvSpPr/>
          <p:nvPr/>
        </p:nvSpPr>
        <p:spPr>
          <a:xfrm>
            <a:off x="4846320" y="4443984"/>
            <a:ext cx="4297680" cy="512064"/>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Requests lost or duplicated</a:t>
            </a:r>
            <a:endParaRPr lang="en-US" sz="1200" dirty="0"/>
          </a:p>
        </p:txBody>
      </p:sp>
      <p:sp>
        <p:nvSpPr>
          <p:cNvPr id="32" name="Shape 29"/>
          <p:cNvSpPr/>
          <p:nvPr/>
        </p:nvSpPr>
        <p:spPr>
          <a:xfrm>
            <a:off x="9509760" y="4535424"/>
            <a:ext cx="1691640" cy="329184"/>
          </a:xfrm>
          <a:prstGeom prst="roundRect">
            <a:avLst>
              <a:gd name="adj" fmla="val 27778"/>
            </a:avLst>
          </a:prstGeom>
          <a:solidFill>
            <a:srgbClr val="E0A33E"/>
          </a:solidFill>
          <a:ln/>
        </p:spPr>
      </p:sp>
      <p:sp>
        <p:nvSpPr>
          <p:cNvPr id="33" name="Text 30"/>
          <p:cNvSpPr/>
          <p:nvPr/>
        </p:nvSpPr>
        <p:spPr>
          <a:xfrm>
            <a:off x="9509760" y="4535424"/>
            <a:ext cx="1691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High</a:t>
            </a:r>
            <a:endParaRPr lang="en-US" sz="1150" dirty="0"/>
          </a:p>
        </p:txBody>
      </p:sp>
      <p:sp>
        <p:nvSpPr>
          <p:cNvPr id="34" name="Shape 31"/>
          <p:cNvSpPr/>
          <p:nvPr/>
        </p:nvSpPr>
        <p:spPr>
          <a:xfrm>
            <a:off x="640080" y="5065776"/>
            <a:ext cx="10927080" cy="512064"/>
          </a:xfrm>
          <a:prstGeom prst="roundRect">
            <a:avLst>
              <a:gd name="adj" fmla="val 7143"/>
            </a:avLst>
          </a:prstGeom>
          <a:solidFill>
            <a:srgbClr val="F4F8FC"/>
          </a:solidFill>
          <a:ln w="12700">
            <a:solidFill>
              <a:srgbClr val="E3EAF1"/>
            </a:solidFill>
            <a:prstDash val="solid"/>
          </a:ln>
        </p:spPr>
      </p:sp>
      <p:sp>
        <p:nvSpPr>
          <p:cNvPr id="35" name="Text 32"/>
          <p:cNvSpPr/>
          <p:nvPr/>
        </p:nvSpPr>
        <p:spPr>
          <a:xfrm>
            <a:off x="777240" y="5065776"/>
            <a:ext cx="3931920" cy="512064"/>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Inaccurate, dispersed records</a:t>
            </a:r>
            <a:endParaRPr lang="en-US" sz="1250" dirty="0"/>
          </a:p>
        </p:txBody>
      </p:sp>
      <p:sp>
        <p:nvSpPr>
          <p:cNvPr id="36" name="Text 33"/>
          <p:cNvSpPr/>
          <p:nvPr/>
        </p:nvSpPr>
        <p:spPr>
          <a:xfrm>
            <a:off x="4846320" y="5065776"/>
            <a:ext cx="4297680" cy="512064"/>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Audit &amp; traceability gaps</a:t>
            </a:r>
            <a:endParaRPr lang="en-US" sz="1200" dirty="0"/>
          </a:p>
        </p:txBody>
      </p:sp>
      <p:sp>
        <p:nvSpPr>
          <p:cNvPr id="37" name="Shape 34"/>
          <p:cNvSpPr/>
          <p:nvPr/>
        </p:nvSpPr>
        <p:spPr>
          <a:xfrm>
            <a:off x="9509760" y="5157216"/>
            <a:ext cx="1691640" cy="329184"/>
          </a:xfrm>
          <a:prstGeom prst="roundRect">
            <a:avLst>
              <a:gd name="adj" fmla="val 27778"/>
            </a:avLst>
          </a:prstGeom>
          <a:solidFill>
            <a:srgbClr val="3FA85C"/>
          </a:solidFill>
          <a:ln/>
        </p:spPr>
      </p:sp>
      <p:sp>
        <p:nvSpPr>
          <p:cNvPr id="38" name="Text 35"/>
          <p:cNvSpPr/>
          <p:nvPr/>
        </p:nvSpPr>
        <p:spPr>
          <a:xfrm>
            <a:off x="9509760" y="5157216"/>
            <a:ext cx="1691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Medium</a:t>
            </a:r>
            <a:endParaRPr lang="en-US" sz="1150" dirty="0"/>
          </a:p>
        </p:txBody>
      </p:sp>
      <p:sp>
        <p:nvSpPr>
          <p:cNvPr id="39" name="Shape 36"/>
          <p:cNvSpPr/>
          <p:nvPr/>
        </p:nvSpPr>
        <p:spPr>
          <a:xfrm>
            <a:off x="640080" y="5687568"/>
            <a:ext cx="10927080" cy="512064"/>
          </a:xfrm>
          <a:prstGeom prst="roundRect">
            <a:avLst>
              <a:gd name="adj" fmla="val 7143"/>
            </a:avLst>
          </a:prstGeom>
          <a:solidFill>
            <a:srgbClr val="FFFFFF"/>
          </a:solidFill>
          <a:ln w="12700">
            <a:solidFill>
              <a:srgbClr val="E3EAF1"/>
            </a:solidFill>
            <a:prstDash val="solid"/>
          </a:ln>
        </p:spPr>
      </p:sp>
      <p:sp>
        <p:nvSpPr>
          <p:cNvPr id="40" name="Text 37"/>
          <p:cNvSpPr/>
          <p:nvPr/>
        </p:nvSpPr>
        <p:spPr>
          <a:xfrm>
            <a:off x="777240" y="5687568"/>
            <a:ext cx="3931920" cy="512064"/>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No reporting or analytics</a:t>
            </a:r>
            <a:endParaRPr lang="en-US" sz="1250" dirty="0"/>
          </a:p>
        </p:txBody>
      </p:sp>
      <p:sp>
        <p:nvSpPr>
          <p:cNvPr id="41" name="Text 38"/>
          <p:cNvSpPr/>
          <p:nvPr/>
        </p:nvSpPr>
        <p:spPr>
          <a:xfrm>
            <a:off x="4846320" y="5687568"/>
            <a:ext cx="4297680" cy="512064"/>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No baseline to improve</a:t>
            </a:r>
            <a:endParaRPr lang="en-US" sz="1200" dirty="0"/>
          </a:p>
        </p:txBody>
      </p:sp>
      <p:sp>
        <p:nvSpPr>
          <p:cNvPr id="42" name="Shape 39"/>
          <p:cNvSpPr/>
          <p:nvPr/>
        </p:nvSpPr>
        <p:spPr>
          <a:xfrm>
            <a:off x="9509760" y="5779008"/>
            <a:ext cx="1691640" cy="329184"/>
          </a:xfrm>
          <a:prstGeom prst="roundRect">
            <a:avLst>
              <a:gd name="adj" fmla="val 27778"/>
            </a:avLst>
          </a:prstGeom>
          <a:solidFill>
            <a:srgbClr val="3FA85C"/>
          </a:solidFill>
          <a:ln/>
        </p:spPr>
      </p:sp>
      <p:sp>
        <p:nvSpPr>
          <p:cNvPr id="43" name="Text 40"/>
          <p:cNvSpPr/>
          <p:nvPr/>
        </p:nvSpPr>
        <p:spPr>
          <a:xfrm>
            <a:off x="9509760" y="5779008"/>
            <a:ext cx="1691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Medium</a:t>
            </a:r>
            <a:endParaRPr lang="en-US" sz="1150" dirty="0"/>
          </a:p>
        </p:txBody>
      </p:sp>
      <p:sp>
        <p:nvSpPr>
          <p:cNvPr id="44" name="Text 41"/>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45" name="Text 42"/>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WHY IT HAPPENS</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Root Cause Analysis</a:t>
            </a:r>
            <a:endParaRPr lang="en-US" sz="2800" dirty="0"/>
          </a:p>
        </p:txBody>
      </p:sp>
      <p:sp>
        <p:nvSpPr>
          <p:cNvPr id="6" name="Text 3"/>
          <p:cNvSpPr/>
          <p:nvPr/>
        </p:nvSpPr>
        <p:spPr>
          <a:xfrm>
            <a:off x="640080" y="1554480"/>
            <a:ext cx="2743200" cy="320040"/>
          </a:xfrm>
          <a:prstGeom prst="rect">
            <a:avLst/>
          </a:prstGeom>
          <a:noFill/>
          <a:ln/>
        </p:spPr>
        <p:txBody>
          <a:bodyPr wrap="square" lIns="0" tIns="0" rIns="0" bIns="0" rtlCol="0" anchor="ctr"/>
          <a:lstStyle/>
          <a:p>
            <a:pPr indent="0" marL="0">
              <a:buNone/>
            </a:pPr>
            <a:r>
              <a:rPr lang="en-US" sz="1500" b="1" dirty="0">
                <a:solidFill>
                  <a:srgbClr val="0E9AA7"/>
                </a:solidFill>
                <a:latin typeface="Calibri" pitchFamily="34" charset="0"/>
                <a:ea typeface="Calibri" pitchFamily="34" charset="-122"/>
                <a:cs typeface="Calibri" pitchFamily="34" charset="-120"/>
              </a:rPr>
              <a:t>5 Whys</a:t>
            </a:r>
            <a:endParaRPr lang="en-US" sz="1500" dirty="0"/>
          </a:p>
        </p:txBody>
      </p:sp>
      <p:sp>
        <p:nvSpPr>
          <p:cNvPr id="7" name="Shape 4"/>
          <p:cNvSpPr/>
          <p:nvPr/>
        </p:nvSpPr>
        <p:spPr>
          <a:xfrm>
            <a:off x="640080" y="1956816"/>
            <a:ext cx="365760" cy="365760"/>
          </a:xfrm>
          <a:prstGeom prst="ellipse">
            <a:avLst/>
          </a:prstGeom>
          <a:solidFill>
            <a:srgbClr val="0F2D52"/>
          </a:solidFill>
          <a:ln/>
        </p:spPr>
      </p:sp>
      <p:sp>
        <p:nvSpPr>
          <p:cNvPr id="8" name="Text 5"/>
          <p:cNvSpPr/>
          <p:nvPr/>
        </p:nvSpPr>
        <p:spPr>
          <a:xfrm>
            <a:off x="640080" y="1956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115568" y="1920240"/>
            <a:ext cx="4663440" cy="548640"/>
          </a:xfrm>
          <a:prstGeom prst="rect">
            <a:avLst/>
          </a:prstGeom>
          <a:noFill/>
          <a:ln/>
        </p:spPr>
        <p:txBody>
          <a:bodyPr wrap="square" lIns="0" tIns="0" rIns="0" bIns="0" rtlCol="0" anchor="ctr"/>
          <a:lstStyle/>
          <a:p>
            <a:pPr indent="0" marL="0">
              <a:buNone/>
            </a:pPr>
            <a:r>
              <a:rPr lang="en-US" sz="1200" dirty="0">
                <a:solidFill>
                  <a:srgbClr val="0F2D52"/>
                </a:solidFill>
                <a:latin typeface="Calibri" pitchFamily="34" charset="0"/>
                <a:ea typeface="Calibri" pitchFamily="34" charset="-122"/>
                <a:cs typeface="Calibri" pitchFamily="34" charset="-120"/>
              </a:rPr>
              <a:t>Visitors wait — reception registers each one by hand</a:t>
            </a:r>
            <a:endParaRPr lang="en-US" sz="1200" dirty="0"/>
          </a:p>
        </p:txBody>
      </p:sp>
      <p:sp>
        <p:nvSpPr>
          <p:cNvPr id="10" name="Shape 7"/>
          <p:cNvSpPr/>
          <p:nvPr/>
        </p:nvSpPr>
        <p:spPr>
          <a:xfrm>
            <a:off x="822960" y="2322576"/>
            <a:ext cx="0" cy="237744"/>
          </a:xfrm>
          <a:prstGeom prst="line">
            <a:avLst/>
          </a:prstGeom>
          <a:noFill/>
          <a:ln w="25400">
            <a:solidFill>
              <a:srgbClr val="8FD3D9"/>
            </a:solidFill>
            <a:prstDash val="solid"/>
          </a:ln>
        </p:spPr>
      </p:sp>
      <p:sp>
        <p:nvSpPr>
          <p:cNvPr id="11" name="Shape 8"/>
          <p:cNvSpPr/>
          <p:nvPr/>
        </p:nvSpPr>
        <p:spPr>
          <a:xfrm>
            <a:off x="640080" y="2596896"/>
            <a:ext cx="365760" cy="365760"/>
          </a:xfrm>
          <a:prstGeom prst="ellipse">
            <a:avLst/>
          </a:prstGeom>
          <a:solidFill>
            <a:srgbClr val="0F2D52"/>
          </a:solidFill>
          <a:ln/>
        </p:spPr>
      </p:sp>
      <p:sp>
        <p:nvSpPr>
          <p:cNvPr id="12" name="Text 9"/>
          <p:cNvSpPr/>
          <p:nvPr/>
        </p:nvSpPr>
        <p:spPr>
          <a:xfrm>
            <a:off x="640080" y="25968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115568" y="2560320"/>
            <a:ext cx="4663440" cy="548640"/>
          </a:xfrm>
          <a:prstGeom prst="rect">
            <a:avLst/>
          </a:prstGeom>
          <a:noFill/>
          <a:ln/>
        </p:spPr>
        <p:txBody>
          <a:bodyPr wrap="square" lIns="0" tIns="0" rIns="0" bIns="0" rtlCol="0" anchor="ctr"/>
          <a:lstStyle/>
          <a:p>
            <a:pPr indent="0" marL="0">
              <a:buNone/>
            </a:pPr>
            <a:r>
              <a:rPr lang="en-US" sz="1200" dirty="0">
                <a:solidFill>
                  <a:srgbClr val="0F2D52"/>
                </a:solidFill>
                <a:latin typeface="Calibri" pitchFamily="34" charset="0"/>
                <a:ea typeface="Calibri" pitchFamily="34" charset="-122"/>
                <a:cs typeface="Calibri" pitchFamily="34" charset="-120"/>
              </a:rPr>
              <a:t>No pre-registration or arrival notification exists</a:t>
            </a:r>
            <a:endParaRPr lang="en-US" sz="1200" dirty="0"/>
          </a:p>
        </p:txBody>
      </p:sp>
      <p:sp>
        <p:nvSpPr>
          <p:cNvPr id="14" name="Shape 11"/>
          <p:cNvSpPr/>
          <p:nvPr/>
        </p:nvSpPr>
        <p:spPr>
          <a:xfrm>
            <a:off x="822960" y="2962656"/>
            <a:ext cx="0" cy="237744"/>
          </a:xfrm>
          <a:prstGeom prst="line">
            <a:avLst/>
          </a:prstGeom>
          <a:noFill/>
          <a:ln w="25400">
            <a:solidFill>
              <a:srgbClr val="8FD3D9"/>
            </a:solidFill>
            <a:prstDash val="solid"/>
          </a:ln>
        </p:spPr>
      </p:sp>
      <p:sp>
        <p:nvSpPr>
          <p:cNvPr id="15" name="Shape 12"/>
          <p:cNvSpPr/>
          <p:nvPr/>
        </p:nvSpPr>
        <p:spPr>
          <a:xfrm>
            <a:off x="640080" y="3236976"/>
            <a:ext cx="365760" cy="365760"/>
          </a:xfrm>
          <a:prstGeom prst="ellipse">
            <a:avLst/>
          </a:prstGeom>
          <a:solidFill>
            <a:srgbClr val="0F2D52"/>
          </a:solidFill>
          <a:ln/>
        </p:spPr>
      </p:sp>
      <p:sp>
        <p:nvSpPr>
          <p:cNvPr id="16" name="Text 13"/>
          <p:cNvSpPr/>
          <p:nvPr/>
        </p:nvSpPr>
        <p:spPr>
          <a:xfrm>
            <a:off x="640080" y="32369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115568" y="3200400"/>
            <a:ext cx="4663440" cy="548640"/>
          </a:xfrm>
          <a:prstGeom prst="rect">
            <a:avLst/>
          </a:prstGeom>
          <a:noFill/>
          <a:ln/>
        </p:spPr>
        <p:txBody>
          <a:bodyPr wrap="square" lIns="0" tIns="0" rIns="0" bIns="0" rtlCol="0" anchor="ctr"/>
          <a:lstStyle/>
          <a:p>
            <a:pPr indent="0" marL="0">
              <a:buNone/>
            </a:pPr>
            <a:r>
              <a:rPr lang="en-US" sz="1200" dirty="0">
                <a:solidFill>
                  <a:srgbClr val="0F2D52"/>
                </a:solidFill>
                <a:latin typeface="Calibri" pitchFamily="34" charset="0"/>
                <a:ea typeface="Calibri" pitchFamily="34" charset="-122"/>
                <a:cs typeface="Calibri" pitchFamily="34" charset="-120"/>
              </a:rPr>
              <a:t>There is no shared system to capture visits in advance</a:t>
            </a:r>
            <a:endParaRPr lang="en-US" sz="1200" dirty="0"/>
          </a:p>
        </p:txBody>
      </p:sp>
      <p:sp>
        <p:nvSpPr>
          <p:cNvPr id="18" name="Shape 15"/>
          <p:cNvSpPr/>
          <p:nvPr/>
        </p:nvSpPr>
        <p:spPr>
          <a:xfrm>
            <a:off x="822960" y="3602736"/>
            <a:ext cx="0" cy="237744"/>
          </a:xfrm>
          <a:prstGeom prst="line">
            <a:avLst/>
          </a:prstGeom>
          <a:noFill/>
          <a:ln w="25400">
            <a:solidFill>
              <a:srgbClr val="8FD3D9"/>
            </a:solidFill>
            <a:prstDash val="solid"/>
          </a:ln>
        </p:spPr>
      </p:sp>
      <p:sp>
        <p:nvSpPr>
          <p:cNvPr id="19" name="Shape 16"/>
          <p:cNvSpPr/>
          <p:nvPr/>
        </p:nvSpPr>
        <p:spPr>
          <a:xfrm>
            <a:off x="640080" y="3877056"/>
            <a:ext cx="365760" cy="365760"/>
          </a:xfrm>
          <a:prstGeom prst="ellipse">
            <a:avLst/>
          </a:prstGeom>
          <a:solidFill>
            <a:srgbClr val="0F2D52"/>
          </a:solidFill>
          <a:ln/>
        </p:spPr>
      </p:sp>
      <p:sp>
        <p:nvSpPr>
          <p:cNvPr id="20" name="Text 17"/>
          <p:cNvSpPr/>
          <p:nvPr/>
        </p:nvSpPr>
        <p:spPr>
          <a:xfrm>
            <a:off x="640080" y="38770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115568" y="3840480"/>
            <a:ext cx="4663440" cy="548640"/>
          </a:xfrm>
          <a:prstGeom prst="rect">
            <a:avLst/>
          </a:prstGeom>
          <a:noFill/>
          <a:ln/>
        </p:spPr>
        <p:txBody>
          <a:bodyPr wrap="square" lIns="0" tIns="0" rIns="0" bIns="0" rtlCol="0" anchor="ctr"/>
          <a:lstStyle/>
          <a:p>
            <a:pPr indent="0" marL="0">
              <a:buNone/>
            </a:pPr>
            <a:r>
              <a:rPr lang="en-US" sz="1200" dirty="0">
                <a:solidFill>
                  <a:srgbClr val="0F2D52"/>
                </a:solidFill>
                <a:latin typeface="Calibri" pitchFamily="34" charset="0"/>
                <a:ea typeface="Calibri" pitchFamily="34" charset="-122"/>
                <a:cs typeface="Calibri" pitchFamily="34" charset="-120"/>
              </a:rPr>
              <a:t>The process grew informally and was never digitized</a:t>
            </a:r>
            <a:endParaRPr lang="en-US" sz="1200" dirty="0"/>
          </a:p>
        </p:txBody>
      </p:sp>
      <p:sp>
        <p:nvSpPr>
          <p:cNvPr id="22" name="Shape 19"/>
          <p:cNvSpPr/>
          <p:nvPr/>
        </p:nvSpPr>
        <p:spPr>
          <a:xfrm>
            <a:off x="822960" y="4242816"/>
            <a:ext cx="0" cy="237744"/>
          </a:xfrm>
          <a:prstGeom prst="line">
            <a:avLst/>
          </a:prstGeom>
          <a:noFill/>
          <a:ln w="25400">
            <a:solidFill>
              <a:srgbClr val="8FD3D9"/>
            </a:solidFill>
            <a:prstDash val="solid"/>
          </a:ln>
        </p:spPr>
      </p:sp>
      <p:sp>
        <p:nvSpPr>
          <p:cNvPr id="23" name="Shape 20"/>
          <p:cNvSpPr/>
          <p:nvPr/>
        </p:nvSpPr>
        <p:spPr>
          <a:xfrm>
            <a:off x="640080" y="4517136"/>
            <a:ext cx="365760" cy="365760"/>
          </a:xfrm>
          <a:prstGeom prst="ellipse">
            <a:avLst/>
          </a:prstGeom>
          <a:solidFill>
            <a:srgbClr val="D45A5A"/>
          </a:solidFill>
          <a:ln/>
        </p:spPr>
      </p:sp>
      <p:sp>
        <p:nvSpPr>
          <p:cNvPr id="24" name="Text 21"/>
          <p:cNvSpPr/>
          <p:nvPr/>
        </p:nvSpPr>
        <p:spPr>
          <a:xfrm>
            <a:off x="640080" y="45171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p:nvPr/>
        </p:nvSpPr>
        <p:spPr>
          <a:xfrm>
            <a:off x="1115568" y="4480560"/>
            <a:ext cx="4663440" cy="548640"/>
          </a:xfrm>
          <a:prstGeom prst="rect">
            <a:avLst/>
          </a:prstGeom>
          <a:noFill/>
          <a:ln/>
        </p:spPr>
        <p:txBody>
          <a:bodyPr wrap="square" lIns="0" tIns="0" rIns="0" bIns="0" rtlCol="0" anchor="ctr"/>
          <a:lstStyle/>
          <a:p>
            <a:pPr indent="0" marL="0">
              <a:buNone/>
            </a:pPr>
            <a:r>
              <a:rPr lang="en-US" sz="1200" b="1" dirty="0">
                <a:solidFill>
                  <a:srgbClr val="D45A5A"/>
                </a:solidFill>
                <a:latin typeface="Calibri" pitchFamily="34" charset="0"/>
                <a:ea typeface="Calibri" pitchFamily="34" charset="-122"/>
                <a:cs typeface="Calibri" pitchFamily="34" charset="-120"/>
              </a:rPr>
              <a:t>Visitor handling was treated as admin, not a managed process</a:t>
            </a:r>
            <a:endParaRPr lang="en-US" sz="1200" dirty="0"/>
          </a:p>
        </p:txBody>
      </p:sp>
      <p:sp>
        <p:nvSpPr>
          <p:cNvPr id="26" name="Text 23"/>
          <p:cNvSpPr/>
          <p:nvPr/>
        </p:nvSpPr>
        <p:spPr>
          <a:xfrm>
            <a:off x="6263640" y="1554480"/>
            <a:ext cx="5486400" cy="320040"/>
          </a:xfrm>
          <a:prstGeom prst="rect">
            <a:avLst/>
          </a:prstGeom>
          <a:noFill/>
          <a:ln/>
        </p:spPr>
        <p:txBody>
          <a:bodyPr wrap="square" lIns="0" tIns="0" rIns="0" bIns="0" rtlCol="0" anchor="ctr"/>
          <a:lstStyle/>
          <a:p>
            <a:pPr indent="0" marL="0">
              <a:buNone/>
            </a:pPr>
            <a:r>
              <a:rPr lang="en-US" sz="1500" b="1" dirty="0">
                <a:solidFill>
                  <a:srgbClr val="0E9AA7"/>
                </a:solidFill>
                <a:latin typeface="Calibri" pitchFamily="34" charset="0"/>
                <a:ea typeface="Calibri" pitchFamily="34" charset="-122"/>
                <a:cs typeface="Calibri" pitchFamily="34" charset="-120"/>
              </a:rPr>
              <a:t>Contributing Causes (Fishbone)</a:t>
            </a:r>
            <a:endParaRPr lang="en-US" sz="1500" dirty="0"/>
          </a:p>
        </p:txBody>
      </p:sp>
      <p:sp>
        <p:nvSpPr>
          <p:cNvPr id="27" name="Shape 24"/>
          <p:cNvSpPr/>
          <p:nvPr/>
        </p:nvSpPr>
        <p:spPr>
          <a:xfrm>
            <a:off x="6263640" y="1938528"/>
            <a:ext cx="2670048" cy="914400"/>
          </a:xfrm>
          <a:prstGeom prst="roundRect">
            <a:avLst>
              <a:gd name="adj" fmla="val 6000"/>
            </a:avLst>
          </a:prstGeom>
          <a:solidFill>
            <a:srgbClr val="F4F8FC"/>
          </a:solidFill>
          <a:ln/>
          <a:effectLst>
            <a:outerShdw sx="100000" sy="100000" kx="0" ky="0" algn="bl" rotWithShape="0" blurRad="101600" dist="38100" dir="5400000">
              <a:srgbClr val="1A2A3A">
                <a:alpha val="16000"/>
              </a:srgbClr>
            </a:outerShdw>
          </a:effectLst>
        </p:spPr>
      </p:sp>
      <p:pic>
        <p:nvPicPr>
          <p:cNvPr id="28" name="Image 1" descr="preencoded.png">    </p:cNvPr>
          <p:cNvPicPr>
            <a:picLocks noChangeAspect="1"/>
          </p:cNvPicPr>
          <p:nvPr/>
        </p:nvPicPr>
        <p:blipFill>
          <a:blip r:embed="rId2"/>
          <a:stretch>
            <a:fillRect/>
          </a:stretch>
        </p:blipFill>
        <p:spPr>
          <a:xfrm>
            <a:off x="6446520" y="2231136"/>
            <a:ext cx="329184" cy="329184"/>
          </a:xfrm>
          <a:prstGeom prst="rect">
            <a:avLst/>
          </a:prstGeom>
        </p:spPr>
      </p:pic>
      <p:sp>
        <p:nvSpPr>
          <p:cNvPr id="29" name="Text 25"/>
          <p:cNvSpPr/>
          <p:nvPr/>
        </p:nvSpPr>
        <p:spPr>
          <a:xfrm>
            <a:off x="6903720" y="2066544"/>
            <a:ext cx="1938528" cy="292608"/>
          </a:xfrm>
          <a:prstGeom prst="rect">
            <a:avLst/>
          </a:prstGeom>
          <a:noFill/>
          <a:ln/>
        </p:spPr>
        <p:txBody>
          <a:bodyPr wrap="square" lIns="0" tIns="0" rIns="0" bIns="0" rtlCol="0" anchor="ctr"/>
          <a:lstStyle/>
          <a:p>
            <a:pPr indent="0" marL="0">
              <a:buNone/>
            </a:pPr>
            <a:r>
              <a:rPr lang="en-US" sz="1300" b="1" dirty="0">
                <a:solidFill>
                  <a:srgbClr val="0F2D52"/>
                </a:solidFill>
                <a:latin typeface="Calibri" pitchFamily="34" charset="0"/>
                <a:ea typeface="Calibri" pitchFamily="34" charset="-122"/>
                <a:cs typeface="Calibri" pitchFamily="34" charset="-120"/>
              </a:rPr>
              <a:t>People</a:t>
            </a:r>
            <a:endParaRPr lang="en-US" sz="1300" dirty="0"/>
          </a:p>
        </p:txBody>
      </p:sp>
      <p:sp>
        <p:nvSpPr>
          <p:cNvPr id="30" name="Text 26"/>
          <p:cNvSpPr/>
          <p:nvPr/>
        </p:nvSpPr>
        <p:spPr>
          <a:xfrm>
            <a:off x="6903720" y="2359152"/>
            <a:ext cx="1938528" cy="45720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No owner; manual coordination</a:t>
            </a:r>
            <a:endParaRPr lang="en-US" sz="1050" dirty="0"/>
          </a:p>
        </p:txBody>
      </p:sp>
      <p:sp>
        <p:nvSpPr>
          <p:cNvPr id="31" name="Shape 27"/>
          <p:cNvSpPr/>
          <p:nvPr/>
        </p:nvSpPr>
        <p:spPr>
          <a:xfrm>
            <a:off x="9134856" y="1938528"/>
            <a:ext cx="2670048" cy="914400"/>
          </a:xfrm>
          <a:prstGeom prst="roundRect">
            <a:avLst>
              <a:gd name="adj" fmla="val 6000"/>
            </a:avLst>
          </a:prstGeom>
          <a:solidFill>
            <a:srgbClr val="F4F8FC"/>
          </a:solidFill>
          <a:ln/>
          <a:effectLst>
            <a:outerShdw sx="100000" sy="100000" kx="0" ky="0" algn="bl" rotWithShape="0" blurRad="101600" dist="38100" dir="5400000">
              <a:srgbClr val="1A2A3A">
                <a:alpha val="16000"/>
              </a:srgbClr>
            </a:outerShdw>
          </a:effectLst>
        </p:spPr>
      </p:sp>
      <p:pic>
        <p:nvPicPr>
          <p:cNvPr id="32" name="Image 2" descr="preencoded.png">    </p:cNvPr>
          <p:cNvPicPr>
            <a:picLocks noChangeAspect="1"/>
          </p:cNvPicPr>
          <p:nvPr/>
        </p:nvPicPr>
        <p:blipFill>
          <a:blip r:embed="rId3"/>
          <a:stretch>
            <a:fillRect/>
          </a:stretch>
        </p:blipFill>
        <p:spPr>
          <a:xfrm>
            <a:off x="9317736" y="2231136"/>
            <a:ext cx="329184" cy="329184"/>
          </a:xfrm>
          <a:prstGeom prst="rect">
            <a:avLst/>
          </a:prstGeom>
        </p:spPr>
      </p:pic>
      <p:sp>
        <p:nvSpPr>
          <p:cNvPr id="33" name="Text 28"/>
          <p:cNvSpPr/>
          <p:nvPr/>
        </p:nvSpPr>
        <p:spPr>
          <a:xfrm>
            <a:off x="9774936" y="2066544"/>
            <a:ext cx="1938528" cy="292608"/>
          </a:xfrm>
          <a:prstGeom prst="rect">
            <a:avLst/>
          </a:prstGeom>
          <a:noFill/>
          <a:ln/>
        </p:spPr>
        <p:txBody>
          <a:bodyPr wrap="square" lIns="0" tIns="0" rIns="0" bIns="0" rtlCol="0" anchor="ctr"/>
          <a:lstStyle/>
          <a:p>
            <a:pPr indent="0" marL="0">
              <a:buNone/>
            </a:pPr>
            <a:r>
              <a:rPr lang="en-US" sz="1300" b="1" dirty="0">
                <a:solidFill>
                  <a:srgbClr val="0F2D52"/>
                </a:solidFill>
                <a:latin typeface="Calibri" pitchFamily="34" charset="0"/>
                <a:ea typeface="Calibri" pitchFamily="34" charset="-122"/>
                <a:cs typeface="Calibri" pitchFamily="34" charset="-120"/>
              </a:rPr>
              <a:t>Process</a:t>
            </a:r>
            <a:endParaRPr lang="en-US" sz="1300" dirty="0"/>
          </a:p>
        </p:txBody>
      </p:sp>
      <p:sp>
        <p:nvSpPr>
          <p:cNvPr id="34" name="Text 29"/>
          <p:cNvSpPr/>
          <p:nvPr/>
        </p:nvSpPr>
        <p:spPr>
          <a:xfrm>
            <a:off x="9774936" y="2359152"/>
            <a:ext cx="1938528" cy="45720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No intake, no SLA, no pre-reg</a:t>
            </a:r>
            <a:endParaRPr lang="en-US" sz="1050" dirty="0"/>
          </a:p>
        </p:txBody>
      </p:sp>
      <p:sp>
        <p:nvSpPr>
          <p:cNvPr id="35" name="Shape 30"/>
          <p:cNvSpPr/>
          <p:nvPr/>
        </p:nvSpPr>
        <p:spPr>
          <a:xfrm>
            <a:off x="6263640" y="3017520"/>
            <a:ext cx="2670048" cy="914400"/>
          </a:xfrm>
          <a:prstGeom prst="roundRect">
            <a:avLst>
              <a:gd name="adj" fmla="val 6000"/>
            </a:avLst>
          </a:prstGeom>
          <a:solidFill>
            <a:srgbClr val="F4F8FC"/>
          </a:solidFill>
          <a:ln/>
          <a:effectLst>
            <a:outerShdw sx="100000" sy="100000" kx="0" ky="0" algn="bl" rotWithShape="0" blurRad="101600" dist="38100" dir="5400000">
              <a:srgbClr val="1A2A3A">
                <a:alpha val="16000"/>
              </a:srgbClr>
            </a:outerShdw>
          </a:effectLst>
        </p:spPr>
      </p:sp>
      <p:pic>
        <p:nvPicPr>
          <p:cNvPr id="36" name="Image 3" descr="preencoded.png">    </p:cNvPr>
          <p:cNvPicPr>
            <a:picLocks noChangeAspect="1"/>
          </p:cNvPicPr>
          <p:nvPr/>
        </p:nvPicPr>
        <p:blipFill>
          <a:blip r:embed="rId4"/>
          <a:stretch>
            <a:fillRect/>
          </a:stretch>
        </p:blipFill>
        <p:spPr>
          <a:xfrm>
            <a:off x="6446520" y="3310128"/>
            <a:ext cx="329184" cy="329184"/>
          </a:xfrm>
          <a:prstGeom prst="rect">
            <a:avLst/>
          </a:prstGeom>
        </p:spPr>
      </p:pic>
      <p:sp>
        <p:nvSpPr>
          <p:cNvPr id="37" name="Text 31"/>
          <p:cNvSpPr/>
          <p:nvPr/>
        </p:nvSpPr>
        <p:spPr>
          <a:xfrm>
            <a:off x="6903720" y="3145536"/>
            <a:ext cx="1938528" cy="292608"/>
          </a:xfrm>
          <a:prstGeom prst="rect">
            <a:avLst/>
          </a:prstGeom>
          <a:noFill/>
          <a:ln/>
        </p:spPr>
        <p:txBody>
          <a:bodyPr wrap="square" lIns="0" tIns="0" rIns="0" bIns="0" rtlCol="0" anchor="ctr"/>
          <a:lstStyle/>
          <a:p>
            <a:pPr indent="0" marL="0">
              <a:buNone/>
            </a:pPr>
            <a:r>
              <a:rPr lang="en-US" sz="1300" b="1" dirty="0">
                <a:solidFill>
                  <a:srgbClr val="0F2D52"/>
                </a:solidFill>
                <a:latin typeface="Calibri" pitchFamily="34" charset="0"/>
                <a:ea typeface="Calibri" pitchFamily="34" charset="-122"/>
                <a:cs typeface="Calibri" pitchFamily="34" charset="-120"/>
              </a:rPr>
              <a:t>Technology</a:t>
            </a:r>
            <a:endParaRPr lang="en-US" sz="1300" dirty="0"/>
          </a:p>
        </p:txBody>
      </p:sp>
      <p:sp>
        <p:nvSpPr>
          <p:cNvPr id="38" name="Text 32"/>
          <p:cNvSpPr/>
          <p:nvPr/>
        </p:nvSpPr>
        <p:spPr>
          <a:xfrm>
            <a:off x="6903720" y="3438144"/>
            <a:ext cx="1938528" cy="45720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No VMS; email &amp; spreadsheets</a:t>
            </a:r>
            <a:endParaRPr lang="en-US" sz="1050" dirty="0"/>
          </a:p>
        </p:txBody>
      </p:sp>
      <p:sp>
        <p:nvSpPr>
          <p:cNvPr id="39" name="Shape 33"/>
          <p:cNvSpPr/>
          <p:nvPr/>
        </p:nvSpPr>
        <p:spPr>
          <a:xfrm>
            <a:off x="9134856" y="3017520"/>
            <a:ext cx="2670048" cy="914400"/>
          </a:xfrm>
          <a:prstGeom prst="roundRect">
            <a:avLst>
              <a:gd name="adj" fmla="val 6000"/>
            </a:avLst>
          </a:prstGeom>
          <a:solidFill>
            <a:srgbClr val="F4F8FC"/>
          </a:solidFill>
          <a:ln/>
          <a:effectLst>
            <a:outerShdw sx="100000" sy="100000" kx="0" ky="0" algn="bl" rotWithShape="0" blurRad="101600" dist="38100" dir="5400000">
              <a:srgbClr val="1A2A3A">
                <a:alpha val="16000"/>
              </a:srgbClr>
            </a:outerShdw>
          </a:effectLst>
        </p:spPr>
      </p:sp>
      <p:pic>
        <p:nvPicPr>
          <p:cNvPr id="40" name="Image 4" descr="preencoded.png">    </p:cNvPr>
          <p:cNvPicPr>
            <a:picLocks noChangeAspect="1"/>
          </p:cNvPicPr>
          <p:nvPr/>
        </p:nvPicPr>
        <p:blipFill>
          <a:blip r:embed="rId5"/>
          <a:stretch>
            <a:fillRect/>
          </a:stretch>
        </p:blipFill>
        <p:spPr>
          <a:xfrm>
            <a:off x="9317736" y="3310128"/>
            <a:ext cx="329184" cy="329184"/>
          </a:xfrm>
          <a:prstGeom prst="rect">
            <a:avLst/>
          </a:prstGeom>
        </p:spPr>
      </p:pic>
      <p:sp>
        <p:nvSpPr>
          <p:cNvPr id="41" name="Text 34"/>
          <p:cNvSpPr/>
          <p:nvPr/>
        </p:nvSpPr>
        <p:spPr>
          <a:xfrm>
            <a:off x="9774936" y="3145536"/>
            <a:ext cx="1938528" cy="292608"/>
          </a:xfrm>
          <a:prstGeom prst="rect">
            <a:avLst/>
          </a:prstGeom>
          <a:noFill/>
          <a:ln/>
        </p:spPr>
        <p:txBody>
          <a:bodyPr wrap="square" lIns="0" tIns="0" rIns="0" bIns="0" rtlCol="0" anchor="ctr"/>
          <a:lstStyle/>
          <a:p>
            <a:pPr indent="0" marL="0">
              <a:buNone/>
            </a:pPr>
            <a:r>
              <a:rPr lang="en-US" sz="1300" b="1" dirty="0">
                <a:solidFill>
                  <a:srgbClr val="0F2D52"/>
                </a:solidFill>
                <a:latin typeface="Calibri" pitchFamily="34" charset="0"/>
                <a:ea typeface="Calibri" pitchFamily="34" charset="-122"/>
                <a:cs typeface="Calibri" pitchFamily="34" charset="-120"/>
              </a:rPr>
              <a:t>Data</a:t>
            </a:r>
            <a:endParaRPr lang="en-US" sz="1300" dirty="0"/>
          </a:p>
        </p:txBody>
      </p:sp>
      <p:sp>
        <p:nvSpPr>
          <p:cNvPr id="42" name="Text 35"/>
          <p:cNvSpPr/>
          <p:nvPr/>
        </p:nvSpPr>
        <p:spPr>
          <a:xfrm>
            <a:off x="9774936" y="3438144"/>
            <a:ext cx="1938528" cy="45720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Dispersed; no analytics</a:t>
            </a:r>
            <a:endParaRPr lang="en-US" sz="1050" dirty="0"/>
          </a:p>
        </p:txBody>
      </p:sp>
      <p:sp>
        <p:nvSpPr>
          <p:cNvPr id="43" name="Shape 36"/>
          <p:cNvSpPr/>
          <p:nvPr/>
        </p:nvSpPr>
        <p:spPr>
          <a:xfrm>
            <a:off x="6263640" y="4096512"/>
            <a:ext cx="2670048" cy="914400"/>
          </a:xfrm>
          <a:prstGeom prst="roundRect">
            <a:avLst>
              <a:gd name="adj" fmla="val 6000"/>
            </a:avLst>
          </a:prstGeom>
          <a:solidFill>
            <a:srgbClr val="F4F8FC"/>
          </a:solidFill>
          <a:ln/>
          <a:effectLst>
            <a:outerShdw sx="100000" sy="100000" kx="0" ky="0" algn="bl" rotWithShape="0" blurRad="101600" dist="38100" dir="5400000">
              <a:srgbClr val="1A2A3A">
                <a:alpha val="16000"/>
              </a:srgbClr>
            </a:outerShdw>
          </a:effectLst>
        </p:spPr>
      </p:sp>
      <p:pic>
        <p:nvPicPr>
          <p:cNvPr id="44" name="Image 5" descr="preencoded.png">    </p:cNvPr>
          <p:cNvPicPr>
            <a:picLocks noChangeAspect="1"/>
          </p:cNvPicPr>
          <p:nvPr/>
        </p:nvPicPr>
        <p:blipFill>
          <a:blip r:embed="rId6"/>
          <a:stretch>
            <a:fillRect/>
          </a:stretch>
        </p:blipFill>
        <p:spPr>
          <a:xfrm>
            <a:off x="6446520" y="4389120"/>
            <a:ext cx="329184" cy="329184"/>
          </a:xfrm>
          <a:prstGeom prst="rect">
            <a:avLst/>
          </a:prstGeom>
        </p:spPr>
      </p:pic>
      <p:sp>
        <p:nvSpPr>
          <p:cNvPr id="45" name="Text 37"/>
          <p:cNvSpPr/>
          <p:nvPr/>
        </p:nvSpPr>
        <p:spPr>
          <a:xfrm>
            <a:off x="6903720" y="4224528"/>
            <a:ext cx="1938528" cy="292608"/>
          </a:xfrm>
          <a:prstGeom prst="rect">
            <a:avLst/>
          </a:prstGeom>
          <a:noFill/>
          <a:ln/>
        </p:spPr>
        <p:txBody>
          <a:bodyPr wrap="square" lIns="0" tIns="0" rIns="0" bIns="0" rtlCol="0" anchor="ctr"/>
          <a:lstStyle/>
          <a:p>
            <a:pPr indent="0" marL="0">
              <a:buNone/>
            </a:pPr>
            <a:r>
              <a:rPr lang="en-US" sz="1300" b="1" dirty="0">
                <a:solidFill>
                  <a:srgbClr val="0F2D52"/>
                </a:solidFill>
                <a:latin typeface="Calibri" pitchFamily="34" charset="0"/>
                <a:ea typeface="Calibri" pitchFamily="34" charset="-122"/>
                <a:cs typeface="Calibri" pitchFamily="34" charset="-120"/>
              </a:rPr>
              <a:t>Environment</a:t>
            </a:r>
            <a:endParaRPr lang="en-US" sz="1300" dirty="0"/>
          </a:p>
        </p:txBody>
      </p:sp>
      <p:sp>
        <p:nvSpPr>
          <p:cNvPr id="46" name="Text 38"/>
          <p:cNvSpPr/>
          <p:nvPr/>
        </p:nvSpPr>
        <p:spPr>
          <a:xfrm>
            <a:off x="6903720" y="4517136"/>
            <a:ext cx="1938528" cy="45720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Single congested reception</a:t>
            </a:r>
            <a:endParaRPr lang="en-US" sz="1050" dirty="0"/>
          </a:p>
        </p:txBody>
      </p:sp>
      <p:sp>
        <p:nvSpPr>
          <p:cNvPr id="47" name="Shape 39"/>
          <p:cNvSpPr/>
          <p:nvPr/>
        </p:nvSpPr>
        <p:spPr>
          <a:xfrm>
            <a:off x="9134856" y="4096512"/>
            <a:ext cx="2670048" cy="914400"/>
          </a:xfrm>
          <a:prstGeom prst="roundRect">
            <a:avLst>
              <a:gd name="adj" fmla="val 6000"/>
            </a:avLst>
          </a:prstGeom>
          <a:solidFill>
            <a:srgbClr val="F4F8FC"/>
          </a:solidFill>
          <a:ln/>
          <a:effectLst>
            <a:outerShdw sx="100000" sy="100000" kx="0" ky="0" algn="bl" rotWithShape="0" blurRad="101600" dist="38100" dir="5400000">
              <a:srgbClr val="1A2A3A">
                <a:alpha val="16000"/>
              </a:srgbClr>
            </a:outerShdw>
          </a:effectLst>
        </p:spPr>
      </p:sp>
      <p:pic>
        <p:nvPicPr>
          <p:cNvPr id="48" name="Image 6" descr="preencoded.png">    </p:cNvPr>
          <p:cNvPicPr>
            <a:picLocks noChangeAspect="1"/>
          </p:cNvPicPr>
          <p:nvPr/>
        </p:nvPicPr>
        <p:blipFill>
          <a:blip r:embed="rId7"/>
          <a:stretch>
            <a:fillRect/>
          </a:stretch>
        </p:blipFill>
        <p:spPr>
          <a:xfrm>
            <a:off x="9317736" y="4389120"/>
            <a:ext cx="329184" cy="329184"/>
          </a:xfrm>
          <a:prstGeom prst="rect">
            <a:avLst/>
          </a:prstGeom>
        </p:spPr>
      </p:pic>
      <p:sp>
        <p:nvSpPr>
          <p:cNvPr id="49" name="Text 40"/>
          <p:cNvSpPr/>
          <p:nvPr/>
        </p:nvSpPr>
        <p:spPr>
          <a:xfrm>
            <a:off x="9774936" y="4224528"/>
            <a:ext cx="1938528" cy="292608"/>
          </a:xfrm>
          <a:prstGeom prst="rect">
            <a:avLst/>
          </a:prstGeom>
          <a:noFill/>
          <a:ln/>
        </p:spPr>
        <p:txBody>
          <a:bodyPr wrap="square" lIns="0" tIns="0" rIns="0" bIns="0" rtlCol="0" anchor="ctr"/>
          <a:lstStyle/>
          <a:p>
            <a:pPr indent="0" marL="0">
              <a:buNone/>
            </a:pPr>
            <a:r>
              <a:rPr lang="en-US" sz="1300" b="1" dirty="0">
                <a:solidFill>
                  <a:srgbClr val="0F2D52"/>
                </a:solidFill>
                <a:latin typeface="Calibri" pitchFamily="34" charset="0"/>
                <a:ea typeface="Calibri" pitchFamily="34" charset="-122"/>
                <a:cs typeface="Calibri" pitchFamily="34" charset="-120"/>
              </a:rPr>
              <a:t>Measurement</a:t>
            </a:r>
            <a:endParaRPr lang="en-US" sz="1300" dirty="0"/>
          </a:p>
        </p:txBody>
      </p:sp>
      <p:sp>
        <p:nvSpPr>
          <p:cNvPr id="50" name="Text 41"/>
          <p:cNvSpPr/>
          <p:nvPr/>
        </p:nvSpPr>
        <p:spPr>
          <a:xfrm>
            <a:off x="9774936" y="4517136"/>
            <a:ext cx="1938528" cy="45720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No KPIs ever tracked</a:t>
            </a:r>
            <a:endParaRPr lang="en-US" sz="1050" dirty="0"/>
          </a:p>
        </p:txBody>
      </p:sp>
      <p:sp>
        <p:nvSpPr>
          <p:cNvPr id="51" name="Shape 42"/>
          <p:cNvSpPr/>
          <p:nvPr/>
        </p:nvSpPr>
        <p:spPr>
          <a:xfrm>
            <a:off x="640080" y="5440680"/>
            <a:ext cx="10927080" cy="713232"/>
          </a:xfrm>
          <a:prstGeom prst="roundRect">
            <a:avLst>
              <a:gd name="adj" fmla="val 10256"/>
            </a:avLst>
          </a:prstGeom>
          <a:solidFill>
            <a:srgbClr val="0F2D52"/>
          </a:solidFill>
          <a:ln/>
          <a:effectLst>
            <a:outerShdw sx="100000" sy="100000" kx="0" ky="0" algn="bl" rotWithShape="0" blurRad="101600" dist="38100" dir="5400000">
              <a:srgbClr val="1A2A3A">
                <a:alpha val="16000"/>
              </a:srgbClr>
            </a:outerShdw>
          </a:effectLst>
        </p:spPr>
      </p:sp>
      <p:pic>
        <p:nvPicPr>
          <p:cNvPr id="52" name="Image 7" descr="preencoded.png">    </p:cNvPr>
          <p:cNvPicPr>
            <a:picLocks noChangeAspect="1"/>
          </p:cNvPicPr>
          <p:nvPr/>
        </p:nvPicPr>
        <p:blipFill>
          <a:blip r:embed="rId8"/>
          <a:stretch>
            <a:fillRect/>
          </a:stretch>
        </p:blipFill>
        <p:spPr>
          <a:xfrm>
            <a:off x="868680" y="5632704"/>
            <a:ext cx="365760" cy="365760"/>
          </a:xfrm>
          <a:prstGeom prst="rect">
            <a:avLst/>
          </a:prstGeom>
        </p:spPr>
      </p:pic>
      <p:sp>
        <p:nvSpPr>
          <p:cNvPr id="53" name="Text 43"/>
          <p:cNvSpPr/>
          <p:nvPr/>
        </p:nvSpPr>
        <p:spPr>
          <a:xfrm>
            <a:off x="1371600" y="5440680"/>
            <a:ext cx="9966960" cy="713232"/>
          </a:xfrm>
          <a:prstGeom prst="rect">
            <a:avLst/>
          </a:prstGeom>
          <a:noFill/>
          <a:ln/>
        </p:spPr>
        <p:txBody>
          <a:bodyPr wrap="square" lIns="0" tIns="0" rIns="0" bIns="0" rtlCol="0" anchor="ctr"/>
          <a:lstStyle/>
          <a:p>
            <a:pPr indent="0" marL="0">
              <a:buNone/>
            </a:pPr>
            <a:r>
              <a:rPr lang="en-US" sz="1350" b="1" dirty="0">
                <a:solidFill>
                  <a:srgbClr val="E0A33E"/>
                </a:solidFill>
                <a:latin typeface="Calibri" pitchFamily="34" charset="0"/>
                <a:ea typeface="Calibri" pitchFamily="34" charset="-122"/>
                <a:cs typeface="Calibri" pitchFamily="34" charset="-120"/>
              </a:rPr>
              <a:t>Root cause:  </a:t>
            </a:r>
            <a:pPr indent="0" marL="0">
              <a:buNone/>
            </a:pPr>
            <a:r>
              <a:rPr lang="en-US" sz="1350" dirty="0">
                <a:solidFill>
                  <a:srgbClr val="FFFFFF"/>
                </a:solidFill>
                <a:latin typeface="Calibri" pitchFamily="34" charset="0"/>
                <a:ea typeface="Calibri" pitchFamily="34" charset="-122"/>
                <a:cs typeface="Calibri" pitchFamily="34" charset="-120"/>
              </a:rPr>
              <a:t>the absence of an owned, digital, end-to-end visitor process — visitor handling was never treated as a managed business process.</a:t>
            </a:r>
            <a:endParaRPr lang="en-US" sz="1350" dirty="0"/>
          </a:p>
        </p:txBody>
      </p:sp>
      <p:sp>
        <p:nvSpPr>
          <p:cNvPr id="54" name="Text 44"/>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55" name="Text 45"/>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THE PROPOSAL</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Digital Visitor Management System (To-Be)</a:t>
            </a:r>
            <a:endParaRPr lang="en-US" sz="2800" dirty="0"/>
          </a:p>
        </p:txBody>
      </p:sp>
      <p:sp>
        <p:nvSpPr>
          <p:cNvPr id="6" name="Shape 3"/>
          <p:cNvSpPr/>
          <p:nvPr/>
        </p:nvSpPr>
        <p:spPr>
          <a:xfrm>
            <a:off x="640080" y="1554480"/>
            <a:ext cx="2670048" cy="2084832"/>
          </a:xfrm>
          <a:prstGeom prst="roundRect">
            <a:avLst>
              <a:gd name="adj" fmla="val 3509"/>
            </a:avLst>
          </a:prstGeom>
          <a:solidFill>
            <a:srgbClr val="0F2D52"/>
          </a:solidFill>
          <a:ln/>
          <a:effectLst>
            <a:outerShdw sx="100000" sy="100000" kx="0" ky="0" algn="bl" rotWithShape="0" blurRad="101600" dist="38100" dir="5400000">
              <a:srgbClr val="1A2A3A">
                <a:alpha val="16000"/>
              </a:srgbClr>
            </a:outerShdw>
          </a:effectLst>
        </p:spPr>
      </p:sp>
      <p:sp>
        <p:nvSpPr>
          <p:cNvPr id="7" name="Shape 4"/>
          <p:cNvSpPr/>
          <p:nvPr/>
        </p:nvSpPr>
        <p:spPr>
          <a:xfrm>
            <a:off x="896112" y="1828800"/>
            <a:ext cx="713232" cy="713232"/>
          </a:xfrm>
          <a:prstGeom prst="ellipse">
            <a:avLst/>
          </a:prstGeom>
          <a:solidFill>
            <a:srgbClr val="FFFFFF">
              <a:alpha val="14000"/>
            </a:srgbClr>
          </a:solidFill>
          <a:ln/>
        </p:spPr>
      </p:sp>
      <p:pic>
        <p:nvPicPr>
          <p:cNvPr id="8" name="Image 1" descr="preencoded.png">    </p:cNvPr>
          <p:cNvPicPr>
            <a:picLocks noChangeAspect="1"/>
          </p:cNvPicPr>
          <p:nvPr/>
        </p:nvPicPr>
        <p:blipFill>
          <a:blip r:embed="rId2"/>
          <a:stretch>
            <a:fillRect/>
          </a:stretch>
        </p:blipFill>
        <p:spPr>
          <a:xfrm>
            <a:off x="1069848" y="2002536"/>
            <a:ext cx="365760" cy="365760"/>
          </a:xfrm>
          <a:prstGeom prst="rect">
            <a:avLst/>
          </a:prstGeom>
        </p:spPr>
      </p:pic>
      <p:sp>
        <p:nvSpPr>
          <p:cNvPr id="9" name="Text 5"/>
          <p:cNvSpPr/>
          <p:nvPr/>
        </p:nvSpPr>
        <p:spPr>
          <a:xfrm>
            <a:off x="896112" y="2651760"/>
            <a:ext cx="221284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Online Registration</a:t>
            </a:r>
            <a:endParaRPr lang="en-US" sz="1450" dirty="0"/>
          </a:p>
        </p:txBody>
      </p:sp>
      <p:sp>
        <p:nvSpPr>
          <p:cNvPr id="10" name="Text 6"/>
          <p:cNvSpPr/>
          <p:nvPr/>
        </p:nvSpPr>
        <p:spPr>
          <a:xfrm>
            <a:off x="896112" y="3035808"/>
            <a:ext cx="2212848" cy="548640"/>
          </a:xfrm>
          <a:prstGeom prst="rect">
            <a:avLst/>
          </a:prstGeom>
          <a:noFill/>
          <a:ln/>
        </p:spPr>
        <p:txBody>
          <a:bodyPr wrap="square" lIns="0" tIns="0" rIns="0" bIns="0" rtlCol="0" anchor="ctr"/>
          <a:lstStyle/>
          <a:p>
            <a:pPr indent="0" marL="0">
              <a:buNone/>
            </a:pPr>
            <a:r>
              <a:rPr lang="en-US" sz="1100" dirty="0">
                <a:solidFill>
                  <a:srgbClr val="8FD3D9"/>
                </a:solidFill>
                <a:latin typeface="Calibri" pitchFamily="34" charset="0"/>
                <a:ea typeface="Calibri" pitchFamily="34" charset="-122"/>
                <a:cs typeface="Calibri" pitchFamily="34" charset="-120"/>
              </a:rPr>
              <a:t>Hosts pre-register; visitors self-complete via link</a:t>
            </a:r>
            <a:endParaRPr lang="en-US" sz="1100" dirty="0"/>
          </a:p>
        </p:txBody>
      </p:sp>
      <p:sp>
        <p:nvSpPr>
          <p:cNvPr id="11" name="Shape 7"/>
          <p:cNvSpPr/>
          <p:nvPr/>
        </p:nvSpPr>
        <p:spPr>
          <a:xfrm>
            <a:off x="3511296" y="1554480"/>
            <a:ext cx="2670048" cy="2084832"/>
          </a:xfrm>
          <a:prstGeom prst="roundRect">
            <a:avLst>
              <a:gd name="adj" fmla="val 3509"/>
            </a:avLst>
          </a:prstGeom>
          <a:solidFill>
            <a:srgbClr val="0F2D52"/>
          </a:solidFill>
          <a:ln/>
          <a:effectLst>
            <a:outerShdw sx="100000" sy="100000" kx="0" ky="0" algn="bl" rotWithShape="0" blurRad="101600" dist="38100" dir="5400000">
              <a:srgbClr val="1A2A3A">
                <a:alpha val="16000"/>
              </a:srgbClr>
            </a:outerShdw>
          </a:effectLst>
        </p:spPr>
      </p:sp>
      <p:sp>
        <p:nvSpPr>
          <p:cNvPr id="12" name="Shape 8"/>
          <p:cNvSpPr/>
          <p:nvPr/>
        </p:nvSpPr>
        <p:spPr>
          <a:xfrm>
            <a:off x="3767328" y="1828800"/>
            <a:ext cx="713232" cy="713232"/>
          </a:xfrm>
          <a:prstGeom prst="ellipse">
            <a:avLst/>
          </a:prstGeom>
          <a:solidFill>
            <a:srgbClr val="FFFFFF">
              <a:alpha val="14000"/>
            </a:srgbClr>
          </a:solidFill>
          <a:ln/>
        </p:spPr>
      </p:sp>
      <p:pic>
        <p:nvPicPr>
          <p:cNvPr id="13" name="Image 2" descr="preencoded.png">    </p:cNvPr>
          <p:cNvPicPr>
            <a:picLocks noChangeAspect="1"/>
          </p:cNvPicPr>
          <p:nvPr/>
        </p:nvPicPr>
        <p:blipFill>
          <a:blip r:embed="rId3"/>
          <a:stretch>
            <a:fillRect/>
          </a:stretch>
        </p:blipFill>
        <p:spPr>
          <a:xfrm>
            <a:off x="3941064" y="2002536"/>
            <a:ext cx="365760" cy="365760"/>
          </a:xfrm>
          <a:prstGeom prst="rect">
            <a:avLst/>
          </a:prstGeom>
        </p:spPr>
      </p:pic>
      <p:sp>
        <p:nvSpPr>
          <p:cNvPr id="14" name="Text 9"/>
          <p:cNvSpPr/>
          <p:nvPr/>
        </p:nvSpPr>
        <p:spPr>
          <a:xfrm>
            <a:off x="3767328" y="2651760"/>
            <a:ext cx="221284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Visit Scheduling</a:t>
            </a:r>
            <a:endParaRPr lang="en-US" sz="1450" dirty="0"/>
          </a:p>
        </p:txBody>
      </p:sp>
      <p:sp>
        <p:nvSpPr>
          <p:cNvPr id="15" name="Text 10"/>
          <p:cNvSpPr/>
          <p:nvPr/>
        </p:nvSpPr>
        <p:spPr>
          <a:xfrm>
            <a:off x="3767328" y="3035808"/>
            <a:ext cx="2212848" cy="548640"/>
          </a:xfrm>
          <a:prstGeom prst="rect">
            <a:avLst/>
          </a:prstGeom>
          <a:noFill/>
          <a:ln/>
        </p:spPr>
        <p:txBody>
          <a:bodyPr wrap="square" lIns="0" tIns="0" rIns="0" bIns="0" rtlCol="0" anchor="ctr"/>
          <a:lstStyle/>
          <a:p>
            <a:pPr indent="0" marL="0">
              <a:buNone/>
            </a:pPr>
            <a:r>
              <a:rPr lang="en-US" sz="1100" dirty="0">
                <a:solidFill>
                  <a:srgbClr val="8FD3D9"/>
                </a:solidFill>
                <a:latin typeface="Calibri" pitchFamily="34" charset="0"/>
                <a:ea typeface="Calibri" pitchFamily="34" charset="-122"/>
                <a:cs typeface="Calibri" pitchFamily="34" charset="-120"/>
              </a:rPr>
              <a:t>Single, recurring &amp; group visits</a:t>
            </a:r>
            <a:endParaRPr lang="en-US" sz="1100" dirty="0"/>
          </a:p>
        </p:txBody>
      </p:sp>
      <p:sp>
        <p:nvSpPr>
          <p:cNvPr id="16" name="Shape 11"/>
          <p:cNvSpPr/>
          <p:nvPr/>
        </p:nvSpPr>
        <p:spPr>
          <a:xfrm>
            <a:off x="6382512" y="1554480"/>
            <a:ext cx="2670048" cy="2084832"/>
          </a:xfrm>
          <a:prstGeom prst="roundRect">
            <a:avLst>
              <a:gd name="adj" fmla="val 3509"/>
            </a:avLst>
          </a:prstGeom>
          <a:solidFill>
            <a:srgbClr val="0F2D52"/>
          </a:solidFill>
          <a:ln/>
          <a:effectLst>
            <a:outerShdw sx="100000" sy="100000" kx="0" ky="0" algn="bl" rotWithShape="0" blurRad="101600" dist="38100" dir="5400000">
              <a:srgbClr val="1A2A3A">
                <a:alpha val="16000"/>
              </a:srgbClr>
            </a:outerShdw>
          </a:effectLst>
        </p:spPr>
      </p:sp>
      <p:sp>
        <p:nvSpPr>
          <p:cNvPr id="17" name="Shape 12"/>
          <p:cNvSpPr/>
          <p:nvPr/>
        </p:nvSpPr>
        <p:spPr>
          <a:xfrm>
            <a:off x="6638544" y="1828800"/>
            <a:ext cx="713232" cy="713232"/>
          </a:xfrm>
          <a:prstGeom prst="ellipse">
            <a:avLst/>
          </a:prstGeom>
          <a:solidFill>
            <a:srgbClr val="FFFFFF">
              <a:alpha val="14000"/>
            </a:srgbClr>
          </a:solidFill>
          <a:ln/>
        </p:spPr>
      </p:sp>
      <p:pic>
        <p:nvPicPr>
          <p:cNvPr id="18" name="Image 3" descr="preencoded.png">    </p:cNvPr>
          <p:cNvPicPr>
            <a:picLocks noChangeAspect="1"/>
          </p:cNvPicPr>
          <p:nvPr/>
        </p:nvPicPr>
        <p:blipFill>
          <a:blip r:embed="rId4"/>
          <a:stretch>
            <a:fillRect/>
          </a:stretch>
        </p:blipFill>
        <p:spPr>
          <a:xfrm>
            <a:off x="6812280" y="2002536"/>
            <a:ext cx="365760" cy="365760"/>
          </a:xfrm>
          <a:prstGeom prst="rect">
            <a:avLst/>
          </a:prstGeom>
        </p:spPr>
      </p:pic>
      <p:sp>
        <p:nvSpPr>
          <p:cNvPr id="19" name="Text 13"/>
          <p:cNvSpPr/>
          <p:nvPr/>
        </p:nvSpPr>
        <p:spPr>
          <a:xfrm>
            <a:off x="6638544" y="2651760"/>
            <a:ext cx="221284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Approval Workflow</a:t>
            </a:r>
            <a:endParaRPr lang="en-US" sz="1450" dirty="0"/>
          </a:p>
        </p:txBody>
      </p:sp>
      <p:sp>
        <p:nvSpPr>
          <p:cNvPr id="20" name="Text 14"/>
          <p:cNvSpPr/>
          <p:nvPr/>
        </p:nvSpPr>
        <p:spPr>
          <a:xfrm>
            <a:off x="6638544" y="3035808"/>
            <a:ext cx="2212848" cy="548640"/>
          </a:xfrm>
          <a:prstGeom prst="rect">
            <a:avLst/>
          </a:prstGeom>
          <a:noFill/>
          <a:ln/>
        </p:spPr>
        <p:txBody>
          <a:bodyPr wrap="square" lIns="0" tIns="0" rIns="0" bIns="0" rtlCol="0" anchor="ctr"/>
          <a:lstStyle/>
          <a:p>
            <a:pPr indent="0" marL="0">
              <a:buNone/>
            </a:pPr>
            <a:r>
              <a:rPr lang="en-US" sz="1100" dirty="0">
                <a:solidFill>
                  <a:srgbClr val="8FD3D9"/>
                </a:solidFill>
                <a:latin typeface="Calibri" pitchFamily="34" charset="0"/>
                <a:ea typeface="Calibri" pitchFamily="34" charset="-122"/>
                <a:cs typeface="Calibri" pitchFamily="34" charset="-120"/>
              </a:rPr>
              <a:t>Auto-routed with reminders &amp; escalation</a:t>
            </a:r>
            <a:endParaRPr lang="en-US" sz="1100" dirty="0"/>
          </a:p>
        </p:txBody>
      </p:sp>
      <p:sp>
        <p:nvSpPr>
          <p:cNvPr id="21" name="Shape 15"/>
          <p:cNvSpPr/>
          <p:nvPr/>
        </p:nvSpPr>
        <p:spPr>
          <a:xfrm>
            <a:off x="9253728" y="1554480"/>
            <a:ext cx="2670048" cy="2084832"/>
          </a:xfrm>
          <a:prstGeom prst="roundRect">
            <a:avLst>
              <a:gd name="adj" fmla="val 3509"/>
            </a:avLst>
          </a:prstGeom>
          <a:solidFill>
            <a:srgbClr val="0F2D52"/>
          </a:solidFill>
          <a:ln/>
          <a:effectLst>
            <a:outerShdw sx="100000" sy="100000" kx="0" ky="0" algn="bl" rotWithShape="0" blurRad="101600" dist="38100" dir="5400000">
              <a:srgbClr val="1A2A3A">
                <a:alpha val="16000"/>
              </a:srgbClr>
            </a:outerShdw>
          </a:effectLst>
        </p:spPr>
      </p:sp>
      <p:sp>
        <p:nvSpPr>
          <p:cNvPr id="22" name="Shape 16"/>
          <p:cNvSpPr/>
          <p:nvPr/>
        </p:nvSpPr>
        <p:spPr>
          <a:xfrm>
            <a:off x="9509760" y="1828800"/>
            <a:ext cx="713232" cy="713232"/>
          </a:xfrm>
          <a:prstGeom prst="ellipse">
            <a:avLst/>
          </a:prstGeom>
          <a:solidFill>
            <a:srgbClr val="FFFFFF">
              <a:alpha val="14000"/>
            </a:srgbClr>
          </a:solidFill>
          <a:ln/>
        </p:spPr>
      </p:sp>
      <p:pic>
        <p:nvPicPr>
          <p:cNvPr id="23" name="Image 4" descr="preencoded.png">    </p:cNvPr>
          <p:cNvPicPr>
            <a:picLocks noChangeAspect="1"/>
          </p:cNvPicPr>
          <p:nvPr/>
        </p:nvPicPr>
        <p:blipFill>
          <a:blip r:embed="rId5"/>
          <a:stretch>
            <a:fillRect/>
          </a:stretch>
        </p:blipFill>
        <p:spPr>
          <a:xfrm>
            <a:off x="9683496" y="2002536"/>
            <a:ext cx="365760" cy="365760"/>
          </a:xfrm>
          <a:prstGeom prst="rect">
            <a:avLst/>
          </a:prstGeom>
        </p:spPr>
      </p:pic>
      <p:sp>
        <p:nvSpPr>
          <p:cNvPr id="24" name="Text 17"/>
          <p:cNvSpPr/>
          <p:nvPr/>
        </p:nvSpPr>
        <p:spPr>
          <a:xfrm>
            <a:off x="9509760" y="2651760"/>
            <a:ext cx="221284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Automated Alerts</a:t>
            </a:r>
            <a:endParaRPr lang="en-US" sz="1450" dirty="0"/>
          </a:p>
        </p:txBody>
      </p:sp>
      <p:sp>
        <p:nvSpPr>
          <p:cNvPr id="25" name="Text 18"/>
          <p:cNvSpPr/>
          <p:nvPr/>
        </p:nvSpPr>
        <p:spPr>
          <a:xfrm>
            <a:off x="9509760" y="3035808"/>
            <a:ext cx="2212848" cy="548640"/>
          </a:xfrm>
          <a:prstGeom prst="rect">
            <a:avLst/>
          </a:prstGeom>
          <a:noFill/>
          <a:ln/>
        </p:spPr>
        <p:txBody>
          <a:bodyPr wrap="square" lIns="0" tIns="0" rIns="0" bIns="0" rtlCol="0" anchor="ctr"/>
          <a:lstStyle/>
          <a:p>
            <a:pPr indent="0" marL="0">
              <a:buNone/>
            </a:pPr>
            <a:r>
              <a:rPr lang="en-US" sz="1100" dirty="0">
                <a:solidFill>
                  <a:srgbClr val="8FD3D9"/>
                </a:solidFill>
                <a:latin typeface="Calibri" pitchFamily="34" charset="0"/>
                <a:ea typeface="Calibri" pitchFamily="34" charset="-122"/>
                <a:cs typeface="Calibri" pitchFamily="34" charset="-120"/>
              </a:rPr>
              <a:t>Email &amp; SMS at every stage</a:t>
            </a:r>
            <a:endParaRPr lang="en-US" sz="1100" dirty="0"/>
          </a:p>
        </p:txBody>
      </p:sp>
      <p:sp>
        <p:nvSpPr>
          <p:cNvPr id="26" name="Shape 19"/>
          <p:cNvSpPr/>
          <p:nvPr/>
        </p:nvSpPr>
        <p:spPr>
          <a:xfrm>
            <a:off x="640080" y="3840480"/>
            <a:ext cx="2670048" cy="2084832"/>
          </a:xfrm>
          <a:prstGeom prst="roundRect">
            <a:avLst>
              <a:gd name="adj" fmla="val 3509"/>
            </a:avLst>
          </a:prstGeom>
          <a:solidFill>
            <a:srgbClr val="0E9AA7"/>
          </a:solidFill>
          <a:ln/>
          <a:effectLst>
            <a:outerShdw sx="100000" sy="100000" kx="0" ky="0" algn="bl" rotWithShape="0" blurRad="101600" dist="38100" dir="5400000">
              <a:srgbClr val="1A2A3A">
                <a:alpha val="16000"/>
              </a:srgbClr>
            </a:outerShdw>
          </a:effectLst>
        </p:spPr>
      </p:sp>
      <p:sp>
        <p:nvSpPr>
          <p:cNvPr id="27" name="Shape 20"/>
          <p:cNvSpPr/>
          <p:nvPr/>
        </p:nvSpPr>
        <p:spPr>
          <a:xfrm>
            <a:off x="896112" y="4114800"/>
            <a:ext cx="713232" cy="713232"/>
          </a:xfrm>
          <a:prstGeom prst="ellipse">
            <a:avLst/>
          </a:prstGeom>
          <a:solidFill>
            <a:srgbClr val="FFFFFF">
              <a:alpha val="14000"/>
            </a:srgbClr>
          </a:solidFill>
          <a:ln/>
        </p:spPr>
      </p:sp>
      <p:pic>
        <p:nvPicPr>
          <p:cNvPr id="28" name="Image 5" descr="preencoded.png">    </p:cNvPr>
          <p:cNvPicPr>
            <a:picLocks noChangeAspect="1"/>
          </p:cNvPicPr>
          <p:nvPr/>
        </p:nvPicPr>
        <p:blipFill>
          <a:blip r:embed="rId6"/>
          <a:stretch>
            <a:fillRect/>
          </a:stretch>
        </p:blipFill>
        <p:spPr>
          <a:xfrm>
            <a:off x="1069848" y="4288536"/>
            <a:ext cx="365760" cy="365760"/>
          </a:xfrm>
          <a:prstGeom prst="rect">
            <a:avLst/>
          </a:prstGeom>
        </p:spPr>
      </p:pic>
      <p:sp>
        <p:nvSpPr>
          <p:cNvPr id="29" name="Text 21"/>
          <p:cNvSpPr/>
          <p:nvPr/>
        </p:nvSpPr>
        <p:spPr>
          <a:xfrm>
            <a:off x="896112" y="4937760"/>
            <a:ext cx="221284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QR-Code Pass</a:t>
            </a:r>
            <a:endParaRPr lang="en-US" sz="1450" dirty="0"/>
          </a:p>
        </p:txBody>
      </p:sp>
      <p:sp>
        <p:nvSpPr>
          <p:cNvPr id="30" name="Text 22"/>
          <p:cNvSpPr/>
          <p:nvPr/>
        </p:nvSpPr>
        <p:spPr>
          <a:xfrm>
            <a:off x="896112" y="5321808"/>
            <a:ext cx="2212848" cy="548640"/>
          </a:xfrm>
          <a:prstGeom prst="rect">
            <a:avLst/>
          </a:prstGeom>
          <a:noFill/>
          <a:ln/>
        </p:spPr>
        <p:txBody>
          <a:bodyPr wrap="square" lIns="0" tIns="0" rIns="0" bIns="0" rtlCol="0" anchor="ctr"/>
          <a:lstStyle/>
          <a:p>
            <a:pPr indent="0" marL="0">
              <a:buNone/>
            </a:pPr>
            <a:r>
              <a:rPr lang="en-US" sz="1100" dirty="0">
                <a:solidFill>
                  <a:srgbClr val="EAF7F8"/>
                </a:solidFill>
                <a:latin typeface="Calibri" pitchFamily="34" charset="0"/>
                <a:ea typeface="Calibri" pitchFamily="34" charset="-122"/>
                <a:cs typeface="Calibri" pitchFamily="34" charset="-120"/>
              </a:rPr>
              <a:t>Unique, contactless visitor pass</a:t>
            </a:r>
            <a:endParaRPr lang="en-US" sz="1100" dirty="0"/>
          </a:p>
        </p:txBody>
      </p:sp>
      <p:sp>
        <p:nvSpPr>
          <p:cNvPr id="31" name="Shape 23"/>
          <p:cNvSpPr/>
          <p:nvPr/>
        </p:nvSpPr>
        <p:spPr>
          <a:xfrm>
            <a:off x="3511296" y="3840480"/>
            <a:ext cx="2670048" cy="2084832"/>
          </a:xfrm>
          <a:prstGeom prst="roundRect">
            <a:avLst>
              <a:gd name="adj" fmla="val 3509"/>
            </a:avLst>
          </a:prstGeom>
          <a:solidFill>
            <a:srgbClr val="0E9AA7"/>
          </a:solidFill>
          <a:ln/>
          <a:effectLst>
            <a:outerShdw sx="100000" sy="100000" kx="0" ky="0" algn="bl" rotWithShape="0" blurRad="101600" dist="38100" dir="5400000">
              <a:srgbClr val="1A2A3A">
                <a:alpha val="16000"/>
              </a:srgbClr>
            </a:outerShdw>
          </a:effectLst>
        </p:spPr>
      </p:sp>
      <p:sp>
        <p:nvSpPr>
          <p:cNvPr id="32" name="Shape 24"/>
          <p:cNvSpPr/>
          <p:nvPr/>
        </p:nvSpPr>
        <p:spPr>
          <a:xfrm>
            <a:off x="3767328" y="4114800"/>
            <a:ext cx="713232" cy="713232"/>
          </a:xfrm>
          <a:prstGeom prst="ellipse">
            <a:avLst/>
          </a:prstGeom>
          <a:solidFill>
            <a:srgbClr val="FFFFFF">
              <a:alpha val="14000"/>
            </a:srgbClr>
          </a:solidFill>
          <a:ln/>
        </p:spPr>
      </p:sp>
      <p:pic>
        <p:nvPicPr>
          <p:cNvPr id="33" name="Image 6" descr="preencoded.png">    </p:cNvPr>
          <p:cNvPicPr>
            <a:picLocks noChangeAspect="1"/>
          </p:cNvPicPr>
          <p:nvPr/>
        </p:nvPicPr>
        <p:blipFill>
          <a:blip r:embed="rId7"/>
          <a:stretch>
            <a:fillRect/>
          </a:stretch>
        </p:blipFill>
        <p:spPr>
          <a:xfrm>
            <a:off x="3941064" y="4288536"/>
            <a:ext cx="365760" cy="365760"/>
          </a:xfrm>
          <a:prstGeom prst="rect">
            <a:avLst/>
          </a:prstGeom>
        </p:spPr>
      </p:pic>
      <p:sp>
        <p:nvSpPr>
          <p:cNvPr id="34" name="Text 25"/>
          <p:cNvSpPr/>
          <p:nvPr/>
        </p:nvSpPr>
        <p:spPr>
          <a:xfrm>
            <a:off x="3767328" y="4937760"/>
            <a:ext cx="221284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Digital Check-In/Out</a:t>
            </a:r>
            <a:endParaRPr lang="en-US" sz="1450" dirty="0"/>
          </a:p>
        </p:txBody>
      </p:sp>
      <p:sp>
        <p:nvSpPr>
          <p:cNvPr id="35" name="Text 26"/>
          <p:cNvSpPr/>
          <p:nvPr/>
        </p:nvSpPr>
        <p:spPr>
          <a:xfrm>
            <a:off x="3767328" y="5321808"/>
            <a:ext cx="2212848" cy="548640"/>
          </a:xfrm>
          <a:prstGeom prst="rect">
            <a:avLst/>
          </a:prstGeom>
          <a:noFill/>
          <a:ln/>
        </p:spPr>
        <p:txBody>
          <a:bodyPr wrap="square" lIns="0" tIns="0" rIns="0" bIns="0" rtlCol="0" anchor="ctr"/>
          <a:lstStyle/>
          <a:p>
            <a:pPr indent="0" marL="0">
              <a:buNone/>
            </a:pPr>
            <a:r>
              <a:rPr lang="en-US" sz="1100" dirty="0">
                <a:solidFill>
                  <a:srgbClr val="EAF7F8"/>
                </a:solidFill>
                <a:latin typeface="Calibri" pitchFamily="34" charset="0"/>
                <a:ea typeface="Calibri" pitchFamily="34" charset="-122"/>
                <a:cs typeface="Calibri" pitchFamily="34" charset="-120"/>
              </a:rPr>
              <a:t>Self-service kiosk or QR scan</a:t>
            </a:r>
            <a:endParaRPr lang="en-US" sz="1100" dirty="0"/>
          </a:p>
        </p:txBody>
      </p:sp>
      <p:sp>
        <p:nvSpPr>
          <p:cNvPr id="36" name="Shape 27"/>
          <p:cNvSpPr/>
          <p:nvPr/>
        </p:nvSpPr>
        <p:spPr>
          <a:xfrm>
            <a:off x="6382512" y="3840480"/>
            <a:ext cx="2670048" cy="2084832"/>
          </a:xfrm>
          <a:prstGeom prst="roundRect">
            <a:avLst>
              <a:gd name="adj" fmla="val 3509"/>
            </a:avLst>
          </a:prstGeom>
          <a:solidFill>
            <a:srgbClr val="0E9AA7"/>
          </a:solidFill>
          <a:ln/>
          <a:effectLst>
            <a:outerShdw sx="100000" sy="100000" kx="0" ky="0" algn="bl" rotWithShape="0" blurRad="101600" dist="38100" dir="5400000">
              <a:srgbClr val="1A2A3A">
                <a:alpha val="16000"/>
              </a:srgbClr>
            </a:outerShdw>
          </a:effectLst>
        </p:spPr>
      </p:sp>
      <p:sp>
        <p:nvSpPr>
          <p:cNvPr id="37" name="Shape 28"/>
          <p:cNvSpPr/>
          <p:nvPr/>
        </p:nvSpPr>
        <p:spPr>
          <a:xfrm>
            <a:off x="6638544" y="4114800"/>
            <a:ext cx="713232" cy="713232"/>
          </a:xfrm>
          <a:prstGeom prst="ellipse">
            <a:avLst/>
          </a:prstGeom>
          <a:solidFill>
            <a:srgbClr val="FFFFFF">
              <a:alpha val="14000"/>
            </a:srgbClr>
          </a:solidFill>
          <a:ln/>
        </p:spPr>
      </p:sp>
      <p:pic>
        <p:nvPicPr>
          <p:cNvPr id="38" name="Image 7" descr="preencoded.png">    </p:cNvPr>
          <p:cNvPicPr>
            <a:picLocks noChangeAspect="1"/>
          </p:cNvPicPr>
          <p:nvPr/>
        </p:nvPicPr>
        <p:blipFill>
          <a:blip r:embed="rId8"/>
          <a:stretch>
            <a:fillRect/>
          </a:stretch>
        </p:blipFill>
        <p:spPr>
          <a:xfrm>
            <a:off x="6812280" y="4288536"/>
            <a:ext cx="365760" cy="365760"/>
          </a:xfrm>
          <a:prstGeom prst="rect">
            <a:avLst/>
          </a:prstGeom>
        </p:spPr>
      </p:pic>
      <p:sp>
        <p:nvSpPr>
          <p:cNvPr id="39" name="Text 29"/>
          <p:cNvSpPr/>
          <p:nvPr/>
        </p:nvSpPr>
        <p:spPr>
          <a:xfrm>
            <a:off x="6638544" y="4937760"/>
            <a:ext cx="221284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Real-Time Tracking</a:t>
            </a:r>
            <a:endParaRPr lang="en-US" sz="1450" dirty="0"/>
          </a:p>
        </p:txBody>
      </p:sp>
      <p:sp>
        <p:nvSpPr>
          <p:cNvPr id="40" name="Text 30"/>
          <p:cNvSpPr/>
          <p:nvPr/>
        </p:nvSpPr>
        <p:spPr>
          <a:xfrm>
            <a:off x="6638544" y="5321808"/>
            <a:ext cx="2212848" cy="548640"/>
          </a:xfrm>
          <a:prstGeom prst="rect">
            <a:avLst/>
          </a:prstGeom>
          <a:noFill/>
          <a:ln/>
        </p:spPr>
        <p:txBody>
          <a:bodyPr wrap="square" lIns="0" tIns="0" rIns="0" bIns="0" rtlCol="0" anchor="ctr"/>
          <a:lstStyle/>
          <a:p>
            <a:pPr indent="0" marL="0">
              <a:buNone/>
            </a:pPr>
            <a:r>
              <a:rPr lang="en-US" sz="1100" dirty="0">
                <a:solidFill>
                  <a:srgbClr val="EAF7F8"/>
                </a:solidFill>
                <a:latin typeface="Calibri" pitchFamily="34" charset="0"/>
                <a:ea typeface="Calibri" pitchFamily="34" charset="-122"/>
                <a:cs typeface="Calibri" pitchFamily="34" charset="-120"/>
              </a:rPr>
              <a:t>Live on-site list + over-stay alerts</a:t>
            </a:r>
            <a:endParaRPr lang="en-US" sz="1100" dirty="0"/>
          </a:p>
        </p:txBody>
      </p:sp>
      <p:sp>
        <p:nvSpPr>
          <p:cNvPr id="41" name="Shape 31"/>
          <p:cNvSpPr/>
          <p:nvPr/>
        </p:nvSpPr>
        <p:spPr>
          <a:xfrm>
            <a:off x="9253728" y="3840480"/>
            <a:ext cx="2670048" cy="2084832"/>
          </a:xfrm>
          <a:prstGeom prst="roundRect">
            <a:avLst>
              <a:gd name="adj" fmla="val 3509"/>
            </a:avLst>
          </a:prstGeom>
          <a:solidFill>
            <a:srgbClr val="0E9AA7"/>
          </a:solidFill>
          <a:ln/>
          <a:effectLst>
            <a:outerShdw sx="100000" sy="100000" kx="0" ky="0" algn="bl" rotWithShape="0" blurRad="101600" dist="38100" dir="5400000">
              <a:srgbClr val="1A2A3A">
                <a:alpha val="16000"/>
              </a:srgbClr>
            </a:outerShdw>
          </a:effectLst>
        </p:spPr>
      </p:sp>
      <p:sp>
        <p:nvSpPr>
          <p:cNvPr id="42" name="Shape 32"/>
          <p:cNvSpPr/>
          <p:nvPr/>
        </p:nvSpPr>
        <p:spPr>
          <a:xfrm>
            <a:off x="9509760" y="4114800"/>
            <a:ext cx="713232" cy="713232"/>
          </a:xfrm>
          <a:prstGeom prst="ellipse">
            <a:avLst/>
          </a:prstGeom>
          <a:solidFill>
            <a:srgbClr val="FFFFFF">
              <a:alpha val="14000"/>
            </a:srgbClr>
          </a:solidFill>
          <a:ln/>
        </p:spPr>
      </p:sp>
      <p:pic>
        <p:nvPicPr>
          <p:cNvPr id="43" name="Image 8" descr="preencoded.png">    </p:cNvPr>
          <p:cNvPicPr>
            <a:picLocks noChangeAspect="1"/>
          </p:cNvPicPr>
          <p:nvPr/>
        </p:nvPicPr>
        <p:blipFill>
          <a:blip r:embed="rId9"/>
          <a:stretch>
            <a:fillRect/>
          </a:stretch>
        </p:blipFill>
        <p:spPr>
          <a:xfrm>
            <a:off x="9683496" y="4288536"/>
            <a:ext cx="365760" cy="365760"/>
          </a:xfrm>
          <a:prstGeom prst="rect">
            <a:avLst/>
          </a:prstGeom>
        </p:spPr>
      </p:pic>
      <p:sp>
        <p:nvSpPr>
          <p:cNvPr id="44" name="Text 33"/>
          <p:cNvSpPr/>
          <p:nvPr/>
        </p:nvSpPr>
        <p:spPr>
          <a:xfrm>
            <a:off x="9509760" y="4937760"/>
            <a:ext cx="221284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Dashboards</a:t>
            </a:r>
            <a:endParaRPr lang="en-US" sz="1450" dirty="0"/>
          </a:p>
        </p:txBody>
      </p:sp>
      <p:sp>
        <p:nvSpPr>
          <p:cNvPr id="45" name="Text 34"/>
          <p:cNvSpPr/>
          <p:nvPr/>
        </p:nvSpPr>
        <p:spPr>
          <a:xfrm>
            <a:off x="9509760" y="5321808"/>
            <a:ext cx="2212848" cy="548640"/>
          </a:xfrm>
          <a:prstGeom prst="rect">
            <a:avLst/>
          </a:prstGeom>
          <a:noFill/>
          <a:ln/>
        </p:spPr>
        <p:txBody>
          <a:bodyPr wrap="square" lIns="0" tIns="0" rIns="0" bIns="0" rtlCol="0" anchor="ctr"/>
          <a:lstStyle/>
          <a:p>
            <a:pPr indent="0" marL="0">
              <a:buNone/>
            </a:pPr>
            <a:r>
              <a:rPr lang="en-US" sz="1100" dirty="0">
                <a:solidFill>
                  <a:srgbClr val="EAF7F8"/>
                </a:solidFill>
                <a:latin typeface="Calibri" pitchFamily="34" charset="0"/>
                <a:ea typeface="Calibri" pitchFamily="34" charset="-122"/>
                <a:cs typeface="Calibri" pitchFamily="34" charset="-120"/>
              </a:rPr>
              <a:t>Executive, operations &amp; security views</a:t>
            </a:r>
            <a:endParaRPr lang="en-US" sz="1100" dirty="0"/>
          </a:p>
        </p:txBody>
      </p:sp>
      <p:sp>
        <p:nvSpPr>
          <p:cNvPr id="46" name="Text 35"/>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47" name="Text 36"/>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THE NEW JOURNEY</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Future Process (To-Be)</a:t>
            </a:r>
            <a:endParaRPr lang="en-US" sz="2800" dirty="0"/>
          </a:p>
        </p:txBody>
      </p:sp>
      <p:sp>
        <p:nvSpPr>
          <p:cNvPr id="6" name="Shape 3"/>
          <p:cNvSpPr/>
          <p:nvPr/>
        </p:nvSpPr>
        <p:spPr>
          <a:xfrm>
            <a:off x="646024" y="2286000"/>
            <a:ext cx="1572768" cy="1417320"/>
          </a:xfrm>
          <a:prstGeom prst="roundRect">
            <a:avLst>
              <a:gd name="adj" fmla="val 5161"/>
            </a:avLst>
          </a:prstGeom>
          <a:solidFill>
            <a:srgbClr val="0E9AA7"/>
          </a:solidFill>
          <a:ln/>
          <a:effectLst>
            <a:outerShdw sx="100000" sy="100000" kx="0" ky="0" algn="bl" rotWithShape="0" blurRad="101600" dist="38100" dir="5400000">
              <a:srgbClr val="1A2A3A">
                <a:alpha val="16000"/>
              </a:srgbClr>
            </a:outerShdw>
          </a:effectLst>
        </p:spPr>
      </p:sp>
      <p:sp>
        <p:nvSpPr>
          <p:cNvPr id="7" name="Shape 4"/>
          <p:cNvSpPr/>
          <p:nvPr/>
        </p:nvSpPr>
        <p:spPr>
          <a:xfrm>
            <a:off x="1130656" y="2487168"/>
            <a:ext cx="603504" cy="603504"/>
          </a:xfrm>
          <a:prstGeom prst="ellipse">
            <a:avLst/>
          </a:prstGeom>
          <a:solidFill>
            <a:srgbClr val="FFFFFF">
              <a:alpha val="16000"/>
            </a:srgbClr>
          </a:solidFill>
          <a:ln/>
        </p:spPr>
      </p:sp>
      <p:pic>
        <p:nvPicPr>
          <p:cNvPr id="8" name="Image 1" descr="preencoded.png">    </p:cNvPr>
          <p:cNvPicPr>
            <a:picLocks noChangeAspect="1"/>
          </p:cNvPicPr>
          <p:nvPr/>
        </p:nvPicPr>
        <p:blipFill>
          <a:blip r:embed="rId2"/>
          <a:stretch>
            <a:fillRect/>
          </a:stretch>
        </p:blipFill>
        <p:spPr>
          <a:xfrm>
            <a:off x="1267816" y="2624328"/>
            <a:ext cx="329184" cy="329184"/>
          </a:xfrm>
          <a:prstGeom prst="rect">
            <a:avLst/>
          </a:prstGeom>
        </p:spPr>
      </p:pic>
      <p:sp>
        <p:nvSpPr>
          <p:cNvPr id="9" name="Text 5"/>
          <p:cNvSpPr/>
          <p:nvPr/>
        </p:nvSpPr>
        <p:spPr>
          <a:xfrm>
            <a:off x="646024" y="3127248"/>
            <a:ext cx="1572768"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Pre-Register</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&amp; Schedule</a:t>
            </a:r>
            <a:endParaRPr lang="en-US" sz="1150" dirty="0"/>
          </a:p>
        </p:txBody>
      </p:sp>
      <p:sp>
        <p:nvSpPr>
          <p:cNvPr id="10" name="Text 6"/>
          <p:cNvSpPr/>
          <p:nvPr/>
        </p:nvSpPr>
        <p:spPr>
          <a:xfrm>
            <a:off x="755752" y="2377440"/>
            <a:ext cx="274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Shape 7"/>
          <p:cNvSpPr/>
          <p:nvPr/>
        </p:nvSpPr>
        <p:spPr>
          <a:xfrm>
            <a:off x="2255368" y="2994660"/>
            <a:ext cx="219456" cy="0"/>
          </a:xfrm>
          <a:prstGeom prst="line">
            <a:avLst/>
          </a:prstGeom>
          <a:noFill/>
          <a:ln w="38100">
            <a:solidFill>
              <a:srgbClr val="0F2D52"/>
            </a:solidFill>
            <a:prstDash val="solid"/>
            <a:tailEnd type="triangle"/>
          </a:ln>
        </p:spPr>
      </p:sp>
      <p:sp>
        <p:nvSpPr>
          <p:cNvPr id="12" name="Shape 8"/>
          <p:cNvSpPr/>
          <p:nvPr/>
        </p:nvSpPr>
        <p:spPr>
          <a:xfrm>
            <a:off x="2511400" y="2286000"/>
            <a:ext cx="1572768" cy="1417320"/>
          </a:xfrm>
          <a:prstGeom prst="roundRect">
            <a:avLst>
              <a:gd name="adj" fmla="val 5161"/>
            </a:avLst>
          </a:prstGeom>
          <a:solidFill>
            <a:srgbClr val="0E9AA7"/>
          </a:solidFill>
          <a:ln/>
          <a:effectLst>
            <a:outerShdw sx="100000" sy="100000" kx="0" ky="0" algn="bl" rotWithShape="0" blurRad="101600" dist="38100" dir="5400000">
              <a:srgbClr val="1A2A3A">
                <a:alpha val="16000"/>
              </a:srgbClr>
            </a:outerShdw>
          </a:effectLst>
        </p:spPr>
      </p:sp>
      <p:sp>
        <p:nvSpPr>
          <p:cNvPr id="13" name="Shape 9"/>
          <p:cNvSpPr/>
          <p:nvPr/>
        </p:nvSpPr>
        <p:spPr>
          <a:xfrm>
            <a:off x="2996032" y="2487168"/>
            <a:ext cx="603504" cy="603504"/>
          </a:xfrm>
          <a:prstGeom prst="ellipse">
            <a:avLst/>
          </a:prstGeom>
          <a:solidFill>
            <a:srgbClr val="FFFFFF">
              <a:alpha val="16000"/>
            </a:srgbClr>
          </a:solidFill>
          <a:ln/>
        </p:spPr>
      </p:sp>
      <p:pic>
        <p:nvPicPr>
          <p:cNvPr id="14" name="Image 2" descr="preencoded.png">    </p:cNvPr>
          <p:cNvPicPr>
            <a:picLocks noChangeAspect="1"/>
          </p:cNvPicPr>
          <p:nvPr/>
        </p:nvPicPr>
        <p:blipFill>
          <a:blip r:embed="rId3"/>
          <a:stretch>
            <a:fillRect/>
          </a:stretch>
        </p:blipFill>
        <p:spPr>
          <a:xfrm>
            <a:off x="3133192" y="2624328"/>
            <a:ext cx="329184" cy="329184"/>
          </a:xfrm>
          <a:prstGeom prst="rect">
            <a:avLst/>
          </a:prstGeom>
        </p:spPr>
      </p:pic>
      <p:sp>
        <p:nvSpPr>
          <p:cNvPr id="15" name="Text 10"/>
          <p:cNvSpPr/>
          <p:nvPr/>
        </p:nvSpPr>
        <p:spPr>
          <a:xfrm>
            <a:off x="2511400" y="3127248"/>
            <a:ext cx="1572768"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Auto</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Approval</a:t>
            </a:r>
            <a:endParaRPr lang="en-US" sz="1150" dirty="0"/>
          </a:p>
        </p:txBody>
      </p:sp>
      <p:sp>
        <p:nvSpPr>
          <p:cNvPr id="16" name="Text 11"/>
          <p:cNvSpPr/>
          <p:nvPr/>
        </p:nvSpPr>
        <p:spPr>
          <a:xfrm>
            <a:off x="2621128" y="2377440"/>
            <a:ext cx="274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Shape 12"/>
          <p:cNvSpPr/>
          <p:nvPr/>
        </p:nvSpPr>
        <p:spPr>
          <a:xfrm>
            <a:off x="4120744" y="2994660"/>
            <a:ext cx="219456" cy="0"/>
          </a:xfrm>
          <a:prstGeom prst="line">
            <a:avLst/>
          </a:prstGeom>
          <a:noFill/>
          <a:ln w="38100">
            <a:solidFill>
              <a:srgbClr val="0F2D52"/>
            </a:solidFill>
            <a:prstDash val="solid"/>
            <a:tailEnd type="triangle"/>
          </a:ln>
        </p:spPr>
      </p:sp>
      <p:sp>
        <p:nvSpPr>
          <p:cNvPr id="18" name="Shape 13"/>
          <p:cNvSpPr/>
          <p:nvPr/>
        </p:nvSpPr>
        <p:spPr>
          <a:xfrm>
            <a:off x="4376776" y="2286000"/>
            <a:ext cx="1572768" cy="1417320"/>
          </a:xfrm>
          <a:prstGeom prst="roundRect">
            <a:avLst>
              <a:gd name="adj" fmla="val 5161"/>
            </a:avLst>
          </a:prstGeom>
          <a:solidFill>
            <a:srgbClr val="0E9AA7"/>
          </a:solidFill>
          <a:ln/>
          <a:effectLst>
            <a:outerShdw sx="100000" sy="100000" kx="0" ky="0" algn="bl" rotWithShape="0" blurRad="101600" dist="38100" dir="5400000">
              <a:srgbClr val="1A2A3A">
                <a:alpha val="16000"/>
              </a:srgbClr>
            </a:outerShdw>
          </a:effectLst>
        </p:spPr>
      </p:sp>
      <p:sp>
        <p:nvSpPr>
          <p:cNvPr id="19" name="Shape 14"/>
          <p:cNvSpPr/>
          <p:nvPr/>
        </p:nvSpPr>
        <p:spPr>
          <a:xfrm>
            <a:off x="4861408" y="2487168"/>
            <a:ext cx="603504" cy="603504"/>
          </a:xfrm>
          <a:prstGeom prst="ellipse">
            <a:avLst/>
          </a:prstGeom>
          <a:solidFill>
            <a:srgbClr val="FFFFFF">
              <a:alpha val="16000"/>
            </a:srgbClr>
          </a:solidFill>
          <a:ln/>
        </p:spPr>
      </p:sp>
      <p:pic>
        <p:nvPicPr>
          <p:cNvPr id="20" name="Image 3" descr="preencoded.png">    </p:cNvPr>
          <p:cNvPicPr>
            <a:picLocks noChangeAspect="1"/>
          </p:cNvPicPr>
          <p:nvPr/>
        </p:nvPicPr>
        <p:blipFill>
          <a:blip r:embed="rId4"/>
          <a:stretch>
            <a:fillRect/>
          </a:stretch>
        </p:blipFill>
        <p:spPr>
          <a:xfrm>
            <a:off x="4998568" y="2624328"/>
            <a:ext cx="329184" cy="329184"/>
          </a:xfrm>
          <a:prstGeom prst="rect">
            <a:avLst/>
          </a:prstGeom>
        </p:spPr>
      </p:pic>
      <p:sp>
        <p:nvSpPr>
          <p:cNvPr id="21" name="Text 15"/>
          <p:cNvSpPr/>
          <p:nvPr/>
        </p:nvSpPr>
        <p:spPr>
          <a:xfrm>
            <a:off x="4376776" y="3127248"/>
            <a:ext cx="1572768"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QR Pass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Issued</a:t>
            </a:r>
            <a:endParaRPr lang="en-US" sz="1150" dirty="0"/>
          </a:p>
        </p:txBody>
      </p:sp>
      <p:sp>
        <p:nvSpPr>
          <p:cNvPr id="22" name="Text 16"/>
          <p:cNvSpPr/>
          <p:nvPr/>
        </p:nvSpPr>
        <p:spPr>
          <a:xfrm>
            <a:off x="4486504" y="2377440"/>
            <a:ext cx="274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Shape 17"/>
          <p:cNvSpPr/>
          <p:nvPr/>
        </p:nvSpPr>
        <p:spPr>
          <a:xfrm>
            <a:off x="5986120" y="2994660"/>
            <a:ext cx="219456" cy="0"/>
          </a:xfrm>
          <a:prstGeom prst="line">
            <a:avLst/>
          </a:prstGeom>
          <a:noFill/>
          <a:ln w="38100">
            <a:solidFill>
              <a:srgbClr val="0F2D52"/>
            </a:solidFill>
            <a:prstDash val="solid"/>
            <a:tailEnd type="triangle"/>
          </a:ln>
        </p:spPr>
      </p:sp>
      <p:sp>
        <p:nvSpPr>
          <p:cNvPr id="24" name="Shape 18"/>
          <p:cNvSpPr/>
          <p:nvPr/>
        </p:nvSpPr>
        <p:spPr>
          <a:xfrm>
            <a:off x="6242152" y="2286000"/>
            <a:ext cx="1572768" cy="1417320"/>
          </a:xfrm>
          <a:prstGeom prst="roundRect">
            <a:avLst>
              <a:gd name="adj" fmla="val 5161"/>
            </a:avLst>
          </a:prstGeom>
          <a:solidFill>
            <a:srgbClr val="0E9AA7"/>
          </a:solidFill>
          <a:ln/>
          <a:effectLst>
            <a:outerShdw sx="100000" sy="100000" kx="0" ky="0" algn="bl" rotWithShape="0" blurRad="101600" dist="38100" dir="5400000">
              <a:srgbClr val="1A2A3A">
                <a:alpha val="16000"/>
              </a:srgbClr>
            </a:outerShdw>
          </a:effectLst>
        </p:spPr>
      </p:sp>
      <p:sp>
        <p:nvSpPr>
          <p:cNvPr id="25" name="Shape 19"/>
          <p:cNvSpPr/>
          <p:nvPr/>
        </p:nvSpPr>
        <p:spPr>
          <a:xfrm>
            <a:off x="6726784" y="2487168"/>
            <a:ext cx="603504" cy="603504"/>
          </a:xfrm>
          <a:prstGeom prst="ellipse">
            <a:avLst/>
          </a:prstGeom>
          <a:solidFill>
            <a:srgbClr val="FFFFFF">
              <a:alpha val="16000"/>
            </a:srgbClr>
          </a:solidFill>
          <a:ln/>
        </p:spPr>
      </p:sp>
      <p:pic>
        <p:nvPicPr>
          <p:cNvPr id="26" name="Image 4" descr="preencoded.png">    </p:cNvPr>
          <p:cNvPicPr>
            <a:picLocks noChangeAspect="1"/>
          </p:cNvPicPr>
          <p:nvPr/>
        </p:nvPicPr>
        <p:blipFill>
          <a:blip r:embed="rId5"/>
          <a:stretch>
            <a:fillRect/>
          </a:stretch>
        </p:blipFill>
        <p:spPr>
          <a:xfrm>
            <a:off x="6863944" y="2624328"/>
            <a:ext cx="329184" cy="329184"/>
          </a:xfrm>
          <a:prstGeom prst="rect">
            <a:avLst/>
          </a:prstGeom>
        </p:spPr>
      </p:pic>
      <p:sp>
        <p:nvSpPr>
          <p:cNvPr id="27" name="Text 20"/>
          <p:cNvSpPr/>
          <p:nvPr/>
        </p:nvSpPr>
        <p:spPr>
          <a:xfrm>
            <a:off x="6242152" y="3127248"/>
            <a:ext cx="1572768"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Self</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Check-In</a:t>
            </a:r>
            <a:endParaRPr lang="en-US" sz="1150" dirty="0"/>
          </a:p>
        </p:txBody>
      </p:sp>
      <p:sp>
        <p:nvSpPr>
          <p:cNvPr id="28" name="Text 21"/>
          <p:cNvSpPr/>
          <p:nvPr/>
        </p:nvSpPr>
        <p:spPr>
          <a:xfrm>
            <a:off x="6351880" y="2377440"/>
            <a:ext cx="274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Shape 22"/>
          <p:cNvSpPr/>
          <p:nvPr/>
        </p:nvSpPr>
        <p:spPr>
          <a:xfrm>
            <a:off x="7851496" y="2994660"/>
            <a:ext cx="219456" cy="0"/>
          </a:xfrm>
          <a:prstGeom prst="line">
            <a:avLst/>
          </a:prstGeom>
          <a:noFill/>
          <a:ln w="38100">
            <a:solidFill>
              <a:srgbClr val="0F2D52"/>
            </a:solidFill>
            <a:prstDash val="solid"/>
            <a:tailEnd type="triangle"/>
          </a:ln>
        </p:spPr>
      </p:sp>
      <p:sp>
        <p:nvSpPr>
          <p:cNvPr id="30" name="Shape 23"/>
          <p:cNvSpPr/>
          <p:nvPr/>
        </p:nvSpPr>
        <p:spPr>
          <a:xfrm>
            <a:off x="8107528" y="2286000"/>
            <a:ext cx="1572768" cy="1417320"/>
          </a:xfrm>
          <a:prstGeom prst="roundRect">
            <a:avLst>
              <a:gd name="adj" fmla="val 5161"/>
            </a:avLst>
          </a:prstGeom>
          <a:solidFill>
            <a:srgbClr val="0E9AA7"/>
          </a:solidFill>
          <a:ln/>
          <a:effectLst>
            <a:outerShdw sx="100000" sy="100000" kx="0" ky="0" algn="bl" rotWithShape="0" blurRad="101600" dist="38100" dir="5400000">
              <a:srgbClr val="1A2A3A">
                <a:alpha val="16000"/>
              </a:srgbClr>
            </a:outerShdw>
          </a:effectLst>
        </p:spPr>
      </p:sp>
      <p:sp>
        <p:nvSpPr>
          <p:cNvPr id="31" name="Shape 24"/>
          <p:cNvSpPr/>
          <p:nvPr/>
        </p:nvSpPr>
        <p:spPr>
          <a:xfrm>
            <a:off x="8592160" y="2487168"/>
            <a:ext cx="603504" cy="603504"/>
          </a:xfrm>
          <a:prstGeom prst="ellipse">
            <a:avLst/>
          </a:prstGeom>
          <a:solidFill>
            <a:srgbClr val="FFFFFF">
              <a:alpha val="16000"/>
            </a:srgbClr>
          </a:solidFill>
          <a:ln/>
        </p:spPr>
      </p:sp>
      <p:pic>
        <p:nvPicPr>
          <p:cNvPr id="32" name="Image 5" descr="preencoded.png">    </p:cNvPr>
          <p:cNvPicPr>
            <a:picLocks noChangeAspect="1"/>
          </p:cNvPicPr>
          <p:nvPr/>
        </p:nvPicPr>
        <p:blipFill>
          <a:blip r:embed="rId6"/>
          <a:stretch>
            <a:fillRect/>
          </a:stretch>
        </p:blipFill>
        <p:spPr>
          <a:xfrm>
            <a:off x="8729320" y="2624328"/>
            <a:ext cx="329184" cy="329184"/>
          </a:xfrm>
          <a:prstGeom prst="rect">
            <a:avLst/>
          </a:prstGeom>
        </p:spPr>
      </p:pic>
      <p:sp>
        <p:nvSpPr>
          <p:cNvPr id="33" name="Text 25"/>
          <p:cNvSpPr/>
          <p:nvPr/>
        </p:nvSpPr>
        <p:spPr>
          <a:xfrm>
            <a:off x="8107528" y="3127248"/>
            <a:ext cx="1572768"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Real-Time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Tracking</a:t>
            </a:r>
            <a:endParaRPr lang="en-US" sz="1150" dirty="0"/>
          </a:p>
        </p:txBody>
      </p:sp>
      <p:sp>
        <p:nvSpPr>
          <p:cNvPr id="34" name="Text 26"/>
          <p:cNvSpPr/>
          <p:nvPr/>
        </p:nvSpPr>
        <p:spPr>
          <a:xfrm>
            <a:off x="8217256" y="2377440"/>
            <a:ext cx="274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5" name="Shape 27"/>
          <p:cNvSpPr/>
          <p:nvPr/>
        </p:nvSpPr>
        <p:spPr>
          <a:xfrm>
            <a:off x="9716872" y="2994660"/>
            <a:ext cx="219456" cy="0"/>
          </a:xfrm>
          <a:prstGeom prst="line">
            <a:avLst/>
          </a:prstGeom>
          <a:noFill/>
          <a:ln w="38100">
            <a:solidFill>
              <a:srgbClr val="0F2D52"/>
            </a:solidFill>
            <a:prstDash val="solid"/>
            <a:tailEnd type="triangle"/>
          </a:ln>
        </p:spPr>
      </p:sp>
      <p:sp>
        <p:nvSpPr>
          <p:cNvPr id="36" name="Shape 28"/>
          <p:cNvSpPr/>
          <p:nvPr/>
        </p:nvSpPr>
        <p:spPr>
          <a:xfrm>
            <a:off x="9972904" y="2286000"/>
            <a:ext cx="1572768" cy="1417320"/>
          </a:xfrm>
          <a:prstGeom prst="roundRect">
            <a:avLst>
              <a:gd name="adj" fmla="val 5161"/>
            </a:avLst>
          </a:prstGeom>
          <a:solidFill>
            <a:srgbClr val="0E9AA7"/>
          </a:solidFill>
          <a:ln/>
          <a:effectLst>
            <a:outerShdw sx="100000" sy="100000" kx="0" ky="0" algn="bl" rotWithShape="0" blurRad="101600" dist="38100" dir="5400000">
              <a:srgbClr val="1A2A3A">
                <a:alpha val="16000"/>
              </a:srgbClr>
            </a:outerShdw>
          </a:effectLst>
        </p:spPr>
      </p:sp>
      <p:sp>
        <p:nvSpPr>
          <p:cNvPr id="37" name="Shape 29"/>
          <p:cNvSpPr/>
          <p:nvPr/>
        </p:nvSpPr>
        <p:spPr>
          <a:xfrm>
            <a:off x="10457536" y="2487168"/>
            <a:ext cx="603504" cy="603504"/>
          </a:xfrm>
          <a:prstGeom prst="ellipse">
            <a:avLst/>
          </a:prstGeom>
          <a:solidFill>
            <a:srgbClr val="FFFFFF">
              <a:alpha val="16000"/>
            </a:srgbClr>
          </a:solidFill>
          <a:ln/>
        </p:spPr>
      </p:sp>
      <p:pic>
        <p:nvPicPr>
          <p:cNvPr id="38" name="Image 6" descr="preencoded.png">    </p:cNvPr>
          <p:cNvPicPr>
            <a:picLocks noChangeAspect="1"/>
          </p:cNvPicPr>
          <p:nvPr/>
        </p:nvPicPr>
        <p:blipFill>
          <a:blip r:embed="rId7"/>
          <a:stretch>
            <a:fillRect/>
          </a:stretch>
        </p:blipFill>
        <p:spPr>
          <a:xfrm>
            <a:off x="10594696" y="2624328"/>
            <a:ext cx="329184" cy="329184"/>
          </a:xfrm>
          <a:prstGeom prst="rect">
            <a:avLst/>
          </a:prstGeom>
        </p:spPr>
      </p:pic>
      <p:sp>
        <p:nvSpPr>
          <p:cNvPr id="39" name="Text 30"/>
          <p:cNvSpPr/>
          <p:nvPr/>
        </p:nvSpPr>
        <p:spPr>
          <a:xfrm>
            <a:off x="9972904" y="3127248"/>
            <a:ext cx="1572768"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Check-Out</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&amp; Feedback</a:t>
            </a:r>
            <a:endParaRPr lang="en-US" sz="1150" dirty="0"/>
          </a:p>
        </p:txBody>
      </p:sp>
      <p:sp>
        <p:nvSpPr>
          <p:cNvPr id="40" name="Text 31"/>
          <p:cNvSpPr/>
          <p:nvPr/>
        </p:nvSpPr>
        <p:spPr>
          <a:xfrm>
            <a:off x="10082632" y="2377440"/>
            <a:ext cx="274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1" name="Shape 32"/>
          <p:cNvSpPr/>
          <p:nvPr/>
        </p:nvSpPr>
        <p:spPr>
          <a:xfrm>
            <a:off x="710032" y="4434840"/>
            <a:ext cx="2542032" cy="640080"/>
          </a:xfrm>
          <a:prstGeom prst="roundRect">
            <a:avLst>
              <a:gd name="adj" fmla="val 14286"/>
            </a:avLst>
          </a:prstGeom>
          <a:solidFill>
            <a:srgbClr val="F4F8FC"/>
          </a:solidFill>
          <a:ln/>
          <a:effectLst>
            <a:outerShdw sx="100000" sy="100000" kx="0" ky="0" algn="bl" rotWithShape="0" blurRad="101600" dist="38100" dir="5400000">
              <a:srgbClr val="1A2A3A">
                <a:alpha val="16000"/>
              </a:srgbClr>
            </a:outerShdw>
          </a:effectLst>
        </p:spPr>
      </p:sp>
      <p:pic>
        <p:nvPicPr>
          <p:cNvPr id="42" name="Image 7" descr="preencoded.png">    </p:cNvPr>
          <p:cNvPicPr>
            <a:picLocks noChangeAspect="1"/>
          </p:cNvPicPr>
          <p:nvPr/>
        </p:nvPicPr>
        <p:blipFill>
          <a:blip r:embed="rId8"/>
          <a:stretch>
            <a:fillRect/>
          </a:stretch>
        </p:blipFill>
        <p:spPr>
          <a:xfrm>
            <a:off x="938632" y="4626864"/>
            <a:ext cx="256032" cy="256032"/>
          </a:xfrm>
          <a:prstGeom prst="rect">
            <a:avLst/>
          </a:prstGeom>
        </p:spPr>
      </p:pic>
      <p:sp>
        <p:nvSpPr>
          <p:cNvPr id="43" name="Text 33"/>
          <p:cNvSpPr/>
          <p:nvPr/>
        </p:nvSpPr>
        <p:spPr>
          <a:xfrm>
            <a:off x="1276960" y="4434840"/>
            <a:ext cx="1901952" cy="640080"/>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Mostly automated</a:t>
            </a:r>
            <a:endParaRPr lang="en-US" sz="1250" dirty="0"/>
          </a:p>
        </p:txBody>
      </p:sp>
      <p:sp>
        <p:nvSpPr>
          <p:cNvPr id="44" name="Shape 34"/>
          <p:cNvSpPr/>
          <p:nvPr/>
        </p:nvSpPr>
        <p:spPr>
          <a:xfrm>
            <a:off x="3453232" y="4434840"/>
            <a:ext cx="2542032" cy="640080"/>
          </a:xfrm>
          <a:prstGeom prst="roundRect">
            <a:avLst>
              <a:gd name="adj" fmla="val 14286"/>
            </a:avLst>
          </a:prstGeom>
          <a:solidFill>
            <a:srgbClr val="F4F8FC"/>
          </a:solidFill>
          <a:ln/>
          <a:effectLst>
            <a:outerShdw sx="100000" sy="100000" kx="0" ky="0" algn="bl" rotWithShape="0" blurRad="101600" dist="38100" dir="5400000">
              <a:srgbClr val="1A2A3A">
                <a:alpha val="16000"/>
              </a:srgbClr>
            </a:outerShdw>
          </a:effectLst>
        </p:spPr>
      </p:sp>
      <p:pic>
        <p:nvPicPr>
          <p:cNvPr id="45" name="Image 8" descr="preencoded.png">    </p:cNvPr>
          <p:cNvPicPr>
            <a:picLocks noChangeAspect="1"/>
          </p:cNvPicPr>
          <p:nvPr/>
        </p:nvPicPr>
        <p:blipFill>
          <a:blip r:embed="rId9"/>
          <a:stretch>
            <a:fillRect/>
          </a:stretch>
        </p:blipFill>
        <p:spPr>
          <a:xfrm>
            <a:off x="3681832" y="4626864"/>
            <a:ext cx="256032" cy="256032"/>
          </a:xfrm>
          <a:prstGeom prst="rect">
            <a:avLst/>
          </a:prstGeom>
        </p:spPr>
      </p:pic>
      <p:sp>
        <p:nvSpPr>
          <p:cNvPr id="46" name="Text 35"/>
          <p:cNvSpPr/>
          <p:nvPr/>
        </p:nvSpPr>
        <p:spPr>
          <a:xfrm>
            <a:off x="4020160" y="4434840"/>
            <a:ext cx="1901952" cy="640080"/>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Verified &amp; screened</a:t>
            </a:r>
            <a:endParaRPr lang="en-US" sz="1250" dirty="0"/>
          </a:p>
        </p:txBody>
      </p:sp>
      <p:sp>
        <p:nvSpPr>
          <p:cNvPr id="47" name="Shape 36"/>
          <p:cNvSpPr/>
          <p:nvPr/>
        </p:nvSpPr>
        <p:spPr>
          <a:xfrm>
            <a:off x="6196432" y="4434840"/>
            <a:ext cx="2542032" cy="640080"/>
          </a:xfrm>
          <a:prstGeom prst="roundRect">
            <a:avLst>
              <a:gd name="adj" fmla="val 14286"/>
            </a:avLst>
          </a:prstGeom>
          <a:solidFill>
            <a:srgbClr val="F4F8FC"/>
          </a:solidFill>
          <a:ln/>
          <a:effectLst>
            <a:outerShdw sx="100000" sy="100000" kx="0" ky="0" algn="bl" rotWithShape="0" blurRad="101600" dist="38100" dir="5400000">
              <a:srgbClr val="1A2A3A">
                <a:alpha val="16000"/>
              </a:srgbClr>
            </a:outerShdw>
          </a:effectLst>
        </p:spPr>
      </p:sp>
      <p:pic>
        <p:nvPicPr>
          <p:cNvPr id="48" name="Image 9" descr="preencoded.png">    </p:cNvPr>
          <p:cNvPicPr>
            <a:picLocks noChangeAspect="1"/>
          </p:cNvPicPr>
          <p:nvPr/>
        </p:nvPicPr>
        <p:blipFill>
          <a:blip r:embed="rId10"/>
          <a:stretch>
            <a:fillRect/>
          </a:stretch>
        </p:blipFill>
        <p:spPr>
          <a:xfrm>
            <a:off x="6425032" y="4626864"/>
            <a:ext cx="256032" cy="256032"/>
          </a:xfrm>
          <a:prstGeom prst="rect">
            <a:avLst/>
          </a:prstGeom>
        </p:spPr>
      </p:pic>
      <p:sp>
        <p:nvSpPr>
          <p:cNvPr id="49" name="Text 37"/>
          <p:cNvSpPr/>
          <p:nvPr/>
        </p:nvSpPr>
        <p:spPr>
          <a:xfrm>
            <a:off x="6763360" y="4434840"/>
            <a:ext cx="1901952" cy="640080"/>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Always visible</a:t>
            </a:r>
            <a:endParaRPr lang="en-US" sz="1250" dirty="0"/>
          </a:p>
        </p:txBody>
      </p:sp>
      <p:sp>
        <p:nvSpPr>
          <p:cNvPr id="50" name="Shape 38"/>
          <p:cNvSpPr/>
          <p:nvPr/>
        </p:nvSpPr>
        <p:spPr>
          <a:xfrm>
            <a:off x="8939632" y="4434840"/>
            <a:ext cx="2542032" cy="640080"/>
          </a:xfrm>
          <a:prstGeom prst="roundRect">
            <a:avLst>
              <a:gd name="adj" fmla="val 14286"/>
            </a:avLst>
          </a:prstGeom>
          <a:solidFill>
            <a:srgbClr val="F4F8FC"/>
          </a:solidFill>
          <a:ln/>
          <a:effectLst>
            <a:outerShdw sx="100000" sy="100000" kx="0" ky="0" algn="bl" rotWithShape="0" blurRad="101600" dist="38100" dir="5400000">
              <a:srgbClr val="1A2A3A">
                <a:alpha val="16000"/>
              </a:srgbClr>
            </a:outerShdw>
          </a:effectLst>
        </p:spPr>
      </p:sp>
      <p:pic>
        <p:nvPicPr>
          <p:cNvPr id="51" name="Image 10" descr="preencoded.png">    </p:cNvPr>
          <p:cNvPicPr>
            <a:picLocks noChangeAspect="1"/>
          </p:cNvPicPr>
          <p:nvPr/>
        </p:nvPicPr>
        <p:blipFill>
          <a:blip r:embed="rId11"/>
          <a:stretch>
            <a:fillRect/>
          </a:stretch>
        </p:blipFill>
        <p:spPr>
          <a:xfrm>
            <a:off x="9168232" y="4626864"/>
            <a:ext cx="256032" cy="256032"/>
          </a:xfrm>
          <a:prstGeom prst="rect">
            <a:avLst/>
          </a:prstGeom>
        </p:spPr>
      </p:pic>
      <p:sp>
        <p:nvSpPr>
          <p:cNvPr id="52" name="Text 39"/>
          <p:cNvSpPr/>
          <p:nvPr/>
        </p:nvSpPr>
        <p:spPr>
          <a:xfrm>
            <a:off x="9506560" y="4434840"/>
            <a:ext cx="1901952" cy="640080"/>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Fully measured</a:t>
            </a:r>
            <a:endParaRPr lang="en-US" sz="1250" dirty="0"/>
          </a:p>
        </p:txBody>
      </p:sp>
      <p:sp>
        <p:nvSpPr>
          <p:cNvPr id="53" name="Text 40"/>
          <p:cNvSpPr/>
          <p:nvPr/>
        </p:nvSpPr>
        <p:spPr>
          <a:xfrm>
            <a:off x="1371600" y="5349240"/>
            <a:ext cx="9418320" cy="457200"/>
          </a:xfrm>
          <a:prstGeom prst="rect">
            <a:avLst/>
          </a:prstGeom>
          <a:noFill/>
          <a:ln/>
        </p:spPr>
        <p:txBody>
          <a:bodyPr wrap="square" lIns="0" tIns="0" rIns="0" bIns="0" rtlCol="0" anchor="ctr"/>
          <a:lstStyle/>
          <a:p>
            <a:pPr algn="ctr" indent="0" marL="0">
              <a:buNone/>
            </a:pPr>
            <a:r>
              <a:rPr lang="en-US" sz="1300" i="1" dirty="0">
                <a:solidFill>
                  <a:srgbClr val="5B6B7B"/>
                </a:solidFill>
                <a:latin typeface="Calibri" pitchFamily="34" charset="0"/>
                <a:ea typeface="Calibri" pitchFamily="34" charset="-122"/>
                <a:cs typeface="Calibri" pitchFamily="34" charset="-120"/>
              </a:rPr>
              <a:t>Every step that was manual, untracked, or invisible in the as-is process is now digital, automated, and measured.</a:t>
            </a:r>
            <a:endParaRPr lang="en-US" sz="1300" dirty="0"/>
          </a:p>
        </p:txBody>
      </p:sp>
      <p:sp>
        <p:nvSpPr>
          <p:cNvPr id="54" name="Text 41"/>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55" name="Text 42"/>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THE PAYOFF</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Expected Benefits — Before vs After</a:t>
            </a:r>
            <a:endParaRPr lang="en-US" sz="2800" dirty="0"/>
          </a:p>
        </p:txBody>
      </p:sp>
      <p:sp>
        <p:nvSpPr>
          <p:cNvPr id="6" name="Text 3"/>
          <p:cNvSpPr/>
          <p:nvPr/>
        </p:nvSpPr>
        <p:spPr>
          <a:xfrm>
            <a:off x="731520" y="1600200"/>
            <a:ext cx="5029200" cy="274320"/>
          </a:xfrm>
          <a:prstGeom prst="rect">
            <a:avLst/>
          </a:prstGeom>
          <a:noFill/>
          <a:ln/>
        </p:spPr>
        <p:txBody>
          <a:bodyPr wrap="square" lIns="0" tIns="0" rIns="0" bIns="0" rtlCol="0" anchor="ctr"/>
          <a:lstStyle/>
          <a:p>
            <a:pPr indent="0" marL="0">
              <a:buNone/>
            </a:pPr>
            <a:r>
              <a:rPr lang="en-US" sz="1250" b="1" dirty="0">
                <a:solidFill>
                  <a:srgbClr val="5B6B7B"/>
                </a:solidFill>
                <a:latin typeface="Calibri" pitchFamily="34" charset="0"/>
                <a:ea typeface="Calibri" pitchFamily="34" charset="-122"/>
                <a:cs typeface="Calibri" pitchFamily="34" charset="-120"/>
              </a:rPr>
              <a:t>Time per visit (minutes)</a:t>
            </a:r>
            <a:endParaRPr lang="en-US" sz="1250" dirty="0"/>
          </a:p>
        </p:txBody>
      </p:sp>
      <p:graphicFrame>
        <p:nvGraphicFramePr>
          <p:cNvPr id="7" name="Chart 0" descr=""/>
          <p:cNvGraphicFramePr/>
          <p:nvPr/>
        </p:nvGraphicFramePr>
        <p:xfrm>
          <a:off x="548640" y="1920240"/>
          <a:ext cx="5394960" cy="27432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6400800" y="1600200"/>
            <a:ext cx="5029200" cy="274320"/>
          </a:xfrm>
          <a:prstGeom prst="rect">
            <a:avLst/>
          </a:prstGeom>
          <a:noFill/>
          <a:ln/>
        </p:spPr>
        <p:txBody>
          <a:bodyPr wrap="square" lIns="0" tIns="0" rIns="0" bIns="0" rtlCol="0" anchor="ctr"/>
          <a:lstStyle/>
          <a:p>
            <a:pPr indent="0" marL="0">
              <a:buNone/>
            </a:pPr>
            <a:r>
              <a:rPr lang="en-US" sz="1250" b="1" dirty="0">
                <a:solidFill>
                  <a:srgbClr val="5B6B7B"/>
                </a:solidFill>
                <a:latin typeface="Calibri" pitchFamily="34" charset="0"/>
                <a:ea typeface="Calibri" pitchFamily="34" charset="-122"/>
                <a:cs typeface="Calibri" pitchFamily="34" charset="-120"/>
              </a:rPr>
              <a:t>Security compliance</a:t>
            </a:r>
            <a:endParaRPr lang="en-US" sz="1250" dirty="0"/>
          </a:p>
        </p:txBody>
      </p:sp>
      <p:graphicFrame>
        <p:nvGraphicFramePr>
          <p:cNvPr id="9" name="Chart 1" descr=""/>
          <p:cNvGraphicFramePr/>
          <p:nvPr/>
        </p:nvGraphicFramePr>
        <p:xfrm>
          <a:off x="6400800" y="1874520"/>
          <a:ext cx="2377440" cy="2743200"/>
        </p:xfrm>
        <a:graphic xmlns:a="http://schemas.openxmlformats.org/drawingml/2006/main">
          <a:graphicData uri="http://schemas.openxmlformats.org/drawingml/2006/chart">
            <c:chart xmlns:c="http://schemas.openxmlformats.org/drawingml/2006/chart" r:id="rId3"/>
          </a:graphicData>
        </a:graphic>
      </p:graphicFrame>
      <p:sp>
        <p:nvSpPr>
          <p:cNvPr id="10" name="Text 5"/>
          <p:cNvSpPr/>
          <p:nvPr/>
        </p:nvSpPr>
        <p:spPr>
          <a:xfrm>
            <a:off x="6400800" y="2971800"/>
            <a:ext cx="2377440" cy="548640"/>
          </a:xfrm>
          <a:prstGeom prst="rect">
            <a:avLst/>
          </a:prstGeom>
          <a:noFill/>
          <a:ln/>
        </p:spPr>
        <p:txBody>
          <a:bodyPr wrap="square" lIns="0" tIns="0" rIns="0" bIns="0" rtlCol="0" anchor="ctr"/>
          <a:lstStyle/>
          <a:p>
            <a:pPr algn="ctr" indent="0" marL="0">
              <a:buNone/>
            </a:pPr>
            <a:r>
              <a:rPr lang="en-US" sz="2600" b="1" dirty="0">
                <a:solidFill>
                  <a:srgbClr val="3FA85C"/>
                </a:solidFill>
                <a:latin typeface="Calibri" pitchFamily="34" charset="0"/>
                <a:ea typeface="Calibri" pitchFamily="34" charset="-122"/>
                <a:cs typeface="Calibri" pitchFamily="34" charset="-120"/>
              </a:rPr>
              <a:t>95%</a:t>
            </a:r>
            <a:endParaRPr lang="en-US" sz="2600" dirty="0"/>
          </a:p>
        </p:txBody>
      </p:sp>
      <p:sp>
        <p:nvSpPr>
          <p:cNvPr id="11" name="Text 6"/>
          <p:cNvSpPr/>
          <p:nvPr/>
        </p:nvSpPr>
        <p:spPr>
          <a:xfrm>
            <a:off x="6400800" y="3493008"/>
            <a:ext cx="2377440" cy="27432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target</a:t>
            </a:r>
            <a:endParaRPr lang="en-US" sz="1100" dirty="0"/>
          </a:p>
        </p:txBody>
      </p:sp>
      <p:sp>
        <p:nvSpPr>
          <p:cNvPr id="12" name="Shape 7"/>
          <p:cNvSpPr/>
          <p:nvPr/>
        </p:nvSpPr>
        <p:spPr>
          <a:xfrm>
            <a:off x="9098280" y="1920240"/>
            <a:ext cx="2468880" cy="603504"/>
          </a:xfrm>
          <a:prstGeom prst="roundRect">
            <a:avLst>
              <a:gd name="adj" fmla="val 12121"/>
            </a:avLst>
          </a:prstGeom>
          <a:solidFill>
            <a:srgbClr val="F4F8FC"/>
          </a:solidFill>
          <a:ln/>
          <a:effectLst>
            <a:outerShdw sx="100000" sy="100000" kx="0" ky="0" algn="bl" rotWithShape="0" blurRad="101600" dist="38100" dir="5400000">
              <a:srgbClr val="1A2A3A">
                <a:alpha val="16000"/>
              </a:srgbClr>
            </a:outerShdw>
          </a:effectLst>
        </p:spPr>
      </p:sp>
      <p:pic>
        <p:nvPicPr>
          <p:cNvPr id="13" name="Image 1" descr="preencoded.png">    </p:cNvPr>
          <p:cNvPicPr>
            <a:picLocks noChangeAspect="1"/>
          </p:cNvPicPr>
          <p:nvPr/>
        </p:nvPicPr>
        <p:blipFill>
          <a:blip r:embed="rId4"/>
          <a:stretch>
            <a:fillRect/>
          </a:stretch>
        </p:blipFill>
        <p:spPr>
          <a:xfrm>
            <a:off x="9281160" y="2093976"/>
            <a:ext cx="256032" cy="256032"/>
          </a:xfrm>
          <a:prstGeom prst="rect">
            <a:avLst/>
          </a:prstGeom>
        </p:spPr>
      </p:pic>
      <p:sp>
        <p:nvSpPr>
          <p:cNvPr id="14" name="Text 8"/>
          <p:cNvSpPr/>
          <p:nvPr/>
        </p:nvSpPr>
        <p:spPr>
          <a:xfrm>
            <a:off x="9628632" y="1920240"/>
            <a:ext cx="1874520" cy="603504"/>
          </a:xfrm>
          <a:prstGeom prst="rect">
            <a:avLst/>
          </a:prstGeom>
          <a:noFill/>
          <a:ln/>
        </p:spPr>
        <p:txBody>
          <a:bodyPr wrap="square" lIns="0" tIns="0" rIns="0" bIns="0" rtlCol="0" anchor="ctr"/>
          <a:lstStyle/>
          <a:p>
            <a:pPr indent="0" marL="0">
              <a:buNone/>
            </a:pPr>
            <a:r>
              <a:rPr lang="en-US" sz="1500" b="1" dirty="0">
                <a:solidFill>
                  <a:srgbClr val="0F2D52"/>
                </a:solidFill>
                <a:latin typeface="Calibri" pitchFamily="34" charset="0"/>
                <a:ea typeface="Calibri" pitchFamily="34" charset="-122"/>
                <a:cs typeface="Calibri" pitchFamily="34" charset="-120"/>
              </a:rPr>
              <a:t>~85%  </a:t>
            </a:r>
            <a:pPr indent="0" marL="0">
              <a:buNone/>
            </a:pPr>
            <a:r>
              <a:rPr lang="en-US" sz="1050" dirty="0">
                <a:solidFill>
                  <a:srgbClr val="5B6B7B"/>
                </a:solidFill>
                <a:latin typeface="Calibri" pitchFamily="34" charset="0"/>
                <a:ea typeface="Calibri" pitchFamily="34" charset="-122"/>
                <a:cs typeface="Calibri" pitchFamily="34" charset="-120"/>
              </a:rPr>
              <a:t>less processing time</a:t>
            </a:r>
            <a:endParaRPr lang="en-US" sz="1500" dirty="0"/>
          </a:p>
        </p:txBody>
      </p:sp>
      <p:sp>
        <p:nvSpPr>
          <p:cNvPr id="15" name="Shape 9"/>
          <p:cNvSpPr/>
          <p:nvPr/>
        </p:nvSpPr>
        <p:spPr>
          <a:xfrm>
            <a:off x="9098280" y="2670048"/>
            <a:ext cx="2468880" cy="603504"/>
          </a:xfrm>
          <a:prstGeom prst="roundRect">
            <a:avLst>
              <a:gd name="adj" fmla="val 12121"/>
            </a:avLst>
          </a:prstGeom>
          <a:solidFill>
            <a:srgbClr val="F4F8FC"/>
          </a:solidFill>
          <a:ln/>
          <a:effectLst>
            <a:outerShdw sx="100000" sy="100000" kx="0" ky="0" algn="bl" rotWithShape="0" blurRad="101600" dist="38100" dir="5400000">
              <a:srgbClr val="1A2A3A">
                <a:alpha val="16000"/>
              </a:srgbClr>
            </a:outerShdw>
          </a:effectLst>
        </p:spPr>
      </p:sp>
      <p:pic>
        <p:nvPicPr>
          <p:cNvPr id="16" name="Image 2" descr="preencoded.png">    </p:cNvPr>
          <p:cNvPicPr>
            <a:picLocks noChangeAspect="1"/>
          </p:cNvPicPr>
          <p:nvPr/>
        </p:nvPicPr>
        <p:blipFill>
          <a:blip r:embed="rId5"/>
          <a:stretch>
            <a:fillRect/>
          </a:stretch>
        </p:blipFill>
        <p:spPr>
          <a:xfrm>
            <a:off x="9281160" y="2843784"/>
            <a:ext cx="256032" cy="256032"/>
          </a:xfrm>
          <a:prstGeom prst="rect">
            <a:avLst/>
          </a:prstGeom>
        </p:spPr>
      </p:pic>
      <p:sp>
        <p:nvSpPr>
          <p:cNvPr id="17" name="Text 10"/>
          <p:cNvSpPr/>
          <p:nvPr/>
        </p:nvSpPr>
        <p:spPr>
          <a:xfrm>
            <a:off x="9628632" y="2670048"/>
            <a:ext cx="1874520" cy="603504"/>
          </a:xfrm>
          <a:prstGeom prst="rect">
            <a:avLst/>
          </a:prstGeom>
          <a:noFill/>
          <a:ln/>
        </p:spPr>
        <p:txBody>
          <a:bodyPr wrap="square" lIns="0" tIns="0" rIns="0" bIns="0" rtlCol="0" anchor="ctr"/>
          <a:lstStyle/>
          <a:p>
            <a:pPr indent="0" marL="0">
              <a:buNone/>
            </a:pPr>
            <a:r>
              <a:rPr lang="en-US" sz="1500" b="1" dirty="0">
                <a:solidFill>
                  <a:srgbClr val="0F2D52"/>
                </a:solidFill>
                <a:latin typeface="Calibri" pitchFamily="34" charset="0"/>
                <a:ea typeface="Calibri" pitchFamily="34" charset="-122"/>
                <a:cs typeface="Calibri" pitchFamily="34" charset="-120"/>
              </a:rPr>
              <a:t>&gt;80%  </a:t>
            </a:r>
            <a:pPr indent="0" marL="0">
              <a:buNone/>
            </a:pPr>
            <a:r>
              <a:rPr lang="en-US" sz="1050" dirty="0">
                <a:solidFill>
                  <a:srgbClr val="5B6B7B"/>
                </a:solidFill>
                <a:latin typeface="Calibri" pitchFamily="34" charset="0"/>
                <a:ea typeface="Calibri" pitchFamily="34" charset="-122"/>
                <a:cs typeface="Calibri" pitchFamily="34" charset="-120"/>
              </a:rPr>
              <a:t>faster approvals</a:t>
            </a:r>
            <a:endParaRPr lang="en-US" sz="1500" dirty="0"/>
          </a:p>
        </p:txBody>
      </p:sp>
      <p:sp>
        <p:nvSpPr>
          <p:cNvPr id="18" name="Shape 11"/>
          <p:cNvSpPr/>
          <p:nvPr/>
        </p:nvSpPr>
        <p:spPr>
          <a:xfrm>
            <a:off x="9098280" y="3419856"/>
            <a:ext cx="2468880" cy="603504"/>
          </a:xfrm>
          <a:prstGeom prst="roundRect">
            <a:avLst>
              <a:gd name="adj" fmla="val 12121"/>
            </a:avLst>
          </a:prstGeom>
          <a:solidFill>
            <a:srgbClr val="F4F8FC"/>
          </a:solidFill>
          <a:ln/>
          <a:effectLst>
            <a:outerShdw sx="100000" sy="100000" kx="0" ky="0" algn="bl" rotWithShape="0" blurRad="101600" dist="38100" dir="5400000">
              <a:srgbClr val="1A2A3A">
                <a:alpha val="16000"/>
              </a:srgbClr>
            </a:outerShdw>
          </a:effectLst>
        </p:spPr>
      </p:sp>
      <p:pic>
        <p:nvPicPr>
          <p:cNvPr id="19" name="Image 3" descr="preencoded.png">    </p:cNvPr>
          <p:cNvPicPr>
            <a:picLocks noChangeAspect="1"/>
          </p:cNvPicPr>
          <p:nvPr/>
        </p:nvPicPr>
        <p:blipFill>
          <a:blip r:embed="rId6"/>
          <a:stretch>
            <a:fillRect/>
          </a:stretch>
        </p:blipFill>
        <p:spPr>
          <a:xfrm>
            <a:off x="9281160" y="3593592"/>
            <a:ext cx="256032" cy="256032"/>
          </a:xfrm>
          <a:prstGeom prst="rect">
            <a:avLst/>
          </a:prstGeom>
        </p:spPr>
      </p:pic>
      <p:sp>
        <p:nvSpPr>
          <p:cNvPr id="20" name="Text 12"/>
          <p:cNvSpPr/>
          <p:nvPr/>
        </p:nvSpPr>
        <p:spPr>
          <a:xfrm>
            <a:off x="9628632" y="3419856"/>
            <a:ext cx="1874520" cy="603504"/>
          </a:xfrm>
          <a:prstGeom prst="rect">
            <a:avLst/>
          </a:prstGeom>
          <a:noFill/>
          <a:ln/>
        </p:spPr>
        <p:txBody>
          <a:bodyPr wrap="square" lIns="0" tIns="0" rIns="0" bIns="0" rtlCol="0" anchor="ctr"/>
          <a:lstStyle/>
          <a:p>
            <a:pPr indent="0" marL="0">
              <a:buNone/>
            </a:pPr>
            <a:r>
              <a:rPr lang="en-US" sz="1500" b="1" dirty="0">
                <a:solidFill>
                  <a:srgbClr val="0F2D52"/>
                </a:solidFill>
                <a:latin typeface="Calibri" pitchFamily="34" charset="0"/>
                <a:ea typeface="Calibri" pitchFamily="34" charset="-122"/>
                <a:cs typeface="Calibri" pitchFamily="34" charset="-120"/>
              </a:rPr>
              <a:t>+25–35pt  </a:t>
            </a:r>
            <a:pPr indent="0" marL="0">
              <a:buNone/>
            </a:pPr>
            <a:r>
              <a:rPr lang="en-US" sz="1050" dirty="0">
                <a:solidFill>
                  <a:srgbClr val="5B6B7B"/>
                </a:solidFill>
                <a:latin typeface="Calibri" pitchFamily="34" charset="0"/>
                <a:ea typeface="Calibri" pitchFamily="34" charset="-122"/>
                <a:cs typeface="Calibri" pitchFamily="34" charset="-120"/>
              </a:rPr>
              <a:t>compliance gain</a:t>
            </a:r>
            <a:endParaRPr lang="en-US" sz="1500" dirty="0"/>
          </a:p>
        </p:txBody>
      </p:sp>
      <p:sp>
        <p:nvSpPr>
          <p:cNvPr id="21" name="Shape 13"/>
          <p:cNvSpPr/>
          <p:nvPr/>
        </p:nvSpPr>
        <p:spPr>
          <a:xfrm>
            <a:off x="9098280" y="4169664"/>
            <a:ext cx="2468880" cy="603504"/>
          </a:xfrm>
          <a:prstGeom prst="roundRect">
            <a:avLst>
              <a:gd name="adj" fmla="val 12121"/>
            </a:avLst>
          </a:prstGeom>
          <a:solidFill>
            <a:srgbClr val="F4F8FC"/>
          </a:solidFill>
          <a:ln/>
          <a:effectLst>
            <a:outerShdw sx="100000" sy="100000" kx="0" ky="0" algn="bl" rotWithShape="0" blurRad="101600" dist="38100" dir="5400000">
              <a:srgbClr val="1A2A3A">
                <a:alpha val="16000"/>
              </a:srgbClr>
            </a:outerShdw>
          </a:effectLst>
        </p:spPr>
      </p:sp>
      <p:pic>
        <p:nvPicPr>
          <p:cNvPr id="22" name="Image 4" descr="preencoded.png">    </p:cNvPr>
          <p:cNvPicPr>
            <a:picLocks noChangeAspect="1"/>
          </p:cNvPicPr>
          <p:nvPr/>
        </p:nvPicPr>
        <p:blipFill>
          <a:blip r:embed="rId7"/>
          <a:stretch>
            <a:fillRect/>
          </a:stretch>
        </p:blipFill>
        <p:spPr>
          <a:xfrm>
            <a:off x="9281160" y="4343400"/>
            <a:ext cx="256032" cy="256032"/>
          </a:xfrm>
          <a:prstGeom prst="rect">
            <a:avLst/>
          </a:prstGeom>
        </p:spPr>
      </p:pic>
      <p:sp>
        <p:nvSpPr>
          <p:cNvPr id="23" name="Text 14"/>
          <p:cNvSpPr/>
          <p:nvPr/>
        </p:nvSpPr>
        <p:spPr>
          <a:xfrm>
            <a:off x="9628632" y="4169664"/>
            <a:ext cx="1874520" cy="603504"/>
          </a:xfrm>
          <a:prstGeom prst="rect">
            <a:avLst/>
          </a:prstGeom>
          <a:noFill/>
          <a:ln/>
        </p:spPr>
        <p:txBody>
          <a:bodyPr wrap="square" lIns="0" tIns="0" rIns="0" bIns="0" rtlCol="0" anchor="ctr"/>
          <a:lstStyle/>
          <a:p>
            <a:pPr indent="0" marL="0">
              <a:buNone/>
            </a:pPr>
            <a:r>
              <a:rPr lang="en-US" sz="1500" b="1" dirty="0">
                <a:solidFill>
                  <a:srgbClr val="0F2D52"/>
                </a:solidFill>
                <a:latin typeface="Calibri" pitchFamily="34" charset="0"/>
                <a:ea typeface="Calibri" pitchFamily="34" charset="-122"/>
                <a:cs typeface="Calibri" pitchFamily="34" charset="-120"/>
              </a:rPr>
              <a:t>4.3/5  </a:t>
            </a:r>
            <a:pPr indent="0" marL="0">
              <a:buNone/>
            </a:pPr>
            <a:r>
              <a:rPr lang="en-US" sz="1050" dirty="0">
                <a:solidFill>
                  <a:srgbClr val="5B6B7B"/>
                </a:solidFill>
                <a:latin typeface="Calibri" pitchFamily="34" charset="0"/>
                <a:ea typeface="Calibri" pitchFamily="34" charset="-122"/>
                <a:cs typeface="Calibri" pitchFamily="34" charset="-120"/>
              </a:rPr>
              <a:t>satisfaction target</a:t>
            </a:r>
            <a:endParaRPr lang="en-US" sz="1500" dirty="0"/>
          </a:p>
        </p:txBody>
      </p:sp>
      <p:sp>
        <p:nvSpPr>
          <p:cNvPr id="24" name="Text 15"/>
          <p:cNvSpPr/>
          <p:nvPr/>
        </p:nvSpPr>
        <p:spPr>
          <a:xfrm>
            <a:off x="640080" y="5897880"/>
            <a:ext cx="10881360" cy="365760"/>
          </a:xfrm>
          <a:prstGeom prst="rect">
            <a:avLst/>
          </a:prstGeom>
          <a:noFill/>
          <a:ln/>
        </p:spPr>
        <p:txBody>
          <a:bodyPr wrap="square" lIns="0" tIns="0" rIns="0" bIns="0" rtlCol="0" anchor="ctr"/>
          <a:lstStyle/>
          <a:p>
            <a:pPr algn="ctr" indent="0" marL="0">
              <a:buNone/>
            </a:pPr>
            <a:r>
              <a:rPr lang="en-US" sz="1050" i="1" dirty="0">
                <a:solidFill>
                  <a:srgbClr val="5B6B7B"/>
                </a:solidFill>
                <a:latin typeface="Calibri" pitchFamily="34" charset="0"/>
                <a:ea typeface="Calibri" pitchFamily="34" charset="-122"/>
                <a:cs typeface="Calibri" pitchFamily="34" charset="-120"/>
              </a:rPr>
              <a:t>Benchmarked against comparable enterprise VMS deployments. Targets validated against measured current-state performance.</a:t>
            </a:r>
            <a:endParaRPr lang="en-US" sz="1050" dirty="0"/>
          </a:p>
        </p:txBody>
      </p:sp>
      <p:sp>
        <p:nvSpPr>
          <p:cNvPr id="25" name="Text 16"/>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26" name="Text 17"/>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HOW WE MEASURE SUCCESS</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KPI Framework</a:t>
            </a:r>
            <a:endParaRPr lang="en-US" sz="2800" dirty="0"/>
          </a:p>
        </p:txBody>
      </p:sp>
      <p:sp>
        <p:nvSpPr>
          <p:cNvPr id="6" name="Shape 3"/>
          <p:cNvSpPr/>
          <p:nvPr/>
        </p:nvSpPr>
        <p:spPr>
          <a:xfrm>
            <a:off x="640080" y="1554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7" name="Shape 4"/>
          <p:cNvSpPr/>
          <p:nvPr/>
        </p:nvSpPr>
        <p:spPr>
          <a:xfrm>
            <a:off x="1645920" y="1773936"/>
            <a:ext cx="658368" cy="658368"/>
          </a:xfrm>
          <a:prstGeom prst="ellipse">
            <a:avLst/>
          </a:prstGeom>
          <a:solidFill>
            <a:srgbClr val="0F2D52"/>
          </a:solidFill>
          <a:ln/>
        </p:spPr>
      </p:sp>
      <p:pic>
        <p:nvPicPr>
          <p:cNvPr id="8" name="Image 1" descr="preencoded.png">    </p:cNvPr>
          <p:cNvPicPr>
            <a:picLocks noChangeAspect="1"/>
          </p:cNvPicPr>
          <p:nvPr/>
        </p:nvPicPr>
        <p:blipFill>
          <a:blip r:embed="rId2"/>
          <a:stretch>
            <a:fillRect/>
          </a:stretch>
        </p:blipFill>
        <p:spPr>
          <a:xfrm>
            <a:off x="1801368" y="1929384"/>
            <a:ext cx="347472" cy="347472"/>
          </a:xfrm>
          <a:prstGeom prst="rect">
            <a:avLst/>
          </a:prstGeom>
        </p:spPr>
      </p:pic>
      <p:sp>
        <p:nvSpPr>
          <p:cNvPr id="9" name="Text 5"/>
          <p:cNvSpPr/>
          <p:nvPr/>
        </p:nvSpPr>
        <p:spPr>
          <a:xfrm>
            <a:off x="777240" y="2523744"/>
            <a:ext cx="2395728" cy="365760"/>
          </a:xfrm>
          <a:prstGeom prst="rect">
            <a:avLst/>
          </a:prstGeom>
          <a:noFill/>
          <a:ln/>
        </p:spPr>
        <p:txBody>
          <a:bodyPr wrap="square" lIns="0" tIns="0" rIns="0" bIns="0" rtlCol="0" anchor="ctr"/>
          <a:lstStyle/>
          <a:p>
            <a:pPr algn="ctr" indent="0" marL="0">
              <a:buNone/>
            </a:pPr>
            <a:r>
              <a:rPr lang="en-US" sz="1300" b="1" dirty="0">
                <a:solidFill>
                  <a:srgbClr val="0F2D52"/>
                </a:solidFill>
                <a:latin typeface="Calibri" pitchFamily="34" charset="0"/>
                <a:ea typeface="Calibri" pitchFamily="34" charset="-122"/>
                <a:cs typeface="Calibri" pitchFamily="34" charset="-120"/>
              </a:rPr>
              <a:t>Check-In Time</a:t>
            </a:r>
            <a:endParaRPr lang="en-US" sz="1300" dirty="0"/>
          </a:p>
        </p:txBody>
      </p:sp>
      <p:sp>
        <p:nvSpPr>
          <p:cNvPr id="10" name="Text 6"/>
          <p:cNvSpPr/>
          <p:nvPr/>
        </p:nvSpPr>
        <p:spPr>
          <a:xfrm>
            <a:off x="777240" y="2889504"/>
            <a:ext cx="2395728" cy="502920"/>
          </a:xfrm>
          <a:prstGeom prst="rect">
            <a:avLst/>
          </a:prstGeom>
          <a:noFill/>
          <a:ln/>
        </p:spPr>
        <p:txBody>
          <a:bodyPr wrap="square" lIns="0" tIns="0" rIns="0" bIns="0" rtlCol="0" anchor="ctr"/>
          <a:lstStyle/>
          <a:p>
            <a:pPr algn="ctr" indent="0" marL="0">
              <a:buNone/>
            </a:pPr>
            <a:r>
              <a:rPr lang="en-US" sz="2100" b="1" dirty="0">
                <a:solidFill>
                  <a:srgbClr val="0E9AA7"/>
                </a:solidFill>
                <a:latin typeface="Calibri" pitchFamily="34" charset="0"/>
                <a:ea typeface="Calibri" pitchFamily="34" charset="-122"/>
                <a:cs typeface="Calibri" pitchFamily="34" charset="-120"/>
              </a:rPr>
              <a:t>&lt; 2 min</a:t>
            </a:r>
            <a:endParaRPr lang="en-US" sz="2100" dirty="0"/>
          </a:p>
        </p:txBody>
      </p:sp>
      <p:sp>
        <p:nvSpPr>
          <p:cNvPr id="11" name="Shape 7"/>
          <p:cNvSpPr/>
          <p:nvPr/>
        </p:nvSpPr>
        <p:spPr>
          <a:xfrm>
            <a:off x="3511296" y="1554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12" name="Shape 8"/>
          <p:cNvSpPr/>
          <p:nvPr/>
        </p:nvSpPr>
        <p:spPr>
          <a:xfrm>
            <a:off x="4517136" y="1773936"/>
            <a:ext cx="658368" cy="658368"/>
          </a:xfrm>
          <a:prstGeom prst="ellipse">
            <a:avLst/>
          </a:prstGeom>
          <a:solidFill>
            <a:srgbClr val="0F2D52"/>
          </a:solidFill>
          <a:ln/>
        </p:spPr>
      </p:sp>
      <p:pic>
        <p:nvPicPr>
          <p:cNvPr id="13" name="Image 2" descr="preencoded.png">    </p:cNvPr>
          <p:cNvPicPr>
            <a:picLocks noChangeAspect="1"/>
          </p:cNvPicPr>
          <p:nvPr/>
        </p:nvPicPr>
        <p:blipFill>
          <a:blip r:embed="rId3"/>
          <a:stretch>
            <a:fillRect/>
          </a:stretch>
        </p:blipFill>
        <p:spPr>
          <a:xfrm>
            <a:off x="4672584" y="1929384"/>
            <a:ext cx="347472" cy="347472"/>
          </a:xfrm>
          <a:prstGeom prst="rect">
            <a:avLst/>
          </a:prstGeom>
        </p:spPr>
      </p:pic>
      <p:sp>
        <p:nvSpPr>
          <p:cNvPr id="14" name="Text 9"/>
          <p:cNvSpPr/>
          <p:nvPr/>
        </p:nvSpPr>
        <p:spPr>
          <a:xfrm>
            <a:off x="3648456" y="2523744"/>
            <a:ext cx="2395728" cy="365760"/>
          </a:xfrm>
          <a:prstGeom prst="rect">
            <a:avLst/>
          </a:prstGeom>
          <a:noFill/>
          <a:ln/>
        </p:spPr>
        <p:txBody>
          <a:bodyPr wrap="square" lIns="0" tIns="0" rIns="0" bIns="0" rtlCol="0" anchor="ctr"/>
          <a:lstStyle/>
          <a:p>
            <a:pPr algn="ctr" indent="0" marL="0">
              <a:buNone/>
            </a:pPr>
            <a:r>
              <a:rPr lang="en-US" sz="1300" b="1" dirty="0">
                <a:solidFill>
                  <a:srgbClr val="0F2D52"/>
                </a:solidFill>
                <a:latin typeface="Calibri" pitchFamily="34" charset="0"/>
                <a:ea typeface="Calibri" pitchFamily="34" charset="-122"/>
                <a:cs typeface="Calibri" pitchFamily="34" charset="-120"/>
              </a:rPr>
              <a:t>Approval Time</a:t>
            </a:r>
            <a:endParaRPr lang="en-US" sz="1300" dirty="0"/>
          </a:p>
        </p:txBody>
      </p:sp>
      <p:sp>
        <p:nvSpPr>
          <p:cNvPr id="15" name="Text 10"/>
          <p:cNvSpPr/>
          <p:nvPr/>
        </p:nvSpPr>
        <p:spPr>
          <a:xfrm>
            <a:off x="3648456" y="2889504"/>
            <a:ext cx="2395728" cy="502920"/>
          </a:xfrm>
          <a:prstGeom prst="rect">
            <a:avLst/>
          </a:prstGeom>
          <a:noFill/>
          <a:ln/>
        </p:spPr>
        <p:txBody>
          <a:bodyPr wrap="square" lIns="0" tIns="0" rIns="0" bIns="0" rtlCol="0" anchor="ctr"/>
          <a:lstStyle/>
          <a:p>
            <a:pPr algn="ctr" indent="0" marL="0">
              <a:buNone/>
            </a:pPr>
            <a:r>
              <a:rPr lang="en-US" sz="2100" b="1" dirty="0">
                <a:solidFill>
                  <a:srgbClr val="0E9AA7"/>
                </a:solidFill>
                <a:latin typeface="Calibri" pitchFamily="34" charset="0"/>
                <a:ea typeface="Calibri" pitchFamily="34" charset="-122"/>
                <a:cs typeface="Calibri" pitchFamily="34" charset="-120"/>
              </a:rPr>
              <a:t>&lt; 30 min</a:t>
            </a:r>
            <a:endParaRPr lang="en-US" sz="2100" dirty="0"/>
          </a:p>
        </p:txBody>
      </p:sp>
      <p:sp>
        <p:nvSpPr>
          <p:cNvPr id="16" name="Shape 11"/>
          <p:cNvSpPr/>
          <p:nvPr/>
        </p:nvSpPr>
        <p:spPr>
          <a:xfrm>
            <a:off x="6382512" y="1554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17" name="Shape 12"/>
          <p:cNvSpPr/>
          <p:nvPr/>
        </p:nvSpPr>
        <p:spPr>
          <a:xfrm>
            <a:off x="7388352" y="1773936"/>
            <a:ext cx="658368" cy="658368"/>
          </a:xfrm>
          <a:prstGeom prst="ellipse">
            <a:avLst/>
          </a:prstGeom>
          <a:solidFill>
            <a:srgbClr val="0F2D52"/>
          </a:solidFill>
          <a:ln/>
        </p:spPr>
      </p:sp>
      <p:pic>
        <p:nvPicPr>
          <p:cNvPr id="18" name="Image 3" descr="preencoded.png">    </p:cNvPr>
          <p:cNvPicPr>
            <a:picLocks noChangeAspect="1"/>
          </p:cNvPicPr>
          <p:nvPr/>
        </p:nvPicPr>
        <p:blipFill>
          <a:blip r:embed="rId4"/>
          <a:stretch>
            <a:fillRect/>
          </a:stretch>
        </p:blipFill>
        <p:spPr>
          <a:xfrm>
            <a:off x="7543800" y="1929384"/>
            <a:ext cx="347472" cy="347472"/>
          </a:xfrm>
          <a:prstGeom prst="rect">
            <a:avLst/>
          </a:prstGeom>
        </p:spPr>
      </p:pic>
      <p:sp>
        <p:nvSpPr>
          <p:cNvPr id="19" name="Text 13"/>
          <p:cNvSpPr/>
          <p:nvPr/>
        </p:nvSpPr>
        <p:spPr>
          <a:xfrm>
            <a:off x="6519672" y="2523744"/>
            <a:ext cx="2395728" cy="365760"/>
          </a:xfrm>
          <a:prstGeom prst="rect">
            <a:avLst/>
          </a:prstGeom>
          <a:noFill/>
          <a:ln/>
        </p:spPr>
        <p:txBody>
          <a:bodyPr wrap="square" lIns="0" tIns="0" rIns="0" bIns="0" rtlCol="0" anchor="ctr"/>
          <a:lstStyle/>
          <a:p>
            <a:pPr algn="ctr" indent="0" marL="0">
              <a:buNone/>
            </a:pPr>
            <a:r>
              <a:rPr lang="en-US" sz="1300" b="1" dirty="0">
                <a:solidFill>
                  <a:srgbClr val="0F2D52"/>
                </a:solidFill>
                <a:latin typeface="Calibri" pitchFamily="34" charset="0"/>
                <a:ea typeface="Calibri" pitchFamily="34" charset="-122"/>
                <a:cs typeface="Calibri" pitchFamily="34" charset="-120"/>
              </a:rPr>
              <a:t>Processing Time</a:t>
            </a:r>
            <a:endParaRPr lang="en-US" sz="1300" dirty="0"/>
          </a:p>
        </p:txBody>
      </p:sp>
      <p:sp>
        <p:nvSpPr>
          <p:cNvPr id="20" name="Text 14"/>
          <p:cNvSpPr/>
          <p:nvPr/>
        </p:nvSpPr>
        <p:spPr>
          <a:xfrm>
            <a:off x="6519672" y="2889504"/>
            <a:ext cx="2395728" cy="502920"/>
          </a:xfrm>
          <a:prstGeom prst="rect">
            <a:avLst/>
          </a:prstGeom>
          <a:noFill/>
          <a:ln/>
        </p:spPr>
        <p:txBody>
          <a:bodyPr wrap="square" lIns="0" tIns="0" rIns="0" bIns="0" rtlCol="0" anchor="ctr"/>
          <a:lstStyle/>
          <a:p>
            <a:pPr algn="ctr" indent="0" marL="0">
              <a:buNone/>
            </a:pPr>
            <a:r>
              <a:rPr lang="en-US" sz="2100" b="1" dirty="0">
                <a:solidFill>
                  <a:srgbClr val="0E9AA7"/>
                </a:solidFill>
                <a:latin typeface="Calibri" pitchFamily="34" charset="0"/>
                <a:ea typeface="Calibri" pitchFamily="34" charset="-122"/>
                <a:cs typeface="Calibri" pitchFamily="34" charset="-120"/>
              </a:rPr>
              <a:t>&lt; 5 min</a:t>
            </a:r>
            <a:endParaRPr lang="en-US" sz="2100" dirty="0"/>
          </a:p>
        </p:txBody>
      </p:sp>
      <p:sp>
        <p:nvSpPr>
          <p:cNvPr id="21" name="Shape 15"/>
          <p:cNvSpPr/>
          <p:nvPr/>
        </p:nvSpPr>
        <p:spPr>
          <a:xfrm>
            <a:off x="9253728" y="1554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22" name="Shape 16"/>
          <p:cNvSpPr/>
          <p:nvPr/>
        </p:nvSpPr>
        <p:spPr>
          <a:xfrm>
            <a:off x="10259568" y="1773936"/>
            <a:ext cx="658368" cy="658368"/>
          </a:xfrm>
          <a:prstGeom prst="ellipse">
            <a:avLst/>
          </a:prstGeom>
          <a:solidFill>
            <a:srgbClr val="0F2D52"/>
          </a:solidFill>
          <a:ln/>
        </p:spPr>
      </p:sp>
      <p:pic>
        <p:nvPicPr>
          <p:cNvPr id="23" name="Image 4" descr="preencoded.png">    </p:cNvPr>
          <p:cNvPicPr>
            <a:picLocks noChangeAspect="1"/>
          </p:cNvPicPr>
          <p:nvPr/>
        </p:nvPicPr>
        <p:blipFill>
          <a:blip r:embed="rId5"/>
          <a:stretch>
            <a:fillRect/>
          </a:stretch>
        </p:blipFill>
        <p:spPr>
          <a:xfrm>
            <a:off x="10415016" y="1929384"/>
            <a:ext cx="347472" cy="347472"/>
          </a:xfrm>
          <a:prstGeom prst="rect">
            <a:avLst/>
          </a:prstGeom>
        </p:spPr>
      </p:pic>
      <p:sp>
        <p:nvSpPr>
          <p:cNvPr id="24" name="Text 17"/>
          <p:cNvSpPr/>
          <p:nvPr/>
        </p:nvSpPr>
        <p:spPr>
          <a:xfrm>
            <a:off x="9390888" y="2523744"/>
            <a:ext cx="2395728" cy="365760"/>
          </a:xfrm>
          <a:prstGeom prst="rect">
            <a:avLst/>
          </a:prstGeom>
          <a:noFill/>
          <a:ln/>
        </p:spPr>
        <p:txBody>
          <a:bodyPr wrap="square" lIns="0" tIns="0" rIns="0" bIns="0" rtlCol="0" anchor="ctr"/>
          <a:lstStyle/>
          <a:p>
            <a:pPr algn="ctr" indent="0" marL="0">
              <a:buNone/>
            </a:pPr>
            <a:r>
              <a:rPr lang="en-US" sz="1300" b="1" dirty="0">
                <a:solidFill>
                  <a:srgbClr val="0F2D52"/>
                </a:solidFill>
                <a:latin typeface="Calibri" pitchFamily="34" charset="0"/>
                <a:ea typeface="Calibri" pitchFamily="34" charset="-122"/>
                <a:cs typeface="Calibri" pitchFamily="34" charset="-120"/>
              </a:rPr>
              <a:t>Security Compliance</a:t>
            </a:r>
            <a:endParaRPr lang="en-US" sz="1300" dirty="0"/>
          </a:p>
        </p:txBody>
      </p:sp>
      <p:sp>
        <p:nvSpPr>
          <p:cNvPr id="25" name="Text 18"/>
          <p:cNvSpPr/>
          <p:nvPr/>
        </p:nvSpPr>
        <p:spPr>
          <a:xfrm>
            <a:off x="9390888" y="2889504"/>
            <a:ext cx="2395728" cy="502920"/>
          </a:xfrm>
          <a:prstGeom prst="rect">
            <a:avLst/>
          </a:prstGeom>
          <a:noFill/>
          <a:ln/>
        </p:spPr>
        <p:txBody>
          <a:bodyPr wrap="square" lIns="0" tIns="0" rIns="0" bIns="0" rtlCol="0" anchor="ctr"/>
          <a:lstStyle/>
          <a:p>
            <a:pPr algn="ctr" indent="0" marL="0">
              <a:buNone/>
            </a:pPr>
            <a:r>
              <a:rPr lang="en-US" sz="2100" b="1" dirty="0">
                <a:solidFill>
                  <a:srgbClr val="0E9AA7"/>
                </a:solidFill>
                <a:latin typeface="Calibri" pitchFamily="34" charset="0"/>
                <a:ea typeface="Calibri" pitchFamily="34" charset="-122"/>
                <a:cs typeface="Calibri" pitchFamily="34" charset="-120"/>
              </a:rPr>
              <a:t>&gt; 95%</a:t>
            </a:r>
            <a:endParaRPr lang="en-US" sz="2100" dirty="0"/>
          </a:p>
        </p:txBody>
      </p:sp>
      <p:sp>
        <p:nvSpPr>
          <p:cNvPr id="26" name="Shape 19"/>
          <p:cNvSpPr/>
          <p:nvPr/>
        </p:nvSpPr>
        <p:spPr>
          <a:xfrm>
            <a:off x="640080" y="3840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27" name="Shape 20"/>
          <p:cNvSpPr/>
          <p:nvPr/>
        </p:nvSpPr>
        <p:spPr>
          <a:xfrm>
            <a:off x="1645920" y="4059936"/>
            <a:ext cx="658368" cy="658368"/>
          </a:xfrm>
          <a:prstGeom prst="ellipse">
            <a:avLst/>
          </a:prstGeom>
          <a:solidFill>
            <a:srgbClr val="0F2D52"/>
          </a:solidFill>
          <a:ln/>
        </p:spPr>
      </p:sp>
      <p:pic>
        <p:nvPicPr>
          <p:cNvPr id="28" name="Image 5" descr="preencoded.png">    </p:cNvPr>
          <p:cNvPicPr>
            <a:picLocks noChangeAspect="1"/>
          </p:cNvPicPr>
          <p:nvPr/>
        </p:nvPicPr>
        <p:blipFill>
          <a:blip r:embed="rId6"/>
          <a:stretch>
            <a:fillRect/>
          </a:stretch>
        </p:blipFill>
        <p:spPr>
          <a:xfrm>
            <a:off x="1801368" y="4215384"/>
            <a:ext cx="347472" cy="347472"/>
          </a:xfrm>
          <a:prstGeom prst="rect">
            <a:avLst/>
          </a:prstGeom>
        </p:spPr>
      </p:pic>
      <p:sp>
        <p:nvSpPr>
          <p:cNvPr id="29" name="Text 21"/>
          <p:cNvSpPr/>
          <p:nvPr/>
        </p:nvSpPr>
        <p:spPr>
          <a:xfrm>
            <a:off x="777240" y="4809744"/>
            <a:ext cx="2395728" cy="365760"/>
          </a:xfrm>
          <a:prstGeom prst="rect">
            <a:avLst/>
          </a:prstGeom>
          <a:noFill/>
          <a:ln/>
        </p:spPr>
        <p:txBody>
          <a:bodyPr wrap="square" lIns="0" tIns="0" rIns="0" bIns="0" rtlCol="0" anchor="ctr"/>
          <a:lstStyle/>
          <a:p>
            <a:pPr algn="ctr" indent="0" marL="0">
              <a:buNone/>
            </a:pPr>
            <a:r>
              <a:rPr lang="en-US" sz="1300" b="1" dirty="0">
                <a:solidFill>
                  <a:srgbClr val="0F2D52"/>
                </a:solidFill>
                <a:latin typeface="Calibri" pitchFamily="34" charset="0"/>
                <a:ea typeface="Calibri" pitchFamily="34" charset="-122"/>
                <a:cs typeface="Calibri" pitchFamily="34" charset="-120"/>
              </a:rPr>
              <a:t>No-Show Rate</a:t>
            </a:r>
            <a:endParaRPr lang="en-US" sz="1300" dirty="0"/>
          </a:p>
        </p:txBody>
      </p:sp>
      <p:sp>
        <p:nvSpPr>
          <p:cNvPr id="30" name="Text 22"/>
          <p:cNvSpPr/>
          <p:nvPr/>
        </p:nvSpPr>
        <p:spPr>
          <a:xfrm>
            <a:off x="777240" y="5175504"/>
            <a:ext cx="2395728" cy="502920"/>
          </a:xfrm>
          <a:prstGeom prst="rect">
            <a:avLst/>
          </a:prstGeom>
          <a:noFill/>
          <a:ln/>
        </p:spPr>
        <p:txBody>
          <a:bodyPr wrap="square" lIns="0" tIns="0" rIns="0" bIns="0" rtlCol="0" anchor="ctr"/>
          <a:lstStyle/>
          <a:p>
            <a:pPr algn="ctr" indent="0" marL="0">
              <a:buNone/>
            </a:pPr>
            <a:r>
              <a:rPr lang="en-US" sz="2100" b="1" dirty="0">
                <a:solidFill>
                  <a:srgbClr val="0E9AA7"/>
                </a:solidFill>
                <a:latin typeface="Calibri" pitchFamily="34" charset="0"/>
                <a:ea typeface="Calibri" pitchFamily="34" charset="-122"/>
                <a:cs typeface="Calibri" pitchFamily="34" charset="-120"/>
              </a:rPr>
              <a:t>&lt; 10%</a:t>
            </a:r>
            <a:endParaRPr lang="en-US" sz="2100" dirty="0"/>
          </a:p>
        </p:txBody>
      </p:sp>
      <p:sp>
        <p:nvSpPr>
          <p:cNvPr id="31" name="Shape 23"/>
          <p:cNvSpPr/>
          <p:nvPr/>
        </p:nvSpPr>
        <p:spPr>
          <a:xfrm>
            <a:off x="3511296" y="3840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32" name="Shape 24"/>
          <p:cNvSpPr/>
          <p:nvPr/>
        </p:nvSpPr>
        <p:spPr>
          <a:xfrm>
            <a:off x="4517136" y="4059936"/>
            <a:ext cx="658368" cy="658368"/>
          </a:xfrm>
          <a:prstGeom prst="ellipse">
            <a:avLst/>
          </a:prstGeom>
          <a:solidFill>
            <a:srgbClr val="0F2D52"/>
          </a:solidFill>
          <a:ln/>
        </p:spPr>
      </p:sp>
      <p:pic>
        <p:nvPicPr>
          <p:cNvPr id="33" name="Image 6" descr="preencoded.png">    </p:cNvPr>
          <p:cNvPicPr>
            <a:picLocks noChangeAspect="1"/>
          </p:cNvPicPr>
          <p:nvPr/>
        </p:nvPicPr>
        <p:blipFill>
          <a:blip r:embed="rId7"/>
          <a:stretch>
            <a:fillRect/>
          </a:stretch>
        </p:blipFill>
        <p:spPr>
          <a:xfrm>
            <a:off x="4672584" y="4215384"/>
            <a:ext cx="347472" cy="347472"/>
          </a:xfrm>
          <a:prstGeom prst="rect">
            <a:avLst/>
          </a:prstGeom>
        </p:spPr>
      </p:pic>
      <p:sp>
        <p:nvSpPr>
          <p:cNvPr id="34" name="Text 25"/>
          <p:cNvSpPr/>
          <p:nvPr/>
        </p:nvSpPr>
        <p:spPr>
          <a:xfrm>
            <a:off x="3648456" y="4809744"/>
            <a:ext cx="2395728" cy="365760"/>
          </a:xfrm>
          <a:prstGeom prst="rect">
            <a:avLst/>
          </a:prstGeom>
          <a:noFill/>
          <a:ln/>
        </p:spPr>
        <p:txBody>
          <a:bodyPr wrap="square" lIns="0" tIns="0" rIns="0" bIns="0" rtlCol="0" anchor="ctr"/>
          <a:lstStyle/>
          <a:p>
            <a:pPr algn="ctr" indent="0" marL="0">
              <a:buNone/>
            </a:pPr>
            <a:r>
              <a:rPr lang="en-US" sz="1300" b="1" dirty="0">
                <a:solidFill>
                  <a:srgbClr val="0F2D52"/>
                </a:solidFill>
                <a:latin typeface="Calibri" pitchFamily="34" charset="0"/>
                <a:ea typeface="Calibri" pitchFamily="34" charset="-122"/>
                <a:cs typeface="Calibri" pitchFamily="34" charset="-120"/>
              </a:rPr>
              <a:t>Satisfaction</a:t>
            </a:r>
            <a:endParaRPr lang="en-US" sz="1300" dirty="0"/>
          </a:p>
        </p:txBody>
      </p:sp>
      <p:sp>
        <p:nvSpPr>
          <p:cNvPr id="35" name="Text 26"/>
          <p:cNvSpPr/>
          <p:nvPr/>
        </p:nvSpPr>
        <p:spPr>
          <a:xfrm>
            <a:off x="3648456" y="5175504"/>
            <a:ext cx="2395728" cy="502920"/>
          </a:xfrm>
          <a:prstGeom prst="rect">
            <a:avLst/>
          </a:prstGeom>
          <a:noFill/>
          <a:ln/>
        </p:spPr>
        <p:txBody>
          <a:bodyPr wrap="square" lIns="0" tIns="0" rIns="0" bIns="0" rtlCol="0" anchor="ctr"/>
          <a:lstStyle/>
          <a:p>
            <a:pPr algn="ctr" indent="0" marL="0">
              <a:buNone/>
            </a:pPr>
            <a:r>
              <a:rPr lang="en-US" sz="2100" b="1" dirty="0">
                <a:solidFill>
                  <a:srgbClr val="0E9AA7"/>
                </a:solidFill>
                <a:latin typeface="Calibri" pitchFamily="34" charset="0"/>
                <a:ea typeface="Calibri" pitchFamily="34" charset="-122"/>
                <a:cs typeface="Calibri" pitchFamily="34" charset="-120"/>
              </a:rPr>
              <a:t>≥ 4.3/5</a:t>
            </a:r>
            <a:endParaRPr lang="en-US" sz="2100" dirty="0"/>
          </a:p>
        </p:txBody>
      </p:sp>
      <p:sp>
        <p:nvSpPr>
          <p:cNvPr id="36" name="Shape 27"/>
          <p:cNvSpPr/>
          <p:nvPr/>
        </p:nvSpPr>
        <p:spPr>
          <a:xfrm>
            <a:off x="6382512" y="3840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37" name="Shape 28"/>
          <p:cNvSpPr/>
          <p:nvPr/>
        </p:nvSpPr>
        <p:spPr>
          <a:xfrm>
            <a:off x="7388352" y="4059936"/>
            <a:ext cx="658368" cy="658368"/>
          </a:xfrm>
          <a:prstGeom prst="ellipse">
            <a:avLst/>
          </a:prstGeom>
          <a:solidFill>
            <a:srgbClr val="0F2D52"/>
          </a:solidFill>
          <a:ln/>
        </p:spPr>
      </p:sp>
      <p:pic>
        <p:nvPicPr>
          <p:cNvPr id="38" name="Image 7" descr="preencoded.png">    </p:cNvPr>
          <p:cNvPicPr>
            <a:picLocks noChangeAspect="1"/>
          </p:cNvPicPr>
          <p:nvPr/>
        </p:nvPicPr>
        <p:blipFill>
          <a:blip r:embed="rId8"/>
          <a:stretch>
            <a:fillRect/>
          </a:stretch>
        </p:blipFill>
        <p:spPr>
          <a:xfrm>
            <a:off x="7543800" y="4215384"/>
            <a:ext cx="347472" cy="347472"/>
          </a:xfrm>
          <a:prstGeom prst="rect">
            <a:avLst/>
          </a:prstGeom>
        </p:spPr>
      </p:pic>
      <p:sp>
        <p:nvSpPr>
          <p:cNvPr id="39" name="Text 29"/>
          <p:cNvSpPr/>
          <p:nvPr/>
        </p:nvSpPr>
        <p:spPr>
          <a:xfrm>
            <a:off x="6519672" y="4809744"/>
            <a:ext cx="2395728" cy="365760"/>
          </a:xfrm>
          <a:prstGeom prst="rect">
            <a:avLst/>
          </a:prstGeom>
          <a:noFill/>
          <a:ln/>
        </p:spPr>
        <p:txBody>
          <a:bodyPr wrap="square" lIns="0" tIns="0" rIns="0" bIns="0" rtlCol="0" anchor="ctr"/>
          <a:lstStyle/>
          <a:p>
            <a:pPr algn="ctr" indent="0" marL="0">
              <a:buNone/>
            </a:pPr>
            <a:r>
              <a:rPr lang="en-US" sz="1300" b="1" dirty="0">
                <a:solidFill>
                  <a:srgbClr val="0F2D52"/>
                </a:solidFill>
                <a:latin typeface="Calibri" pitchFamily="34" charset="0"/>
                <a:ea typeface="Calibri" pitchFamily="34" charset="-122"/>
                <a:cs typeface="Calibri" pitchFamily="34" charset="-120"/>
              </a:rPr>
              <a:t>Total Visitors</a:t>
            </a:r>
            <a:endParaRPr lang="en-US" sz="1300" dirty="0"/>
          </a:p>
        </p:txBody>
      </p:sp>
      <p:sp>
        <p:nvSpPr>
          <p:cNvPr id="40" name="Text 30"/>
          <p:cNvSpPr/>
          <p:nvPr/>
        </p:nvSpPr>
        <p:spPr>
          <a:xfrm>
            <a:off x="6519672" y="5175504"/>
            <a:ext cx="2395728" cy="502920"/>
          </a:xfrm>
          <a:prstGeom prst="rect">
            <a:avLst/>
          </a:prstGeom>
          <a:noFill/>
          <a:ln/>
        </p:spPr>
        <p:txBody>
          <a:bodyPr wrap="square" lIns="0" tIns="0" rIns="0" bIns="0" rtlCol="0" anchor="ctr"/>
          <a:lstStyle/>
          <a:p>
            <a:pPr algn="ctr" indent="0" marL="0">
              <a:buNone/>
            </a:pPr>
            <a:r>
              <a:rPr lang="en-US" sz="2100" b="1" dirty="0">
                <a:solidFill>
                  <a:srgbClr val="0E9AA7"/>
                </a:solidFill>
                <a:latin typeface="Calibri" pitchFamily="34" charset="0"/>
                <a:ea typeface="Calibri" pitchFamily="34" charset="-122"/>
                <a:cs typeface="Calibri" pitchFamily="34" charset="-120"/>
              </a:rPr>
              <a:t>Tracked</a:t>
            </a:r>
            <a:endParaRPr lang="en-US" sz="2100" dirty="0"/>
          </a:p>
        </p:txBody>
      </p:sp>
      <p:sp>
        <p:nvSpPr>
          <p:cNvPr id="41" name="Shape 31"/>
          <p:cNvSpPr/>
          <p:nvPr/>
        </p:nvSpPr>
        <p:spPr>
          <a:xfrm>
            <a:off x="9253728" y="3840480"/>
            <a:ext cx="2670048" cy="2084832"/>
          </a:xfrm>
          <a:prstGeom prst="roundRect">
            <a:avLst>
              <a:gd name="adj" fmla="val 3509"/>
            </a:avLst>
          </a:prstGeom>
          <a:solidFill>
            <a:srgbClr val="F4F8FC"/>
          </a:solidFill>
          <a:ln/>
          <a:effectLst>
            <a:outerShdw sx="100000" sy="100000" kx="0" ky="0" algn="bl" rotWithShape="0" blurRad="101600" dist="38100" dir="5400000">
              <a:srgbClr val="1A2A3A">
                <a:alpha val="16000"/>
              </a:srgbClr>
            </a:outerShdw>
          </a:effectLst>
        </p:spPr>
      </p:sp>
      <p:sp>
        <p:nvSpPr>
          <p:cNvPr id="42" name="Shape 32"/>
          <p:cNvSpPr/>
          <p:nvPr/>
        </p:nvSpPr>
        <p:spPr>
          <a:xfrm>
            <a:off x="10259568" y="4059936"/>
            <a:ext cx="658368" cy="658368"/>
          </a:xfrm>
          <a:prstGeom prst="ellipse">
            <a:avLst/>
          </a:prstGeom>
          <a:solidFill>
            <a:srgbClr val="0F2D52"/>
          </a:solidFill>
          <a:ln/>
        </p:spPr>
      </p:sp>
      <p:pic>
        <p:nvPicPr>
          <p:cNvPr id="43" name="Image 8" descr="preencoded.png">    </p:cNvPr>
          <p:cNvPicPr>
            <a:picLocks noChangeAspect="1"/>
          </p:cNvPicPr>
          <p:nvPr/>
        </p:nvPicPr>
        <p:blipFill>
          <a:blip r:embed="rId9"/>
          <a:stretch>
            <a:fillRect/>
          </a:stretch>
        </p:blipFill>
        <p:spPr>
          <a:xfrm>
            <a:off x="10415016" y="4215384"/>
            <a:ext cx="347472" cy="347472"/>
          </a:xfrm>
          <a:prstGeom prst="rect">
            <a:avLst/>
          </a:prstGeom>
        </p:spPr>
      </p:pic>
      <p:sp>
        <p:nvSpPr>
          <p:cNvPr id="44" name="Text 33"/>
          <p:cNvSpPr/>
          <p:nvPr/>
        </p:nvSpPr>
        <p:spPr>
          <a:xfrm>
            <a:off x="9390888" y="4809744"/>
            <a:ext cx="2395728" cy="365760"/>
          </a:xfrm>
          <a:prstGeom prst="rect">
            <a:avLst/>
          </a:prstGeom>
          <a:noFill/>
          <a:ln/>
        </p:spPr>
        <p:txBody>
          <a:bodyPr wrap="square" lIns="0" tIns="0" rIns="0" bIns="0" rtlCol="0" anchor="ctr"/>
          <a:lstStyle/>
          <a:p>
            <a:pPr algn="ctr" indent="0" marL="0">
              <a:buNone/>
            </a:pPr>
            <a:r>
              <a:rPr lang="en-US" sz="1300" b="1" dirty="0">
                <a:solidFill>
                  <a:srgbClr val="0F2D52"/>
                </a:solidFill>
                <a:latin typeface="Calibri" pitchFamily="34" charset="0"/>
                <a:ea typeface="Calibri" pitchFamily="34" charset="-122"/>
                <a:cs typeface="Calibri" pitchFamily="34" charset="-120"/>
              </a:rPr>
              <a:t>Reporting Coverage</a:t>
            </a:r>
            <a:endParaRPr lang="en-US" sz="1300" dirty="0"/>
          </a:p>
        </p:txBody>
      </p:sp>
      <p:sp>
        <p:nvSpPr>
          <p:cNvPr id="45" name="Text 34"/>
          <p:cNvSpPr/>
          <p:nvPr/>
        </p:nvSpPr>
        <p:spPr>
          <a:xfrm>
            <a:off x="9390888" y="5175504"/>
            <a:ext cx="2395728" cy="502920"/>
          </a:xfrm>
          <a:prstGeom prst="rect">
            <a:avLst/>
          </a:prstGeom>
          <a:noFill/>
          <a:ln/>
        </p:spPr>
        <p:txBody>
          <a:bodyPr wrap="square" lIns="0" tIns="0" rIns="0" bIns="0" rtlCol="0" anchor="ctr"/>
          <a:lstStyle/>
          <a:p>
            <a:pPr algn="ctr" indent="0" marL="0">
              <a:buNone/>
            </a:pPr>
            <a:r>
              <a:rPr lang="en-US" sz="2100" b="1" dirty="0">
                <a:solidFill>
                  <a:srgbClr val="0E9AA7"/>
                </a:solidFill>
                <a:latin typeface="Calibri" pitchFamily="34" charset="0"/>
                <a:ea typeface="Calibri" pitchFamily="34" charset="-122"/>
                <a:cs typeface="Calibri" pitchFamily="34" charset="-120"/>
              </a:rPr>
              <a:t>3 dashboards</a:t>
            </a:r>
            <a:endParaRPr lang="en-US" sz="2100" dirty="0"/>
          </a:p>
        </p:txBody>
      </p:sp>
      <p:sp>
        <p:nvSpPr>
          <p:cNvPr id="46" name="Text 35"/>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47" name="Text 36"/>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REPORTING</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Three Role-Based Dashboards</a:t>
            </a:r>
            <a:endParaRPr lang="en-US" sz="2800" dirty="0"/>
          </a:p>
        </p:txBody>
      </p:sp>
      <p:sp>
        <p:nvSpPr>
          <p:cNvPr id="6" name="Shape 3"/>
          <p:cNvSpPr/>
          <p:nvPr/>
        </p:nvSpPr>
        <p:spPr>
          <a:xfrm>
            <a:off x="640080" y="1600200"/>
            <a:ext cx="3520440" cy="4434840"/>
          </a:xfrm>
          <a:prstGeom prst="roundRect">
            <a:avLst>
              <a:gd name="adj" fmla="val 2078"/>
            </a:avLst>
          </a:prstGeom>
          <a:solidFill>
            <a:srgbClr val="FFFFFF"/>
          </a:solidFill>
          <a:ln w="12700">
            <a:solidFill>
              <a:srgbClr val="E3EAF1"/>
            </a:solidFill>
            <a:prstDash val="solid"/>
          </a:ln>
          <a:effectLst>
            <a:outerShdw sx="100000" sy="100000" kx="0" ky="0" algn="bl" rotWithShape="0" blurRad="101600" dist="38100" dir="5400000">
              <a:srgbClr val="1A2A3A">
                <a:alpha val="16000"/>
              </a:srgbClr>
            </a:outerShdw>
          </a:effectLst>
        </p:spPr>
      </p:sp>
      <p:sp>
        <p:nvSpPr>
          <p:cNvPr id="7" name="Shape 4"/>
          <p:cNvSpPr/>
          <p:nvPr/>
        </p:nvSpPr>
        <p:spPr>
          <a:xfrm>
            <a:off x="640080" y="1600200"/>
            <a:ext cx="3520440" cy="960120"/>
          </a:xfrm>
          <a:prstGeom prst="roundRect">
            <a:avLst>
              <a:gd name="adj" fmla="val 7619"/>
            </a:avLst>
          </a:prstGeom>
          <a:solidFill>
            <a:srgbClr val="0F2D52"/>
          </a:solidFill>
          <a:ln/>
        </p:spPr>
      </p:sp>
      <p:sp>
        <p:nvSpPr>
          <p:cNvPr id="8" name="Shape 5"/>
          <p:cNvSpPr/>
          <p:nvPr/>
        </p:nvSpPr>
        <p:spPr>
          <a:xfrm>
            <a:off x="640080" y="2057400"/>
            <a:ext cx="3520440" cy="502920"/>
          </a:xfrm>
          <a:prstGeom prst="rect">
            <a:avLst/>
          </a:prstGeom>
          <a:solidFill>
            <a:srgbClr val="0F2D52"/>
          </a:solidFill>
          <a:ln/>
        </p:spPr>
      </p:sp>
      <p:sp>
        <p:nvSpPr>
          <p:cNvPr id="9" name="Shape 6"/>
          <p:cNvSpPr/>
          <p:nvPr/>
        </p:nvSpPr>
        <p:spPr>
          <a:xfrm>
            <a:off x="914400" y="1837944"/>
            <a:ext cx="502920" cy="502920"/>
          </a:xfrm>
          <a:prstGeom prst="ellipse">
            <a:avLst/>
          </a:prstGeom>
          <a:solidFill>
            <a:srgbClr val="FFFFFF">
              <a:alpha val="16000"/>
            </a:srgbClr>
          </a:solidFill>
          <a:ln/>
        </p:spPr>
      </p:sp>
      <p:pic>
        <p:nvPicPr>
          <p:cNvPr id="10" name="Image 1" descr="preencoded.png">    </p:cNvPr>
          <p:cNvPicPr>
            <a:picLocks noChangeAspect="1"/>
          </p:cNvPicPr>
          <p:nvPr/>
        </p:nvPicPr>
        <p:blipFill>
          <a:blip r:embed="rId2"/>
          <a:stretch>
            <a:fillRect/>
          </a:stretch>
        </p:blipFill>
        <p:spPr>
          <a:xfrm>
            <a:off x="1042416" y="1965960"/>
            <a:ext cx="246888" cy="246888"/>
          </a:xfrm>
          <a:prstGeom prst="rect">
            <a:avLst/>
          </a:prstGeom>
        </p:spPr>
      </p:pic>
      <p:sp>
        <p:nvSpPr>
          <p:cNvPr id="11" name="Text 7"/>
          <p:cNvSpPr/>
          <p:nvPr/>
        </p:nvSpPr>
        <p:spPr>
          <a:xfrm>
            <a:off x="1554480" y="1837944"/>
            <a:ext cx="251460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Executive</a:t>
            </a:r>
            <a:endParaRPr lang="en-US" sz="1800" dirty="0"/>
          </a:p>
        </p:txBody>
      </p:sp>
      <p:sp>
        <p:nvSpPr>
          <p:cNvPr id="12" name="Text 8"/>
          <p:cNvSpPr/>
          <p:nvPr/>
        </p:nvSpPr>
        <p:spPr>
          <a:xfrm>
            <a:off x="1554480" y="2203704"/>
            <a:ext cx="2514600" cy="228600"/>
          </a:xfrm>
          <a:prstGeom prst="rect">
            <a:avLst/>
          </a:prstGeom>
          <a:noFill/>
          <a:ln/>
        </p:spPr>
        <p:txBody>
          <a:bodyPr wrap="square" lIns="0" tIns="0" rIns="0" bIns="0" rtlCol="0" anchor="ctr"/>
          <a:lstStyle/>
          <a:p>
            <a:pPr indent="0" marL="0">
              <a:buNone/>
            </a:pPr>
            <a:r>
              <a:rPr lang="en-US" sz="900" b="1" spc="200" kern="0" dirty="0">
                <a:solidFill>
                  <a:srgbClr val="DCE8F3"/>
                </a:solidFill>
                <a:latin typeface="Calibri" pitchFamily="34" charset="0"/>
                <a:ea typeface="Calibri" pitchFamily="34" charset="-122"/>
                <a:cs typeface="Calibri" pitchFamily="34" charset="-120"/>
              </a:rPr>
              <a:t>DASHBOARD</a:t>
            </a:r>
            <a:endParaRPr lang="en-US" sz="900" dirty="0"/>
          </a:p>
        </p:txBody>
      </p:sp>
      <p:pic>
        <p:nvPicPr>
          <p:cNvPr id="13" name="Image 2" descr="preencoded.png">    </p:cNvPr>
          <p:cNvPicPr>
            <a:picLocks noChangeAspect="1"/>
          </p:cNvPicPr>
          <p:nvPr/>
        </p:nvPicPr>
        <p:blipFill>
          <a:blip r:embed="rId3"/>
          <a:stretch>
            <a:fillRect/>
          </a:stretch>
        </p:blipFill>
        <p:spPr>
          <a:xfrm>
            <a:off x="932688" y="2871216"/>
            <a:ext cx="237744" cy="237744"/>
          </a:xfrm>
          <a:prstGeom prst="rect">
            <a:avLst/>
          </a:prstGeom>
        </p:spPr>
      </p:pic>
      <p:sp>
        <p:nvSpPr>
          <p:cNvPr id="14" name="Text 9"/>
          <p:cNvSpPr/>
          <p:nvPr/>
        </p:nvSpPr>
        <p:spPr>
          <a:xfrm>
            <a:off x="1261872" y="2834640"/>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Total visitors &amp; trend</a:t>
            </a:r>
            <a:endParaRPr lang="en-US" sz="1250" dirty="0"/>
          </a:p>
        </p:txBody>
      </p:sp>
      <p:pic>
        <p:nvPicPr>
          <p:cNvPr id="15" name="Image 3" descr="preencoded.png">    </p:cNvPr>
          <p:cNvPicPr>
            <a:picLocks noChangeAspect="1"/>
          </p:cNvPicPr>
          <p:nvPr/>
        </p:nvPicPr>
        <p:blipFill>
          <a:blip r:embed="rId4"/>
          <a:stretch>
            <a:fillRect/>
          </a:stretch>
        </p:blipFill>
        <p:spPr>
          <a:xfrm>
            <a:off x="932688" y="3621024"/>
            <a:ext cx="237744" cy="237744"/>
          </a:xfrm>
          <a:prstGeom prst="rect">
            <a:avLst/>
          </a:prstGeom>
        </p:spPr>
      </p:pic>
      <p:sp>
        <p:nvSpPr>
          <p:cNvPr id="16" name="Text 10"/>
          <p:cNvSpPr/>
          <p:nvPr/>
        </p:nvSpPr>
        <p:spPr>
          <a:xfrm>
            <a:off x="1261872" y="3584448"/>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Peak visit hours</a:t>
            </a:r>
            <a:endParaRPr lang="en-US" sz="1250" dirty="0"/>
          </a:p>
        </p:txBody>
      </p:sp>
      <p:pic>
        <p:nvPicPr>
          <p:cNvPr id="17" name="Image 4" descr="preencoded.png">    </p:cNvPr>
          <p:cNvPicPr>
            <a:picLocks noChangeAspect="1"/>
          </p:cNvPicPr>
          <p:nvPr/>
        </p:nvPicPr>
        <p:blipFill>
          <a:blip r:embed="rId5"/>
          <a:stretch>
            <a:fillRect/>
          </a:stretch>
        </p:blipFill>
        <p:spPr>
          <a:xfrm>
            <a:off x="932688" y="4370832"/>
            <a:ext cx="237744" cy="237744"/>
          </a:xfrm>
          <a:prstGeom prst="rect">
            <a:avLst/>
          </a:prstGeom>
        </p:spPr>
      </p:pic>
      <p:sp>
        <p:nvSpPr>
          <p:cNvPr id="18" name="Text 11"/>
          <p:cNvSpPr/>
          <p:nvPr/>
        </p:nvSpPr>
        <p:spPr>
          <a:xfrm>
            <a:off x="1261872" y="4334256"/>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Visits by department</a:t>
            </a:r>
            <a:endParaRPr lang="en-US" sz="1250" dirty="0"/>
          </a:p>
        </p:txBody>
      </p:sp>
      <p:pic>
        <p:nvPicPr>
          <p:cNvPr id="19" name="Image 5" descr="preencoded.png">    </p:cNvPr>
          <p:cNvPicPr>
            <a:picLocks noChangeAspect="1"/>
          </p:cNvPicPr>
          <p:nvPr/>
        </p:nvPicPr>
        <p:blipFill>
          <a:blip r:embed="rId6"/>
          <a:stretch>
            <a:fillRect/>
          </a:stretch>
        </p:blipFill>
        <p:spPr>
          <a:xfrm>
            <a:off x="932688" y="5120640"/>
            <a:ext cx="237744" cy="237744"/>
          </a:xfrm>
          <a:prstGeom prst="rect">
            <a:avLst/>
          </a:prstGeom>
        </p:spPr>
      </p:pic>
      <p:sp>
        <p:nvSpPr>
          <p:cNvPr id="20" name="Text 12"/>
          <p:cNvSpPr/>
          <p:nvPr/>
        </p:nvSpPr>
        <p:spPr>
          <a:xfrm>
            <a:off x="1261872" y="5084064"/>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Period-over-period view</a:t>
            </a:r>
            <a:endParaRPr lang="en-US" sz="1250" dirty="0"/>
          </a:p>
        </p:txBody>
      </p:sp>
      <p:sp>
        <p:nvSpPr>
          <p:cNvPr id="21" name="Shape 13"/>
          <p:cNvSpPr/>
          <p:nvPr/>
        </p:nvSpPr>
        <p:spPr>
          <a:xfrm>
            <a:off x="4343400" y="1600200"/>
            <a:ext cx="3520440" cy="4434840"/>
          </a:xfrm>
          <a:prstGeom prst="roundRect">
            <a:avLst>
              <a:gd name="adj" fmla="val 2078"/>
            </a:avLst>
          </a:prstGeom>
          <a:solidFill>
            <a:srgbClr val="FFFFFF"/>
          </a:solidFill>
          <a:ln w="12700">
            <a:solidFill>
              <a:srgbClr val="E3EAF1"/>
            </a:solidFill>
            <a:prstDash val="solid"/>
          </a:ln>
          <a:effectLst>
            <a:outerShdw sx="100000" sy="100000" kx="0" ky="0" algn="bl" rotWithShape="0" blurRad="101600" dist="38100" dir="5400000">
              <a:srgbClr val="1A2A3A">
                <a:alpha val="16000"/>
              </a:srgbClr>
            </a:outerShdw>
          </a:effectLst>
        </p:spPr>
      </p:sp>
      <p:sp>
        <p:nvSpPr>
          <p:cNvPr id="22" name="Shape 14"/>
          <p:cNvSpPr/>
          <p:nvPr/>
        </p:nvSpPr>
        <p:spPr>
          <a:xfrm>
            <a:off x="4343400" y="1600200"/>
            <a:ext cx="3520440" cy="960120"/>
          </a:xfrm>
          <a:prstGeom prst="roundRect">
            <a:avLst>
              <a:gd name="adj" fmla="val 7619"/>
            </a:avLst>
          </a:prstGeom>
          <a:solidFill>
            <a:srgbClr val="0E9AA7"/>
          </a:solidFill>
          <a:ln/>
        </p:spPr>
      </p:sp>
      <p:sp>
        <p:nvSpPr>
          <p:cNvPr id="23" name="Shape 15"/>
          <p:cNvSpPr/>
          <p:nvPr/>
        </p:nvSpPr>
        <p:spPr>
          <a:xfrm>
            <a:off x="4343400" y="2057400"/>
            <a:ext cx="3520440" cy="502920"/>
          </a:xfrm>
          <a:prstGeom prst="rect">
            <a:avLst/>
          </a:prstGeom>
          <a:solidFill>
            <a:srgbClr val="0E9AA7"/>
          </a:solidFill>
          <a:ln/>
        </p:spPr>
      </p:sp>
      <p:sp>
        <p:nvSpPr>
          <p:cNvPr id="24" name="Shape 16"/>
          <p:cNvSpPr/>
          <p:nvPr/>
        </p:nvSpPr>
        <p:spPr>
          <a:xfrm>
            <a:off x="4617720" y="1837944"/>
            <a:ext cx="502920" cy="502920"/>
          </a:xfrm>
          <a:prstGeom prst="ellipse">
            <a:avLst/>
          </a:prstGeom>
          <a:solidFill>
            <a:srgbClr val="FFFFFF">
              <a:alpha val="16000"/>
            </a:srgbClr>
          </a:solidFill>
          <a:ln/>
        </p:spPr>
      </p:sp>
      <p:pic>
        <p:nvPicPr>
          <p:cNvPr id="25" name="Image 6" descr="preencoded.png">    </p:cNvPr>
          <p:cNvPicPr>
            <a:picLocks noChangeAspect="1"/>
          </p:cNvPicPr>
          <p:nvPr/>
        </p:nvPicPr>
        <p:blipFill>
          <a:blip r:embed="rId7"/>
          <a:stretch>
            <a:fillRect/>
          </a:stretch>
        </p:blipFill>
        <p:spPr>
          <a:xfrm>
            <a:off x="4745736" y="1965960"/>
            <a:ext cx="246888" cy="246888"/>
          </a:xfrm>
          <a:prstGeom prst="rect">
            <a:avLst/>
          </a:prstGeom>
        </p:spPr>
      </p:pic>
      <p:sp>
        <p:nvSpPr>
          <p:cNvPr id="26" name="Text 17"/>
          <p:cNvSpPr/>
          <p:nvPr/>
        </p:nvSpPr>
        <p:spPr>
          <a:xfrm>
            <a:off x="5257800" y="1837944"/>
            <a:ext cx="251460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Operations</a:t>
            </a:r>
            <a:endParaRPr lang="en-US" sz="1800" dirty="0"/>
          </a:p>
        </p:txBody>
      </p:sp>
      <p:sp>
        <p:nvSpPr>
          <p:cNvPr id="27" name="Text 18"/>
          <p:cNvSpPr/>
          <p:nvPr/>
        </p:nvSpPr>
        <p:spPr>
          <a:xfrm>
            <a:off x="5257800" y="2203704"/>
            <a:ext cx="2514600" cy="228600"/>
          </a:xfrm>
          <a:prstGeom prst="rect">
            <a:avLst/>
          </a:prstGeom>
          <a:noFill/>
          <a:ln/>
        </p:spPr>
        <p:txBody>
          <a:bodyPr wrap="square" lIns="0" tIns="0" rIns="0" bIns="0" rtlCol="0" anchor="ctr"/>
          <a:lstStyle/>
          <a:p>
            <a:pPr indent="0" marL="0">
              <a:buNone/>
            </a:pPr>
            <a:r>
              <a:rPr lang="en-US" sz="900" b="1" spc="200" kern="0" dirty="0">
                <a:solidFill>
                  <a:srgbClr val="DCE8F3"/>
                </a:solidFill>
                <a:latin typeface="Calibri" pitchFamily="34" charset="0"/>
                <a:ea typeface="Calibri" pitchFamily="34" charset="-122"/>
                <a:cs typeface="Calibri" pitchFamily="34" charset="-120"/>
              </a:rPr>
              <a:t>DASHBOARD</a:t>
            </a:r>
            <a:endParaRPr lang="en-US" sz="900" dirty="0"/>
          </a:p>
        </p:txBody>
      </p:sp>
      <p:pic>
        <p:nvPicPr>
          <p:cNvPr id="28" name="Image 7" descr="preencoded.png">    </p:cNvPr>
          <p:cNvPicPr>
            <a:picLocks noChangeAspect="1"/>
          </p:cNvPicPr>
          <p:nvPr/>
        </p:nvPicPr>
        <p:blipFill>
          <a:blip r:embed="rId8"/>
          <a:stretch>
            <a:fillRect/>
          </a:stretch>
        </p:blipFill>
        <p:spPr>
          <a:xfrm>
            <a:off x="4636008" y="2871216"/>
            <a:ext cx="237744" cy="237744"/>
          </a:xfrm>
          <a:prstGeom prst="rect">
            <a:avLst/>
          </a:prstGeom>
        </p:spPr>
      </p:pic>
      <p:sp>
        <p:nvSpPr>
          <p:cNvPr id="29" name="Text 19"/>
          <p:cNvSpPr/>
          <p:nvPr/>
        </p:nvSpPr>
        <p:spPr>
          <a:xfrm>
            <a:off x="4965192" y="2834640"/>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Pending approvals</a:t>
            </a:r>
            <a:endParaRPr lang="en-US" sz="1250" dirty="0"/>
          </a:p>
        </p:txBody>
      </p:sp>
      <p:pic>
        <p:nvPicPr>
          <p:cNvPr id="30" name="Image 8" descr="preencoded.png">    </p:cNvPr>
          <p:cNvPicPr>
            <a:picLocks noChangeAspect="1"/>
          </p:cNvPicPr>
          <p:nvPr/>
        </p:nvPicPr>
        <p:blipFill>
          <a:blip r:embed="rId9"/>
          <a:stretch>
            <a:fillRect/>
          </a:stretch>
        </p:blipFill>
        <p:spPr>
          <a:xfrm>
            <a:off x="4636008" y="3621024"/>
            <a:ext cx="237744" cy="237744"/>
          </a:xfrm>
          <a:prstGeom prst="rect">
            <a:avLst/>
          </a:prstGeom>
        </p:spPr>
      </p:pic>
      <p:sp>
        <p:nvSpPr>
          <p:cNvPr id="31" name="Text 20"/>
          <p:cNvSpPr/>
          <p:nvPr/>
        </p:nvSpPr>
        <p:spPr>
          <a:xfrm>
            <a:off x="4965192" y="3584448"/>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Today's upcoming visits</a:t>
            </a:r>
            <a:endParaRPr lang="en-US" sz="1250" dirty="0"/>
          </a:p>
        </p:txBody>
      </p:sp>
      <p:pic>
        <p:nvPicPr>
          <p:cNvPr id="32" name="Image 9" descr="preencoded.png">    </p:cNvPr>
          <p:cNvPicPr>
            <a:picLocks noChangeAspect="1"/>
          </p:cNvPicPr>
          <p:nvPr/>
        </p:nvPicPr>
        <p:blipFill>
          <a:blip r:embed="rId10"/>
          <a:stretch>
            <a:fillRect/>
          </a:stretch>
        </p:blipFill>
        <p:spPr>
          <a:xfrm>
            <a:off x="4636008" y="4370832"/>
            <a:ext cx="237744" cy="237744"/>
          </a:xfrm>
          <a:prstGeom prst="rect">
            <a:avLst/>
          </a:prstGeom>
        </p:spPr>
      </p:pic>
      <p:sp>
        <p:nvSpPr>
          <p:cNvPr id="33" name="Text 21"/>
          <p:cNvSpPr/>
          <p:nvPr/>
        </p:nvSpPr>
        <p:spPr>
          <a:xfrm>
            <a:off x="4965192" y="4334256"/>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Processing-time gauge</a:t>
            </a:r>
            <a:endParaRPr lang="en-US" sz="1250" dirty="0"/>
          </a:p>
        </p:txBody>
      </p:sp>
      <p:pic>
        <p:nvPicPr>
          <p:cNvPr id="34" name="Image 10" descr="preencoded.png">    </p:cNvPr>
          <p:cNvPicPr>
            <a:picLocks noChangeAspect="1"/>
          </p:cNvPicPr>
          <p:nvPr/>
        </p:nvPicPr>
        <p:blipFill>
          <a:blip r:embed="rId11"/>
          <a:stretch>
            <a:fillRect/>
          </a:stretch>
        </p:blipFill>
        <p:spPr>
          <a:xfrm>
            <a:off x="4636008" y="5120640"/>
            <a:ext cx="237744" cy="237744"/>
          </a:xfrm>
          <a:prstGeom prst="rect">
            <a:avLst/>
          </a:prstGeom>
        </p:spPr>
      </p:pic>
      <p:sp>
        <p:nvSpPr>
          <p:cNvPr id="35" name="Text 22"/>
          <p:cNvSpPr/>
          <p:nvPr/>
        </p:nvSpPr>
        <p:spPr>
          <a:xfrm>
            <a:off x="4965192" y="5084064"/>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No-show rate</a:t>
            </a:r>
            <a:endParaRPr lang="en-US" sz="1250" dirty="0"/>
          </a:p>
        </p:txBody>
      </p:sp>
      <p:sp>
        <p:nvSpPr>
          <p:cNvPr id="36" name="Shape 23"/>
          <p:cNvSpPr/>
          <p:nvPr/>
        </p:nvSpPr>
        <p:spPr>
          <a:xfrm>
            <a:off x="8046720" y="1600200"/>
            <a:ext cx="3520440" cy="4434840"/>
          </a:xfrm>
          <a:prstGeom prst="roundRect">
            <a:avLst>
              <a:gd name="adj" fmla="val 2078"/>
            </a:avLst>
          </a:prstGeom>
          <a:solidFill>
            <a:srgbClr val="FFFFFF"/>
          </a:solidFill>
          <a:ln w="12700">
            <a:solidFill>
              <a:srgbClr val="E3EAF1"/>
            </a:solidFill>
            <a:prstDash val="solid"/>
          </a:ln>
          <a:effectLst>
            <a:outerShdw sx="100000" sy="100000" kx="0" ky="0" algn="bl" rotWithShape="0" blurRad="101600" dist="38100" dir="5400000">
              <a:srgbClr val="1A2A3A">
                <a:alpha val="16000"/>
              </a:srgbClr>
            </a:outerShdw>
          </a:effectLst>
        </p:spPr>
      </p:sp>
      <p:sp>
        <p:nvSpPr>
          <p:cNvPr id="37" name="Shape 24"/>
          <p:cNvSpPr/>
          <p:nvPr/>
        </p:nvSpPr>
        <p:spPr>
          <a:xfrm>
            <a:off x="8046720" y="1600200"/>
            <a:ext cx="3520440" cy="960120"/>
          </a:xfrm>
          <a:prstGeom prst="roundRect">
            <a:avLst>
              <a:gd name="adj" fmla="val 7619"/>
            </a:avLst>
          </a:prstGeom>
          <a:solidFill>
            <a:srgbClr val="163A66"/>
          </a:solidFill>
          <a:ln/>
        </p:spPr>
      </p:sp>
      <p:sp>
        <p:nvSpPr>
          <p:cNvPr id="38" name="Shape 25"/>
          <p:cNvSpPr/>
          <p:nvPr/>
        </p:nvSpPr>
        <p:spPr>
          <a:xfrm>
            <a:off x="8046720" y="2057400"/>
            <a:ext cx="3520440" cy="502920"/>
          </a:xfrm>
          <a:prstGeom prst="rect">
            <a:avLst/>
          </a:prstGeom>
          <a:solidFill>
            <a:srgbClr val="163A66"/>
          </a:solidFill>
          <a:ln/>
        </p:spPr>
      </p:sp>
      <p:sp>
        <p:nvSpPr>
          <p:cNvPr id="39" name="Shape 26"/>
          <p:cNvSpPr/>
          <p:nvPr/>
        </p:nvSpPr>
        <p:spPr>
          <a:xfrm>
            <a:off x="8321040" y="1837944"/>
            <a:ext cx="502920" cy="502920"/>
          </a:xfrm>
          <a:prstGeom prst="ellipse">
            <a:avLst/>
          </a:prstGeom>
          <a:solidFill>
            <a:srgbClr val="FFFFFF">
              <a:alpha val="16000"/>
            </a:srgbClr>
          </a:solidFill>
          <a:ln/>
        </p:spPr>
      </p:sp>
      <p:pic>
        <p:nvPicPr>
          <p:cNvPr id="40" name="Image 11" descr="preencoded.png">    </p:cNvPr>
          <p:cNvPicPr>
            <a:picLocks noChangeAspect="1"/>
          </p:cNvPicPr>
          <p:nvPr/>
        </p:nvPicPr>
        <p:blipFill>
          <a:blip r:embed="rId12"/>
          <a:stretch>
            <a:fillRect/>
          </a:stretch>
        </p:blipFill>
        <p:spPr>
          <a:xfrm>
            <a:off x="8449056" y="1965960"/>
            <a:ext cx="246888" cy="246888"/>
          </a:xfrm>
          <a:prstGeom prst="rect">
            <a:avLst/>
          </a:prstGeom>
        </p:spPr>
      </p:pic>
      <p:sp>
        <p:nvSpPr>
          <p:cNvPr id="41" name="Text 27"/>
          <p:cNvSpPr/>
          <p:nvPr/>
        </p:nvSpPr>
        <p:spPr>
          <a:xfrm>
            <a:off x="8961120" y="1837944"/>
            <a:ext cx="251460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Security</a:t>
            </a:r>
            <a:endParaRPr lang="en-US" sz="1800" dirty="0"/>
          </a:p>
        </p:txBody>
      </p:sp>
      <p:sp>
        <p:nvSpPr>
          <p:cNvPr id="42" name="Text 28"/>
          <p:cNvSpPr/>
          <p:nvPr/>
        </p:nvSpPr>
        <p:spPr>
          <a:xfrm>
            <a:off x="8961120" y="2203704"/>
            <a:ext cx="2514600" cy="228600"/>
          </a:xfrm>
          <a:prstGeom prst="rect">
            <a:avLst/>
          </a:prstGeom>
          <a:noFill/>
          <a:ln/>
        </p:spPr>
        <p:txBody>
          <a:bodyPr wrap="square" lIns="0" tIns="0" rIns="0" bIns="0" rtlCol="0" anchor="ctr"/>
          <a:lstStyle/>
          <a:p>
            <a:pPr indent="0" marL="0">
              <a:buNone/>
            </a:pPr>
            <a:r>
              <a:rPr lang="en-US" sz="900" b="1" spc="200" kern="0" dirty="0">
                <a:solidFill>
                  <a:srgbClr val="DCE8F3"/>
                </a:solidFill>
                <a:latin typeface="Calibri" pitchFamily="34" charset="0"/>
                <a:ea typeface="Calibri" pitchFamily="34" charset="-122"/>
                <a:cs typeface="Calibri" pitchFamily="34" charset="-120"/>
              </a:rPr>
              <a:t>DASHBOARD</a:t>
            </a:r>
            <a:endParaRPr lang="en-US" sz="900" dirty="0"/>
          </a:p>
        </p:txBody>
      </p:sp>
      <p:pic>
        <p:nvPicPr>
          <p:cNvPr id="43" name="Image 12" descr="preencoded.png">    </p:cNvPr>
          <p:cNvPicPr>
            <a:picLocks noChangeAspect="1"/>
          </p:cNvPicPr>
          <p:nvPr/>
        </p:nvPicPr>
        <p:blipFill>
          <a:blip r:embed="rId13"/>
          <a:stretch>
            <a:fillRect/>
          </a:stretch>
        </p:blipFill>
        <p:spPr>
          <a:xfrm>
            <a:off x="8339328" y="2871216"/>
            <a:ext cx="237744" cy="237744"/>
          </a:xfrm>
          <a:prstGeom prst="rect">
            <a:avLst/>
          </a:prstGeom>
        </p:spPr>
      </p:pic>
      <p:sp>
        <p:nvSpPr>
          <p:cNvPr id="44" name="Text 29"/>
          <p:cNvSpPr/>
          <p:nvPr/>
        </p:nvSpPr>
        <p:spPr>
          <a:xfrm>
            <a:off x="8668512" y="2834640"/>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Live on-site count</a:t>
            </a:r>
            <a:endParaRPr lang="en-US" sz="1250" dirty="0"/>
          </a:p>
        </p:txBody>
      </p:sp>
      <p:pic>
        <p:nvPicPr>
          <p:cNvPr id="45" name="Image 13" descr="preencoded.png">    </p:cNvPr>
          <p:cNvPicPr>
            <a:picLocks noChangeAspect="1"/>
          </p:cNvPicPr>
          <p:nvPr/>
        </p:nvPicPr>
        <p:blipFill>
          <a:blip r:embed="rId14"/>
          <a:stretch>
            <a:fillRect/>
          </a:stretch>
        </p:blipFill>
        <p:spPr>
          <a:xfrm>
            <a:off x="8339328" y="3621024"/>
            <a:ext cx="237744" cy="237744"/>
          </a:xfrm>
          <a:prstGeom prst="rect">
            <a:avLst/>
          </a:prstGeom>
        </p:spPr>
      </p:pic>
      <p:sp>
        <p:nvSpPr>
          <p:cNvPr id="46" name="Text 30"/>
          <p:cNvSpPr/>
          <p:nvPr/>
        </p:nvSpPr>
        <p:spPr>
          <a:xfrm>
            <a:off x="8668512" y="3584448"/>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Expired / over-stay passes</a:t>
            </a:r>
            <a:endParaRPr lang="en-US" sz="1250" dirty="0"/>
          </a:p>
        </p:txBody>
      </p:sp>
      <p:pic>
        <p:nvPicPr>
          <p:cNvPr id="47" name="Image 14" descr="preencoded.png">    </p:cNvPr>
          <p:cNvPicPr>
            <a:picLocks noChangeAspect="1"/>
          </p:cNvPicPr>
          <p:nvPr/>
        </p:nvPicPr>
        <p:blipFill>
          <a:blip r:embed="rId15"/>
          <a:stretch>
            <a:fillRect/>
          </a:stretch>
        </p:blipFill>
        <p:spPr>
          <a:xfrm>
            <a:off x="8339328" y="4370832"/>
            <a:ext cx="237744" cy="237744"/>
          </a:xfrm>
          <a:prstGeom prst="rect">
            <a:avLst/>
          </a:prstGeom>
        </p:spPr>
      </p:pic>
      <p:sp>
        <p:nvSpPr>
          <p:cNvPr id="48" name="Text 31"/>
          <p:cNvSpPr/>
          <p:nvPr/>
        </p:nvSpPr>
        <p:spPr>
          <a:xfrm>
            <a:off x="8668512" y="4334256"/>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Security alerts</a:t>
            </a:r>
            <a:endParaRPr lang="en-US" sz="1250" dirty="0"/>
          </a:p>
        </p:txBody>
      </p:sp>
      <p:pic>
        <p:nvPicPr>
          <p:cNvPr id="49" name="Image 15" descr="preencoded.png">    </p:cNvPr>
          <p:cNvPicPr>
            <a:picLocks noChangeAspect="1"/>
          </p:cNvPicPr>
          <p:nvPr/>
        </p:nvPicPr>
        <p:blipFill>
          <a:blip r:embed="rId16"/>
          <a:stretch>
            <a:fillRect/>
          </a:stretch>
        </p:blipFill>
        <p:spPr>
          <a:xfrm>
            <a:off x="8339328" y="5120640"/>
            <a:ext cx="237744" cy="237744"/>
          </a:xfrm>
          <a:prstGeom prst="rect">
            <a:avLst/>
          </a:prstGeom>
        </p:spPr>
      </p:pic>
      <p:sp>
        <p:nvSpPr>
          <p:cNvPr id="50" name="Text 32"/>
          <p:cNvSpPr/>
          <p:nvPr/>
        </p:nvSpPr>
        <p:spPr>
          <a:xfrm>
            <a:off x="8668512" y="5084064"/>
            <a:ext cx="2697480" cy="640080"/>
          </a:xfrm>
          <a:prstGeom prst="rect">
            <a:avLst/>
          </a:prstGeom>
          <a:noFill/>
          <a:ln/>
        </p:spPr>
        <p:txBody>
          <a:bodyPr wrap="square" lIns="0" tIns="0" rIns="0" bIns="0" rtlCol="0" anchor="t"/>
          <a:lstStyle/>
          <a:p>
            <a:pPr indent="0" marL="0">
              <a:buNone/>
            </a:pPr>
            <a:r>
              <a:rPr lang="en-US" sz="1250" dirty="0">
                <a:solidFill>
                  <a:srgbClr val="0F2D52"/>
                </a:solidFill>
                <a:latin typeface="Calibri" pitchFamily="34" charset="0"/>
                <a:ea typeface="Calibri" pitchFamily="34" charset="-122"/>
                <a:cs typeface="Calibri" pitchFamily="34" charset="-120"/>
              </a:rPr>
              <a:t>Watch-list flags</a:t>
            </a:r>
            <a:endParaRPr lang="en-US" sz="1250" dirty="0"/>
          </a:p>
        </p:txBody>
      </p:sp>
      <p:sp>
        <p:nvSpPr>
          <p:cNvPr id="51" name="Text 33"/>
          <p:cNvSpPr/>
          <p:nvPr/>
        </p:nvSpPr>
        <p:spPr>
          <a:xfrm>
            <a:off x="640080" y="6199632"/>
            <a:ext cx="10927080" cy="274320"/>
          </a:xfrm>
          <a:prstGeom prst="rect">
            <a:avLst/>
          </a:prstGeom>
          <a:noFill/>
          <a:ln/>
        </p:spPr>
        <p:txBody>
          <a:bodyPr wrap="square" lIns="0" tIns="0" rIns="0" bIns="0" rtlCol="0" anchor="ctr"/>
          <a:lstStyle/>
          <a:p>
            <a:pPr algn="ctr" indent="0" marL="0">
              <a:buNone/>
            </a:pPr>
            <a:r>
              <a:rPr lang="en-US" sz="1050" i="1" dirty="0">
                <a:solidFill>
                  <a:srgbClr val="5B6B7B"/>
                </a:solidFill>
                <a:latin typeface="Calibri" pitchFamily="34" charset="0"/>
                <a:ea typeface="Calibri" pitchFamily="34" charset="-122"/>
                <a:cs typeface="Calibri" pitchFamily="34" charset="-120"/>
              </a:rPr>
              <a:t>Built in Power BI · filters for date, site, department, host &amp; visit type · full visual mockup in the dashboard deliverable</a:t>
            </a:r>
            <a:endParaRPr lang="en-US" sz="1050" dirty="0"/>
          </a:p>
        </p:txBody>
      </p:sp>
      <p:sp>
        <p:nvSpPr>
          <p:cNvPr id="52" name="Text 34"/>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53" name="Text 35"/>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F2D5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429768"/>
            <a:ext cx="9144000" cy="228600"/>
          </a:xfrm>
          <a:prstGeom prst="rect">
            <a:avLst/>
          </a:prstGeom>
          <a:noFill/>
          <a:ln/>
        </p:spPr>
        <p:txBody>
          <a:bodyPr wrap="square" lIns="0" tIns="0" rIns="0" bIns="0" rtlCol="0" anchor="ctr"/>
          <a:lstStyle/>
          <a:p>
            <a:pPr indent="0" marL="0">
              <a:buNone/>
            </a:pPr>
            <a:r>
              <a:rPr lang="en-US" sz="1100" b="1" spc="200" kern="0" dirty="0">
                <a:solidFill>
                  <a:srgbClr val="0E9AA7"/>
                </a:solidFill>
                <a:latin typeface="Calibri" pitchFamily="34" charset="0"/>
                <a:ea typeface="Calibri" pitchFamily="34" charset="-122"/>
                <a:cs typeface="Calibri" pitchFamily="34" charset="-120"/>
              </a:rPr>
              <a:t>HOW WE DELIVER</a:t>
            </a:r>
            <a:endParaRPr lang="en-US" sz="1100" dirty="0"/>
          </a:p>
        </p:txBody>
      </p:sp>
      <p:sp>
        <p:nvSpPr>
          <p:cNvPr id="5" name="Text 2"/>
          <p:cNvSpPr/>
          <p:nvPr/>
        </p:nvSpPr>
        <p:spPr>
          <a:xfrm>
            <a:off x="1234440" y="640080"/>
            <a:ext cx="10424160" cy="502920"/>
          </a:xfrm>
          <a:prstGeom prst="rect">
            <a:avLst/>
          </a:prstGeom>
          <a:noFill/>
          <a:ln/>
        </p:spPr>
        <p:txBody>
          <a:bodyPr wrap="square" lIns="0" tIns="0" rIns="0" bIns="0" rtlCol="0" anchor="ctr"/>
          <a:lstStyle/>
          <a:p>
            <a:pPr indent="0" marL="0">
              <a:buNone/>
            </a:pPr>
            <a:r>
              <a:rPr lang="en-US" sz="2800" b="1" dirty="0">
                <a:solidFill>
                  <a:srgbClr val="0F2D52"/>
                </a:solidFill>
                <a:latin typeface="Calibri" pitchFamily="34" charset="0"/>
                <a:ea typeface="Calibri" pitchFamily="34" charset="-122"/>
                <a:cs typeface="Calibri" pitchFamily="34" charset="-120"/>
              </a:rPr>
              <a:t>Roadmap &amp; Key Risks</a:t>
            </a:r>
            <a:endParaRPr lang="en-US" sz="2800" dirty="0"/>
          </a:p>
        </p:txBody>
      </p:sp>
      <p:sp>
        <p:nvSpPr>
          <p:cNvPr id="6" name="Text 3"/>
          <p:cNvSpPr/>
          <p:nvPr/>
        </p:nvSpPr>
        <p:spPr>
          <a:xfrm>
            <a:off x="640080" y="1572768"/>
            <a:ext cx="4572000" cy="292608"/>
          </a:xfrm>
          <a:prstGeom prst="rect">
            <a:avLst/>
          </a:prstGeom>
          <a:noFill/>
          <a:ln/>
        </p:spPr>
        <p:txBody>
          <a:bodyPr wrap="square" lIns="0" tIns="0" rIns="0" bIns="0" rtlCol="0" anchor="ctr"/>
          <a:lstStyle/>
          <a:p>
            <a:pPr indent="0" marL="0">
              <a:buNone/>
            </a:pPr>
            <a:r>
              <a:rPr lang="en-US" sz="1500" b="1" dirty="0">
                <a:solidFill>
                  <a:srgbClr val="0E9AA7"/>
                </a:solidFill>
                <a:latin typeface="Calibri" pitchFamily="34" charset="0"/>
                <a:ea typeface="Calibri" pitchFamily="34" charset="-122"/>
                <a:cs typeface="Calibri" pitchFamily="34" charset="-120"/>
              </a:rPr>
              <a:t>Phased Delivery</a:t>
            </a:r>
            <a:endParaRPr lang="en-US" sz="1500" dirty="0"/>
          </a:p>
        </p:txBody>
      </p:sp>
      <p:sp>
        <p:nvSpPr>
          <p:cNvPr id="7" name="Shape 4"/>
          <p:cNvSpPr/>
          <p:nvPr/>
        </p:nvSpPr>
        <p:spPr>
          <a:xfrm>
            <a:off x="640080" y="1965960"/>
            <a:ext cx="566928" cy="566928"/>
          </a:xfrm>
          <a:prstGeom prst="ellipse">
            <a:avLst/>
          </a:prstGeom>
          <a:solidFill>
            <a:srgbClr val="0F2D52"/>
          </a:solidFill>
          <a:ln/>
        </p:spPr>
      </p:sp>
      <p:sp>
        <p:nvSpPr>
          <p:cNvPr id="8" name="Text 5"/>
          <p:cNvSpPr/>
          <p:nvPr/>
        </p:nvSpPr>
        <p:spPr>
          <a:xfrm>
            <a:off x="640080" y="196596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9" name="Shape 6"/>
          <p:cNvSpPr/>
          <p:nvPr/>
        </p:nvSpPr>
        <p:spPr>
          <a:xfrm>
            <a:off x="923544" y="2569464"/>
            <a:ext cx="0" cy="365760"/>
          </a:xfrm>
          <a:prstGeom prst="line">
            <a:avLst/>
          </a:prstGeom>
          <a:noFill/>
          <a:ln w="31750">
            <a:solidFill>
              <a:srgbClr val="8FD3D9"/>
            </a:solidFill>
            <a:prstDash val="solid"/>
          </a:ln>
        </p:spPr>
      </p:sp>
      <p:sp>
        <p:nvSpPr>
          <p:cNvPr id="10" name="Text 7"/>
          <p:cNvSpPr/>
          <p:nvPr/>
        </p:nvSpPr>
        <p:spPr>
          <a:xfrm>
            <a:off x="1371600" y="1984248"/>
            <a:ext cx="4297680" cy="320040"/>
          </a:xfrm>
          <a:prstGeom prst="rect">
            <a:avLst/>
          </a:prstGeom>
          <a:noFill/>
          <a:ln/>
        </p:spPr>
        <p:txBody>
          <a:bodyPr wrap="square" lIns="0" tIns="0" rIns="0" bIns="0" rtlCol="0" anchor="ctr"/>
          <a:lstStyle/>
          <a:p>
            <a:pPr indent="0" marL="0">
              <a:buNone/>
            </a:pPr>
            <a:r>
              <a:rPr lang="en-US" sz="1400" b="1" dirty="0">
                <a:solidFill>
                  <a:srgbClr val="0F2D52"/>
                </a:solidFill>
                <a:latin typeface="Calibri" pitchFamily="34" charset="0"/>
                <a:ea typeface="Calibri" pitchFamily="34" charset="-122"/>
                <a:cs typeface="Calibri" pitchFamily="34" charset="-120"/>
              </a:rPr>
              <a:t>Discovery &amp; Design</a:t>
            </a:r>
            <a:endParaRPr lang="en-US" sz="1400" dirty="0"/>
          </a:p>
        </p:txBody>
      </p:sp>
      <p:sp>
        <p:nvSpPr>
          <p:cNvPr id="11" name="Text 8"/>
          <p:cNvSpPr/>
          <p:nvPr/>
        </p:nvSpPr>
        <p:spPr>
          <a:xfrm>
            <a:off x="1371600" y="2295144"/>
            <a:ext cx="4297680" cy="457200"/>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Confirm requirements, workflows, integrations</a:t>
            </a:r>
            <a:endParaRPr lang="en-US" sz="1100" dirty="0"/>
          </a:p>
        </p:txBody>
      </p:sp>
      <p:sp>
        <p:nvSpPr>
          <p:cNvPr id="12" name="Shape 9"/>
          <p:cNvSpPr/>
          <p:nvPr/>
        </p:nvSpPr>
        <p:spPr>
          <a:xfrm>
            <a:off x="640080" y="2935224"/>
            <a:ext cx="566928" cy="566928"/>
          </a:xfrm>
          <a:prstGeom prst="ellipse">
            <a:avLst/>
          </a:prstGeom>
          <a:solidFill>
            <a:srgbClr val="0F2D52"/>
          </a:solidFill>
          <a:ln/>
        </p:spPr>
      </p:sp>
      <p:sp>
        <p:nvSpPr>
          <p:cNvPr id="13" name="Text 10"/>
          <p:cNvSpPr/>
          <p:nvPr/>
        </p:nvSpPr>
        <p:spPr>
          <a:xfrm>
            <a:off x="640080" y="2935224"/>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Shape 11"/>
          <p:cNvSpPr/>
          <p:nvPr/>
        </p:nvSpPr>
        <p:spPr>
          <a:xfrm>
            <a:off x="923544" y="3538728"/>
            <a:ext cx="0" cy="365760"/>
          </a:xfrm>
          <a:prstGeom prst="line">
            <a:avLst/>
          </a:prstGeom>
          <a:noFill/>
          <a:ln w="31750">
            <a:solidFill>
              <a:srgbClr val="8FD3D9"/>
            </a:solidFill>
            <a:prstDash val="solid"/>
          </a:ln>
        </p:spPr>
      </p:sp>
      <p:sp>
        <p:nvSpPr>
          <p:cNvPr id="15" name="Text 12"/>
          <p:cNvSpPr/>
          <p:nvPr/>
        </p:nvSpPr>
        <p:spPr>
          <a:xfrm>
            <a:off x="1371600" y="2953512"/>
            <a:ext cx="4297680" cy="320040"/>
          </a:xfrm>
          <a:prstGeom prst="rect">
            <a:avLst/>
          </a:prstGeom>
          <a:noFill/>
          <a:ln/>
        </p:spPr>
        <p:txBody>
          <a:bodyPr wrap="square" lIns="0" tIns="0" rIns="0" bIns="0" rtlCol="0" anchor="ctr"/>
          <a:lstStyle/>
          <a:p>
            <a:pPr indent="0" marL="0">
              <a:buNone/>
            </a:pPr>
            <a:r>
              <a:rPr lang="en-US" sz="1400" b="1" dirty="0">
                <a:solidFill>
                  <a:srgbClr val="0F2D52"/>
                </a:solidFill>
                <a:latin typeface="Calibri" pitchFamily="34" charset="0"/>
                <a:ea typeface="Calibri" pitchFamily="34" charset="-122"/>
                <a:cs typeface="Calibri" pitchFamily="34" charset="-120"/>
              </a:rPr>
              <a:t>Pilot — Single Site</a:t>
            </a:r>
            <a:endParaRPr lang="en-US" sz="1400" dirty="0"/>
          </a:p>
        </p:txBody>
      </p:sp>
      <p:sp>
        <p:nvSpPr>
          <p:cNvPr id="16" name="Text 13"/>
          <p:cNvSpPr/>
          <p:nvPr/>
        </p:nvSpPr>
        <p:spPr>
          <a:xfrm>
            <a:off x="1371600" y="3264408"/>
            <a:ext cx="4297680" cy="457200"/>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Configure, test, train, validate KPIs</a:t>
            </a:r>
            <a:endParaRPr lang="en-US" sz="1100" dirty="0"/>
          </a:p>
        </p:txBody>
      </p:sp>
      <p:sp>
        <p:nvSpPr>
          <p:cNvPr id="17" name="Shape 14"/>
          <p:cNvSpPr/>
          <p:nvPr/>
        </p:nvSpPr>
        <p:spPr>
          <a:xfrm>
            <a:off x="640080" y="3904488"/>
            <a:ext cx="566928" cy="566928"/>
          </a:xfrm>
          <a:prstGeom prst="ellipse">
            <a:avLst/>
          </a:prstGeom>
          <a:solidFill>
            <a:srgbClr val="0F2D52"/>
          </a:solidFill>
          <a:ln/>
        </p:spPr>
      </p:sp>
      <p:sp>
        <p:nvSpPr>
          <p:cNvPr id="18" name="Text 15"/>
          <p:cNvSpPr/>
          <p:nvPr/>
        </p:nvSpPr>
        <p:spPr>
          <a:xfrm>
            <a:off x="640080" y="390448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9" name="Shape 16"/>
          <p:cNvSpPr/>
          <p:nvPr/>
        </p:nvSpPr>
        <p:spPr>
          <a:xfrm>
            <a:off x="923544" y="4507992"/>
            <a:ext cx="0" cy="365760"/>
          </a:xfrm>
          <a:prstGeom prst="line">
            <a:avLst/>
          </a:prstGeom>
          <a:noFill/>
          <a:ln w="31750">
            <a:solidFill>
              <a:srgbClr val="8FD3D9"/>
            </a:solidFill>
            <a:prstDash val="solid"/>
          </a:ln>
        </p:spPr>
      </p:sp>
      <p:sp>
        <p:nvSpPr>
          <p:cNvPr id="20" name="Text 17"/>
          <p:cNvSpPr/>
          <p:nvPr/>
        </p:nvSpPr>
        <p:spPr>
          <a:xfrm>
            <a:off x="1371600" y="3922776"/>
            <a:ext cx="4297680" cy="320040"/>
          </a:xfrm>
          <a:prstGeom prst="rect">
            <a:avLst/>
          </a:prstGeom>
          <a:noFill/>
          <a:ln/>
        </p:spPr>
        <p:txBody>
          <a:bodyPr wrap="square" lIns="0" tIns="0" rIns="0" bIns="0" rtlCol="0" anchor="ctr"/>
          <a:lstStyle/>
          <a:p>
            <a:pPr indent="0" marL="0">
              <a:buNone/>
            </a:pPr>
            <a:r>
              <a:rPr lang="en-US" sz="1400" b="1" dirty="0">
                <a:solidFill>
                  <a:srgbClr val="0F2D52"/>
                </a:solidFill>
                <a:latin typeface="Calibri" pitchFamily="34" charset="0"/>
                <a:ea typeface="Calibri" pitchFamily="34" charset="-122"/>
                <a:cs typeface="Calibri" pitchFamily="34" charset="-120"/>
              </a:rPr>
              <a:t>Refine</a:t>
            </a:r>
            <a:endParaRPr lang="en-US" sz="1400" dirty="0"/>
          </a:p>
        </p:txBody>
      </p:sp>
      <p:sp>
        <p:nvSpPr>
          <p:cNvPr id="21" name="Text 18"/>
          <p:cNvSpPr/>
          <p:nvPr/>
        </p:nvSpPr>
        <p:spPr>
          <a:xfrm>
            <a:off x="1371600" y="4233672"/>
            <a:ext cx="4297680" cy="457200"/>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Tune workflows from pilot feedback</a:t>
            </a:r>
            <a:endParaRPr lang="en-US" sz="1100" dirty="0"/>
          </a:p>
        </p:txBody>
      </p:sp>
      <p:sp>
        <p:nvSpPr>
          <p:cNvPr id="22" name="Shape 19"/>
          <p:cNvSpPr/>
          <p:nvPr/>
        </p:nvSpPr>
        <p:spPr>
          <a:xfrm>
            <a:off x="640080" y="4873752"/>
            <a:ext cx="566928" cy="566928"/>
          </a:xfrm>
          <a:prstGeom prst="ellipse">
            <a:avLst/>
          </a:prstGeom>
          <a:solidFill>
            <a:srgbClr val="0F2D52"/>
          </a:solidFill>
          <a:ln/>
        </p:spPr>
      </p:sp>
      <p:sp>
        <p:nvSpPr>
          <p:cNvPr id="23" name="Text 20"/>
          <p:cNvSpPr/>
          <p:nvPr/>
        </p:nvSpPr>
        <p:spPr>
          <a:xfrm>
            <a:off x="640080" y="4873752"/>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4" name="Text 21"/>
          <p:cNvSpPr/>
          <p:nvPr/>
        </p:nvSpPr>
        <p:spPr>
          <a:xfrm>
            <a:off x="1371600" y="4892040"/>
            <a:ext cx="4297680" cy="320040"/>
          </a:xfrm>
          <a:prstGeom prst="rect">
            <a:avLst/>
          </a:prstGeom>
          <a:noFill/>
          <a:ln/>
        </p:spPr>
        <p:txBody>
          <a:bodyPr wrap="square" lIns="0" tIns="0" rIns="0" bIns="0" rtlCol="0" anchor="ctr"/>
          <a:lstStyle/>
          <a:p>
            <a:pPr indent="0" marL="0">
              <a:buNone/>
            </a:pPr>
            <a:r>
              <a:rPr lang="en-US" sz="1400" b="1" dirty="0">
                <a:solidFill>
                  <a:srgbClr val="0F2D52"/>
                </a:solidFill>
                <a:latin typeface="Calibri" pitchFamily="34" charset="0"/>
                <a:ea typeface="Calibri" pitchFamily="34" charset="-122"/>
                <a:cs typeface="Calibri" pitchFamily="34" charset="-120"/>
              </a:rPr>
              <a:t>Scale Roll-Out</a:t>
            </a:r>
            <a:endParaRPr lang="en-US" sz="1400" dirty="0"/>
          </a:p>
        </p:txBody>
      </p:sp>
      <p:sp>
        <p:nvSpPr>
          <p:cNvPr id="25" name="Text 22"/>
          <p:cNvSpPr/>
          <p:nvPr/>
        </p:nvSpPr>
        <p:spPr>
          <a:xfrm>
            <a:off x="1371600" y="5202936"/>
            <a:ext cx="4297680" cy="457200"/>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Extend to all sites &amp; entrances</a:t>
            </a:r>
            <a:endParaRPr lang="en-US" sz="1100" dirty="0"/>
          </a:p>
        </p:txBody>
      </p:sp>
      <p:sp>
        <p:nvSpPr>
          <p:cNvPr id="26" name="Text 23"/>
          <p:cNvSpPr/>
          <p:nvPr/>
        </p:nvSpPr>
        <p:spPr>
          <a:xfrm>
            <a:off x="6355080" y="1572768"/>
            <a:ext cx="5029200" cy="292608"/>
          </a:xfrm>
          <a:prstGeom prst="rect">
            <a:avLst/>
          </a:prstGeom>
          <a:noFill/>
          <a:ln/>
        </p:spPr>
        <p:txBody>
          <a:bodyPr wrap="square" lIns="0" tIns="0" rIns="0" bIns="0" rtlCol="0" anchor="ctr"/>
          <a:lstStyle/>
          <a:p>
            <a:pPr indent="0" marL="0">
              <a:buNone/>
            </a:pPr>
            <a:r>
              <a:rPr lang="en-US" sz="1500" b="1" dirty="0">
                <a:solidFill>
                  <a:srgbClr val="0E9AA7"/>
                </a:solidFill>
                <a:latin typeface="Calibri" pitchFamily="34" charset="0"/>
                <a:ea typeface="Calibri" pitchFamily="34" charset="-122"/>
                <a:cs typeface="Calibri" pitchFamily="34" charset="-120"/>
              </a:rPr>
              <a:t>Top Risks &amp; Mitigation</a:t>
            </a:r>
            <a:endParaRPr lang="en-US" sz="1500" dirty="0"/>
          </a:p>
        </p:txBody>
      </p:sp>
      <p:sp>
        <p:nvSpPr>
          <p:cNvPr id="27" name="Shape 24"/>
          <p:cNvSpPr/>
          <p:nvPr/>
        </p:nvSpPr>
        <p:spPr>
          <a:xfrm>
            <a:off x="6355080" y="1938528"/>
            <a:ext cx="5166360" cy="768096"/>
          </a:xfrm>
          <a:prstGeom prst="roundRect">
            <a:avLst>
              <a:gd name="adj" fmla="val 5952"/>
            </a:avLst>
          </a:prstGeom>
          <a:solidFill>
            <a:srgbClr val="FFFFFF"/>
          </a:solidFill>
          <a:ln w="12700">
            <a:solidFill>
              <a:srgbClr val="E3EAF1"/>
            </a:solidFill>
            <a:prstDash val="solid"/>
          </a:ln>
        </p:spPr>
      </p:sp>
      <p:sp>
        <p:nvSpPr>
          <p:cNvPr id="28" name="Text 25"/>
          <p:cNvSpPr/>
          <p:nvPr/>
        </p:nvSpPr>
        <p:spPr>
          <a:xfrm>
            <a:off x="6519672" y="2011680"/>
            <a:ext cx="2743200" cy="320040"/>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Low user adoption</a:t>
            </a:r>
            <a:endParaRPr lang="en-US" sz="1250" dirty="0"/>
          </a:p>
        </p:txBody>
      </p:sp>
      <p:sp>
        <p:nvSpPr>
          <p:cNvPr id="29" name="Text 26"/>
          <p:cNvSpPr/>
          <p:nvPr/>
        </p:nvSpPr>
        <p:spPr>
          <a:xfrm>
            <a:off x="6519672" y="2322576"/>
            <a:ext cx="4023360" cy="36576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Early involvement, training, simple UX</a:t>
            </a:r>
            <a:endParaRPr lang="en-US" sz="1050" dirty="0"/>
          </a:p>
        </p:txBody>
      </p:sp>
      <p:sp>
        <p:nvSpPr>
          <p:cNvPr id="30" name="Shape 27"/>
          <p:cNvSpPr/>
          <p:nvPr/>
        </p:nvSpPr>
        <p:spPr>
          <a:xfrm>
            <a:off x="10652760" y="2084832"/>
            <a:ext cx="713232" cy="292608"/>
          </a:xfrm>
          <a:prstGeom prst="roundRect">
            <a:avLst>
              <a:gd name="adj" fmla="val 31250"/>
            </a:avLst>
          </a:prstGeom>
          <a:solidFill>
            <a:srgbClr val="E0A33E"/>
          </a:solidFill>
          <a:ln/>
        </p:spPr>
      </p:sp>
      <p:sp>
        <p:nvSpPr>
          <p:cNvPr id="31" name="Text 28"/>
          <p:cNvSpPr/>
          <p:nvPr/>
        </p:nvSpPr>
        <p:spPr>
          <a:xfrm>
            <a:off x="10652760" y="2084832"/>
            <a:ext cx="713232"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a:t>
            </a:r>
            <a:endParaRPr lang="en-US" sz="1050" dirty="0"/>
          </a:p>
        </p:txBody>
      </p:sp>
      <p:sp>
        <p:nvSpPr>
          <p:cNvPr id="32" name="Shape 29"/>
          <p:cNvSpPr/>
          <p:nvPr/>
        </p:nvSpPr>
        <p:spPr>
          <a:xfrm>
            <a:off x="6355080" y="2743200"/>
            <a:ext cx="5166360" cy="768096"/>
          </a:xfrm>
          <a:prstGeom prst="roundRect">
            <a:avLst>
              <a:gd name="adj" fmla="val 5952"/>
            </a:avLst>
          </a:prstGeom>
          <a:solidFill>
            <a:srgbClr val="F4F8FC"/>
          </a:solidFill>
          <a:ln w="12700">
            <a:solidFill>
              <a:srgbClr val="E3EAF1"/>
            </a:solidFill>
            <a:prstDash val="solid"/>
          </a:ln>
        </p:spPr>
      </p:sp>
      <p:sp>
        <p:nvSpPr>
          <p:cNvPr id="33" name="Text 30"/>
          <p:cNvSpPr/>
          <p:nvPr/>
        </p:nvSpPr>
        <p:spPr>
          <a:xfrm>
            <a:off x="6519672" y="2816352"/>
            <a:ext cx="2743200" cy="320040"/>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Integration issues</a:t>
            </a:r>
            <a:endParaRPr lang="en-US" sz="1250" dirty="0"/>
          </a:p>
        </p:txBody>
      </p:sp>
      <p:sp>
        <p:nvSpPr>
          <p:cNvPr id="34" name="Text 31"/>
          <p:cNvSpPr/>
          <p:nvPr/>
        </p:nvSpPr>
        <p:spPr>
          <a:xfrm>
            <a:off x="6519672" y="3127248"/>
            <a:ext cx="4023360" cy="36576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Early discovery, phased, manual fallback</a:t>
            </a:r>
            <a:endParaRPr lang="en-US" sz="1050" dirty="0"/>
          </a:p>
        </p:txBody>
      </p:sp>
      <p:sp>
        <p:nvSpPr>
          <p:cNvPr id="35" name="Shape 32"/>
          <p:cNvSpPr/>
          <p:nvPr/>
        </p:nvSpPr>
        <p:spPr>
          <a:xfrm>
            <a:off x="10652760" y="2889504"/>
            <a:ext cx="713232" cy="292608"/>
          </a:xfrm>
          <a:prstGeom prst="roundRect">
            <a:avLst>
              <a:gd name="adj" fmla="val 31250"/>
            </a:avLst>
          </a:prstGeom>
          <a:solidFill>
            <a:srgbClr val="E0A33E"/>
          </a:solidFill>
          <a:ln/>
        </p:spPr>
      </p:sp>
      <p:sp>
        <p:nvSpPr>
          <p:cNvPr id="36" name="Text 33"/>
          <p:cNvSpPr/>
          <p:nvPr/>
        </p:nvSpPr>
        <p:spPr>
          <a:xfrm>
            <a:off x="10652760" y="2889504"/>
            <a:ext cx="713232"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a:t>
            </a:r>
            <a:endParaRPr lang="en-US" sz="1050" dirty="0"/>
          </a:p>
        </p:txBody>
      </p:sp>
      <p:sp>
        <p:nvSpPr>
          <p:cNvPr id="37" name="Shape 34"/>
          <p:cNvSpPr/>
          <p:nvPr/>
        </p:nvSpPr>
        <p:spPr>
          <a:xfrm>
            <a:off x="6355080" y="3547872"/>
            <a:ext cx="5166360" cy="768096"/>
          </a:xfrm>
          <a:prstGeom prst="roundRect">
            <a:avLst>
              <a:gd name="adj" fmla="val 5952"/>
            </a:avLst>
          </a:prstGeom>
          <a:solidFill>
            <a:srgbClr val="FFFFFF"/>
          </a:solidFill>
          <a:ln w="12700">
            <a:solidFill>
              <a:srgbClr val="E3EAF1"/>
            </a:solidFill>
            <a:prstDash val="solid"/>
          </a:ln>
        </p:spPr>
      </p:sp>
      <p:sp>
        <p:nvSpPr>
          <p:cNvPr id="38" name="Text 35"/>
          <p:cNvSpPr/>
          <p:nvPr/>
        </p:nvSpPr>
        <p:spPr>
          <a:xfrm>
            <a:off x="6519672" y="3621024"/>
            <a:ext cx="2743200" cy="320040"/>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Data privacy / consent</a:t>
            </a:r>
            <a:endParaRPr lang="en-US" sz="1250" dirty="0"/>
          </a:p>
        </p:txBody>
      </p:sp>
      <p:sp>
        <p:nvSpPr>
          <p:cNvPr id="39" name="Text 36"/>
          <p:cNvSpPr/>
          <p:nvPr/>
        </p:nvSpPr>
        <p:spPr>
          <a:xfrm>
            <a:off x="6519672" y="3931920"/>
            <a:ext cx="4023360" cy="36576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Privacy-by-design, retention rules</a:t>
            </a:r>
            <a:endParaRPr lang="en-US" sz="1050" dirty="0"/>
          </a:p>
        </p:txBody>
      </p:sp>
      <p:sp>
        <p:nvSpPr>
          <p:cNvPr id="40" name="Shape 37"/>
          <p:cNvSpPr/>
          <p:nvPr/>
        </p:nvSpPr>
        <p:spPr>
          <a:xfrm>
            <a:off x="10652760" y="3694176"/>
            <a:ext cx="713232" cy="292608"/>
          </a:xfrm>
          <a:prstGeom prst="roundRect">
            <a:avLst>
              <a:gd name="adj" fmla="val 31250"/>
            </a:avLst>
          </a:prstGeom>
          <a:solidFill>
            <a:srgbClr val="3FA85C"/>
          </a:solidFill>
          <a:ln/>
        </p:spPr>
      </p:sp>
      <p:sp>
        <p:nvSpPr>
          <p:cNvPr id="41" name="Text 38"/>
          <p:cNvSpPr/>
          <p:nvPr/>
        </p:nvSpPr>
        <p:spPr>
          <a:xfrm>
            <a:off x="10652760" y="3694176"/>
            <a:ext cx="713232"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42" name="Shape 39"/>
          <p:cNvSpPr/>
          <p:nvPr/>
        </p:nvSpPr>
        <p:spPr>
          <a:xfrm>
            <a:off x="6355080" y="4352544"/>
            <a:ext cx="5166360" cy="768096"/>
          </a:xfrm>
          <a:prstGeom prst="roundRect">
            <a:avLst>
              <a:gd name="adj" fmla="val 5952"/>
            </a:avLst>
          </a:prstGeom>
          <a:solidFill>
            <a:srgbClr val="F4F8FC"/>
          </a:solidFill>
          <a:ln w="12700">
            <a:solidFill>
              <a:srgbClr val="E3EAF1"/>
            </a:solidFill>
            <a:prstDash val="solid"/>
          </a:ln>
        </p:spPr>
      </p:sp>
      <p:sp>
        <p:nvSpPr>
          <p:cNvPr id="43" name="Text 40"/>
          <p:cNvSpPr/>
          <p:nvPr/>
        </p:nvSpPr>
        <p:spPr>
          <a:xfrm>
            <a:off x="6519672" y="4425696"/>
            <a:ext cx="2743200" cy="320040"/>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Scope creep</a:t>
            </a:r>
            <a:endParaRPr lang="en-US" sz="1250" dirty="0"/>
          </a:p>
        </p:txBody>
      </p:sp>
      <p:sp>
        <p:nvSpPr>
          <p:cNvPr id="44" name="Text 41"/>
          <p:cNvSpPr/>
          <p:nvPr/>
        </p:nvSpPr>
        <p:spPr>
          <a:xfrm>
            <a:off x="6519672" y="4736592"/>
            <a:ext cx="4023360" cy="36576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Baseline + change control</a:t>
            </a:r>
            <a:endParaRPr lang="en-US" sz="1050" dirty="0"/>
          </a:p>
        </p:txBody>
      </p:sp>
      <p:sp>
        <p:nvSpPr>
          <p:cNvPr id="45" name="Shape 42"/>
          <p:cNvSpPr/>
          <p:nvPr/>
        </p:nvSpPr>
        <p:spPr>
          <a:xfrm>
            <a:off x="10652760" y="4498848"/>
            <a:ext cx="713232" cy="292608"/>
          </a:xfrm>
          <a:prstGeom prst="roundRect">
            <a:avLst>
              <a:gd name="adj" fmla="val 31250"/>
            </a:avLst>
          </a:prstGeom>
          <a:solidFill>
            <a:srgbClr val="E0A33E"/>
          </a:solidFill>
          <a:ln/>
        </p:spPr>
      </p:sp>
      <p:sp>
        <p:nvSpPr>
          <p:cNvPr id="46" name="Text 43"/>
          <p:cNvSpPr/>
          <p:nvPr/>
        </p:nvSpPr>
        <p:spPr>
          <a:xfrm>
            <a:off x="10652760" y="4498848"/>
            <a:ext cx="713232"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a:t>
            </a:r>
            <a:endParaRPr lang="en-US" sz="1050" dirty="0"/>
          </a:p>
        </p:txBody>
      </p:sp>
      <p:sp>
        <p:nvSpPr>
          <p:cNvPr id="47" name="Shape 44"/>
          <p:cNvSpPr/>
          <p:nvPr/>
        </p:nvSpPr>
        <p:spPr>
          <a:xfrm>
            <a:off x="6355080" y="5157216"/>
            <a:ext cx="5166360" cy="768096"/>
          </a:xfrm>
          <a:prstGeom prst="roundRect">
            <a:avLst>
              <a:gd name="adj" fmla="val 5952"/>
            </a:avLst>
          </a:prstGeom>
          <a:solidFill>
            <a:srgbClr val="FFFFFF"/>
          </a:solidFill>
          <a:ln w="12700">
            <a:solidFill>
              <a:srgbClr val="E3EAF1"/>
            </a:solidFill>
            <a:prstDash val="solid"/>
          </a:ln>
        </p:spPr>
      </p:sp>
      <p:sp>
        <p:nvSpPr>
          <p:cNvPr id="48" name="Text 45"/>
          <p:cNvSpPr/>
          <p:nvPr/>
        </p:nvSpPr>
        <p:spPr>
          <a:xfrm>
            <a:off x="6519672" y="5230368"/>
            <a:ext cx="2743200" cy="320040"/>
          </a:xfrm>
          <a:prstGeom prst="rect">
            <a:avLst/>
          </a:prstGeom>
          <a:noFill/>
          <a:ln/>
        </p:spPr>
        <p:txBody>
          <a:bodyPr wrap="square" lIns="0" tIns="0" rIns="0" bIns="0" rtlCol="0" anchor="ctr"/>
          <a:lstStyle/>
          <a:p>
            <a:pPr indent="0" marL="0">
              <a:buNone/>
            </a:pPr>
            <a:r>
              <a:rPr lang="en-US" sz="1250" b="1" dirty="0">
                <a:solidFill>
                  <a:srgbClr val="0F2D52"/>
                </a:solidFill>
                <a:latin typeface="Calibri" pitchFamily="34" charset="0"/>
                <a:ea typeface="Calibri" pitchFamily="34" charset="-122"/>
                <a:cs typeface="Calibri" pitchFamily="34" charset="-120"/>
              </a:rPr>
              <a:t>Security resistance</a:t>
            </a:r>
            <a:endParaRPr lang="en-US" sz="1250" dirty="0"/>
          </a:p>
        </p:txBody>
      </p:sp>
      <p:sp>
        <p:nvSpPr>
          <p:cNvPr id="49" name="Text 46"/>
          <p:cNvSpPr/>
          <p:nvPr/>
        </p:nvSpPr>
        <p:spPr>
          <a:xfrm>
            <a:off x="6519672" y="5541264"/>
            <a:ext cx="4023360" cy="365760"/>
          </a:xfrm>
          <a:prstGeom prst="rect">
            <a:avLst/>
          </a:prstGeom>
          <a:noFill/>
          <a:ln/>
        </p:spPr>
        <p:txBody>
          <a:bodyPr wrap="square" lIns="0" tIns="0" rIns="0" bIns="0" rtlCol="0" anchor="ctr"/>
          <a:lstStyle/>
          <a:p>
            <a:pPr indent="0" marL="0">
              <a:buNone/>
            </a:pPr>
            <a:r>
              <a:rPr lang="en-US" sz="1050" dirty="0">
                <a:solidFill>
                  <a:srgbClr val="5B6B7B"/>
                </a:solidFill>
                <a:latin typeface="Calibri" pitchFamily="34" charset="0"/>
                <a:ea typeface="Calibri" pitchFamily="34" charset="-122"/>
                <a:cs typeface="Calibri" pitchFamily="34" charset="-120"/>
              </a:rPr>
              <a:t>Co-design, pilot, show visibility gains</a:t>
            </a:r>
            <a:endParaRPr lang="en-US" sz="1050" dirty="0"/>
          </a:p>
        </p:txBody>
      </p:sp>
      <p:sp>
        <p:nvSpPr>
          <p:cNvPr id="50" name="Shape 47"/>
          <p:cNvSpPr/>
          <p:nvPr/>
        </p:nvSpPr>
        <p:spPr>
          <a:xfrm>
            <a:off x="10652760" y="5303520"/>
            <a:ext cx="713232" cy="292608"/>
          </a:xfrm>
          <a:prstGeom prst="roundRect">
            <a:avLst>
              <a:gd name="adj" fmla="val 31250"/>
            </a:avLst>
          </a:prstGeom>
          <a:solidFill>
            <a:srgbClr val="E0A33E"/>
          </a:solidFill>
          <a:ln/>
        </p:spPr>
      </p:sp>
      <p:sp>
        <p:nvSpPr>
          <p:cNvPr id="51" name="Text 48"/>
          <p:cNvSpPr/>
          <p:nvPr/>
        </p:nvSpPr>
        <p:spPr>
          <a:xfrm>
            <a:off x="10652760" y="5303520"/>
            <a:ext cx="713232"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a:t>
            </a:r>
            <a:endParaRPr lang="en-US" sz="1050" dirty="0"/>
          </a:p>
        </p:txBody>
      </p:sp>
      <p:sp>
        <p:nvSpPr>
          <p:cNvPr id="52" name="Text 49"/>
          <p:cNvSpPr/>
          <p:nvPr/>
        </p:nvSpPr>
        <p:spPr>
          <a:xfrm>
            <a:off x="457200" y="6437376"/>
            <a:ext cx="7315200" cy="274320"/>
          </a:xfrm>
          <a:prstGeom prst="rect">
            <a:avLst/>
          </a:prstGeom>
          <a:noFill/>
          <a:ln/>
        </p:spPr>
        <p:txBody>
          <a:bodyPr wrap="square" lIns="0" tIns="0" rIns="0" bIns="0" rtlCol="0" anchor="ctr"/>
          <a:lstStyle/>
          <a:p>
            <a:pPr algn="l" indent="0" marL="0">
              <a:buNone/>
            </a:pPr>
            <a:r>
              <a:rPr lang="en-US" sz="900" dirty="0">
                <a:solidFill>
                  <a:srgbClr val="5B6B7B"/>
                </a:solidFill>
                <a:latin typeface="Calibri" pitchFamily="34" charset="0"/>
                <a:ea typeface="Calibri" pitchFamily="34" charset="-122"/>
                <a:cs typeface="Calibri" pitchFamily="34" charset="-120"/>
              </a:rPr>
              <a:t>Visitor Management System  |  Digital Transformation</a:t>
            </a:r>
            <a:endParaRPr lang="en-US" sz="900" dirty="0"/>
          </a:p>
        </p:txBody>
      </p:sp>
      <p:sp>
        <p:nvSpPr>
          <p:cNvPr id="53" name="Text 50"/>
          <p:cNvSpPr/>
          <p:nvPr/>
        </p:nvSpPr>
        <p:spPr>
          <a:xfrm>
            <a:off x="11430000" y="6437376"/>
            <a:ext cx="365760" cy="27432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D52"/>
        </a:solidFill>
      </p:bgPr>
    </p:bg>
    <p:spTree>
      <p:nvGrpSpPr>
        <p:cNvPr id="1" name=""/>
        <p:cNvGrpSpPr/>
        <p:nvPr/>
      </p:nvGrpSpPr>
      <p:grpSpPr>
        <a:xfrm>
          <a:off x="0" y="0"/>
          <a:ext cx="0" cy="0"/>
          <a:chOff x="0" y="0"/>
          <a:chExt cx="0" cy="0"/>
        </a:xfrm>
      </p:grpSpPr>
      <p:sp>
        <p:nvSpPr>
          <p:cNvPr id="2" name="Shape 0"/>
          <p:cNvSpPr/>
          <p:nvPr/>
        </p:nvSpPr>
        <p:spPr>
          <a:xfrm>
            <a:off x="9692640" y="4297680"/>
            <a:ext cx="4023360" cy="4023360"/>
          </a:xfrm>
          <a:prstGeom prst="ellipse">
            <a:avLst/>
          </a:prstGeom>
          <a:solidFill>
            <a:srgbClr val="163A66"/>
          </a:solidFill>
          <a:ln/>
        </p:spPr>
      </p:sp>
      <p:sp>
        <p:nvSpPr>
          <p:cNvPr id="3" name="Shape 1"/>
          <p:cNvSpPr/>
          <p:nvPr/>
        </p:nvSpPr>
        <p:spPr>
          <a:xfrm>
            <a:off x="-1188720" y="-1463040"/>
            <a:ext cx="3474720" cy="3474720"/>
          </a:xfrm>
          <a:prstGeom prst="ellipse">
            <a:avLst/>
          </a:prstGeom>
          <a:solidFill>
            <a:srgbClr val="163A66"/>
          </a:solidFill>
          <a:ln/>
        </p:spPr>
      </p:sp>
      <p:sp>
        <p:nvSpPr>
          <p:cNvPr id="4" name="Shape 2"/>
          <p:cNvSpPr/>
          <p:nvPr/>
        </p:nvSpPr>
        <p:spPr>
          <a:xfrm>
            <a:off x="777240" y="777240"/>
            <a:ext cx="777240" cy="777240"/>
          </a:xfrm>
          <a:prstGeom prst="ellipse">
            <a:avLst/>
          </a:prstGeom>
          <a:solidFill>
            <a:srgbClr val="0E9AA7"/>
          </a:solidFill>
          <a:ln/>
        </p:spPr>
      </p:sp>
      <p:pic>
        <p:nvPicPr>
          <p:cNvPr id="5" name="Image 0" descr="preencoded.png">    </p:cNvPr>
          <p:cNvPicPr>
            <a:picLocks noChangeAspect="1"/>
          </p:cNvPicPr>
          <p:nvPr/>
        </p:nvPicPr>
        <p:blipFill>
          <a:blip r:embed="rId1"/>
          <a:stretch>
            <a:fillRect/>
          </a:stretch>
        </p:blipFill>
        <p:spPr>
          <a:xfrm>
            <a:off x="969264" y="969264"/>
            <a:ext cx="393192" cy="393192"/>
          </a:xfrm>
          <a:prstGeom prst="rect">
            <a:avLst/>
          </a:prstGeom>
        </p:spPr>
      </p:pic>
      <p:sp>
        <p:nvSpPr>
          <p:cNvPr id="6" name="Text 3"/>
          <p:cNvSpPr/>
          <p:nvPr/>
        </p:nvSpPr>
        <p:spPr>
          <a:xfrm>
            <a:off x="822960" y="1783080"/>
            <a:ext cx="9144000" cy="320040"/>
          </a:xfrm>
          <a:prstGeom prst="rect">
            <a:avLst/>
          </a:prstGeom>
          <a:noFill/>
          <a:ln/>
        </p:spPr>
        <p:txBody>
          <a:bodyPr wrap="square" lIns="0" tIns="0" rIns="0" bIns="0" rtlCol="0" anchor="ctr"/>
          <a:lstStyle/>
          <a:p>
            <a:pPr indent="0" marL="0">
              <a:buNone/>
            </a:pPr>
            <a:r>
              <a:rPr lang="en-US" sz="1300" b="1" spc="400" kern="0" dirty="0">
                <a:solidFill>
                  <a:srgbClr val="8FD3D9"/>
                </a:solidFill>
                <a:latin typeface="Calibri" pitchFamily="34" charset="0"/>
                <a:ea typeface="Calibri" pitchFamily="34" charset="-122"/>
                <a:cs typeface="Calibri" pitchFamily="34" charset="-120"/>
              </a:rPr>
              <a:t>RECOMMENDATION</a:t>
            </a:r>
            <a:endParaRPr lang="en-US" sz="1300" dirty="0"/>
          </a:p>
        </p:txBody>
      </p:sp>
      <p:sp>
        <p:nvSpPr>
          <p:cNvPr id="7" name="Text 4"/>
          <p:cNvSpPr/>
          <p:nvPr/>
        </p:nvSpPr>
        <p:spPr>
          <a:xfrm>
            <a:off x="777240" y="2148840"/>
            <a:ext cx="10607040" cy="1371600"/>
          </a:xfrm>
          <a:prstGeom prst="rect">
            <a:avLst/>
          </a:prstGeom>
          <a:noFill/>
          <a:ln/>
        </p:spPr>
        <p:txBody>
          <a:bodyPr wrap="square" lIns="0" tIns="0" rIns="0" bIns="0" rtlCol="0" anchor="ctr"/>
          <a:lstStyle/>
          <a:p>
            <a:pPr indent="0" marL="0">
              <a:lnSpc>
                <a:spcPct val="100000"/>
              </a:lnSpc>
              <a:buNone/>
            </a:pPr>
            <a:r>
              <a:rPr lang="en-US" sz="3300" b="1" dirty="0">
                <a:solidFill>
                  <a:srgbClr val="FFFFFF"/>
                </a:solidFill>
                <a:latin typeface="Calibri" pitchFamily="34" charset="0"/>
                <a:ea typeface="Calibri" pitchFamily="34" charset="-122"/>
                <a:cs typeface="Calibri" pitchFamily="34" charset="-120"/>
              </a:rPr>
              <a:t>Approve a single-site pilot of the digital Visitor Management System</a:t>
            </a:r>
            <a:endParaRPr lang="en-US" sz="3300" dirty="0"/>
          </a:p>
        </p:txBody>
      </p:sp>
      <p:pic>
        <p:nvPicPr>
          <p:cNvPr id="8" name="Image 1" descr="preencoded.png">    </p:cNvPr>
          <p:cNvPicPr>
            <a:picLocks noChangeAspect="1"/>
          </p:cNvPicPr>
          <p:nvPr/>
        </p:nvPicPr>
        <p:blipFill>
          <a:blip r:embed="rId2"/>
          <a:stretch>
            <a:fillRect/>
          </a:stretch>
        </p:blipFill>
        <p:spPr>
          <a:xfrm>
            <a:off x="822960" y="3813048"/>
            <a:ext cx="292608" cy="292608"/>
          </a:xfrm>
          <a:prstGeom prst="rect">
            <a:avLst/>
          </a:prstGeom>
        </p:spPr>
      </p:pic>
      <p:sp>
        <p:nvSpPr>
          <p:cNvPr id="9" name="Text 5"/>
          <p:cNvSpPr/>
          <p:nvPr/>
        </p:nvSpPr>
        <p:spPr>
          <a:xfrm>
            <a:off x="1225296" y="3794760"/>
            <a:ext cx="868680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Endorse the business case &amp; assign an executive sponsor</a:t>
            </a:r>
            <a:endParaRPr lang="en-US" sz="1500" dirty="0"/>
          </a:p>
        </p:txBody>
      </p:sp>
      <p:pic>
        <p:nvPicPr>
          <p:cNvPr id="10" name="Image 2" descr="preencoded.png">    </p:cNvPr>
          <p:cNvPicPr>
            <a:picLocks noChangeAspect="1"/>
          </p:cNvPicPr>
          <p:nvPr/>
        </p:nvPicPr>
        <p:blipFill>
          <a:blip r:embed="rId3"/>
          <a:stretch>
            <a:fillRect/>
          </a:stretch>
        </p:blipFill>
        <p:spPr>
          <a:xfrm>
            <a:off x="822960" y="4379976"/>
            <a:ext cx="292608" cy="292608"/>
          </a:xfrm>
          <a:prstGeom prst="rect">
            <a:avLst/>
          </a:prstGeom>
        </p:spPr>
      </p:pic>
      <p:sp>
        <p:nvSpPr>
          <p:cNvPr id="11" name="Text 6"/>
          <p:cNvSpPr/>
          <p:nvPr/>
        </p:nvSpPr>
        <p:spPr>
          <a:xfrm>
            <a:off x="1225296" y="4361688"/>
            <a:ext cx="868680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Mandate Operations as the process owner</a:t>
            </a:r>
            <a:endParaRPr lang="en-US" sz="1500" dirty="0"/>
          </a:p>
        </p:txBody>
      </p:sp>
      <p:pic>
        <p:nvPicPr>
          <p:cNvPr id="12" name="Image 3" descr="preencoded.png">    </p:cNvPr>
          <p:cNvPicPr>
            <a:picLocks noChangeAspect="1"/>
          </p:cNvPicPr>
          <p:nvPr/>
        </p:nvPicPr>
        <p:blipFill>
          <a:blip r:embed="rId4"/>
          <a:stretch>
            <a:fillRect/>
          </a:stretch>
        </p:blipFill>
        <p:spPr>
          <a:xfrm>
            <a:off x="822960" y="4946904"/>
            <a:ext cx="292608" cy="292608"/>
          </a:xfrm>
          <a:prstGeom prst="rect">
            <a:avLst/>
          </a:prstGeom>
        </p:spPr>
      </p:pic>
      <p:sp>
        <p:nvSpPr>
          <p:cNvPr id="13" name="Text 7"/>
          <p:cNvSpPr/>
          <p:nvPr/>
        </p:nvSpPr>
        <p:spPr>
          <a:xfrm>
            <a:off x="1225296" y="4928616"/>
            <a:ext cx="868680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Fund the pilot and a 90-day KPI baseline</a:t>
            </a:r>
            <a:endParaRPr lang="en-US" sz="1500" dirty="0"/>
          </a:p>
        </p:txBody>
      </p:sp>
      <p:sp>
        <p:nvSpPr>
          <p:cNvPr id="14" name="Shape 8"/>
          <p:cNvSpPr/>
          <p:nvPr/>
        </p:nvSpPr>
        <p:spPr>
          <a:xfrm>
            <a:off x="841248" y="5715000"/>
            <a:ext cx="2743200" cy="0"/>
          </a:xfrm>
          <a:prstGeom prst="line">
            <a:avLst/>
          </a:prstGeom>
          <a:noFill/>
          <a:ln w="25400">
            <a:solidFill>
              <a:srgbClr val="0E9AA7"/>
            </a:solidFill>
            <a:prstDash val="solid"/>
          </a:ln>
        </p:spPr>
      </p:sp>
      <p:sp>
        <p:nvSpPr>
          <p:cNvPr id="15" name="Text 9"/>
          <p:cNvSpPr/>
          <p:nvPr/>
        </p:nvSpPr>
        <p:spPr>
          <a:xfrm>
            <a:off x="822960" y="5852160"/>
            <a:ext cx="10515600" cy="365760"/>
          </a:xfrm>
          <a:prstGeom prst="rect">
            <a:avLst/>
          </a:prstGeom>
          <a:noFill/>
          <a:ln/>
        </p:spPr>
        <p:txBody>
          <a:bodyPr wrap="square" lIns="0" tIns="0" rIns="0" bIns="0" rtlCol="0" anchor="ctr"/>
          <a:lstStyle/>
          <a:p>
            <a:pPr indent="0" marL="0">
              <a:buNone/>
            </a:pPr>
            <a:r>
              <a:rPr lang="en-US" sz="1400" b="1" dirty="0">
                <a:solidFill>
                  <a:srgbClr val="8FD3D9"/>
                </a:solidFill>
                <a:latin typeface="Calibri" pitchFamily="34" charset="0"/>
                <a:ea typeface="Calibri" pitchFamily="34" charset="-122"/>
                <a:cs typeface="Calibri" pitchFamily="34" charset="-120"/>
              </a:rPr>
              <a:t>~85% faster processing  ·  &gt;80% faster approvals  ·  &gt;95% security compliance</a:t>
            </a:r>
            <a:endParaRPr lang="en-US" sz="1400" dirty="0"/>
          </a:p>
        </p:txBody>
      </p:sp>
      <p:sp>
        <p:nvSpPr>
          <p:cNvPr id="16" name="Text 10"/>
          <p:cNvSpPr/>
          <p:nvPr/>
        </p:nvSpPr>
        <p:spPr>
          <a:xfrm>
            <a:off x="822960" y="6263640"/>
            <a:ext cx="10515600" cy="274320"/>
          </a:xfrm>
          <a:prstGeom prst="rect">
            <a:avLst/>
          </a:prstGeom>
          <a:noFill/>
          <a:ln/>
        </p:spPr>
        <p:txBody>
          <a:bodyPr wrap="square" lIns="0" tIns="0" rIns="0" bIns="0" rtlCol="0" anchor="ctr"/>
          <a:lstStyle/>
          <a:p>
            <a:pPr indent="0" marL="0">
              <a:buNone/>
            </a:pPr>
            <a:r>
              <a:rPr lang="en-US" sz="1100" dirty="0">
                <a:solidFill>
                  <a:srgbClr val="7B93AB"/>
                </a:solidFill>
                <a:latin typeface="Calibri" pitchFamily="34" charset="0"/>
                <a:ea typeface="Calibri" pitchFamily="34" charset="-122"/>
                <a:cs typeface="Calibri" pitchFamily="34" charset="-120"/>
              </a:rPr>
              <a:t>Thank you  ·  Allulu Alkheraiji, Business Analyst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Visitor Management System – Executive Presentation</dc:title>
  <dc:subject>PptxGenJS Presentation</dc:subject>
  <dc:creator>Allulu Alkheraiji</dc:creator>
  <cp:lastModifiedBy>Allulu Alkheraiji</cp:lastModifiedBy>
  <cp:revision>1</cp:revision>
  <dcterms:created xsi:type="dcterms:W3CDTF">2026-06-22T00:51:44Z</dcterms:created>
  <dcterms:modified xsi:type="dcterms:W3CDTF">2026-06-22T00:51:44Z</dcterms:modified>
</cp:coreProperties>
</file>